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56" r:id="rId5"/>
    <p:sldId id="257" r:id="rId6"/>
    <p:sldId id="266" r:id="rId7"/>
    <p:sldId id="264" r:id="rId8"/>
    <p:sldId id="292" r:id="rId9"/>
    <p:sldId id="298" r:id="rId10"/>
    <p:sldId id="270" r:id="rId11"/>
    <p:sldId id="271" r:id="rId12"/>
    <p:sldId id="290" r:id="rId13"/>
    <p:sldId id="274" r:id="rId14"/>
    <p:sldId id="301" r:id="rId15"/>
    <p:sldId id="300" r:id="rId16"/>
    <p:sldId id="275" r:id="rId17"/>
    <p:sldId id="295" r:id="rId18"/>
    <p:sldId id="282" r:id="rId19"/>
    <p:sldId id="299" r:id="rId20"/>
    <p:sldId id="302" r:id="rId21"/>
    <p:sldId id="279" r:id="rId22"/>
    <p:sldId id="281" r:id="rId23"/>
    <p:sldId id="291" r:id="rId24"/>
    <p:sldId id="268" r:id="rId2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6D4A141-83CF-4BC6-9C14-1E2A967C63C9}">
          <p14:sldIdLst>
            <p14:sldId id="256"/>
            <p14:sldId id="257"/>
          </p14:sldIdLst>
        </p14:section>
        <p14:section name="Requirements" id="{A7F01B19-1D5C-4C0E-A7F8-DEF8CCC739CF}">
          <p14:sldIdLst>
            <p14:sldId id="266"/>
            <p14:sldId id="264"/>
            <p14:sldId id="292"/>
            <p14:sldId id="298"/>
          </p14:sldIdLst>
        </p14:section>
        <p14:section name="Project Management" id="{948C5405-B00E-4DCB-976E-C186FBA65A50}">
          <p14:sldIdLst>
            <p14:sldId id="270"/>
            <p14:sldId id="271"/>
            <p14:sldId id="290"/>
          </p14:sldIdLst>
        </p14:section>
        <p14:section name="Risk Management" id="{41BE8FF4-57F6-43C0-B76A-1FEC2D376181}">
          <p14:sldIdLst>
            <p14:sldId id="274"/>
            <p14:sldId id="301"/>
            <p14:sldId id="300"/>
            <p14:sldId id="275"/>
          </p14:sldIdLst>
        </p14:section>
        <p14:section name="Costs" id="{4D22BE14-9CE7-4F67-B5D9-559E2DA9EC35}">
          <p14:sldIdLst>
            <p14:sldId id="295"/>
            <p14:sldId id="282"/>
            <p14:sldId id="299"/>
            <p14:sldId id="302"/>
          </p14:sldIdLst>
        </p14:section>
        <p14:section name="End" id="{C3E050C6-E7C7-4EDD-82FF-D4F110FF462D}">
          <p14:sldIdLst>
            <p14:sldId id="279"/>
          </p14:sldIdLst>
        </p14:section>
        <p14:section name="Old_Slides_Keep_For_Now" id="{2514E100-DA22-41D8-B325-AE25C1FB5724}">
          <p14:sldIdLst>
            <p14:sldId id="281"/>
            <p14:sldId id="291"/>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AE08"/>
    <a:srgbClr val="FAFE50"/>
    <a:srgbClr val="DFDF17"/>
    <a:srgbClr val="F98077"/>
    <a:srgbClr val="F75F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156" dt="2026-10-19T09:58:40.583"/>
    <p1510:client id="{15C911B3-338D-A794-E222-329E58B6209B}" v="143" dt="2026-10-19T09:11:39.101"/>
    <p1510:client id="{1F5AF56C-D863-4B96-98CC-442E9B596143}" v="963" dt="2026-10-19T08:56:36.919"/>
    <p1510:client id="{249910E7-32C7-4491-946C-D2BBE3E913EB}" v="607" dt="2026-10-18T14:52:29.024"/>
    <p1510:client id="{2D408E67-9238-86A6-CD3C-FFFA2B5A662E}" v="216" dt="2026-10-18T23:57:28.395"/>
    <p1510:client id="{4FB070C4-8849-D94A-B4F0-F99EA2ED0BE1}" v="16" dt="2026-10-19T10:09:17.714"/>
    <p1510:client id="{4FBA1588-7DFE-C741-AA04-FD5D885536D6}" v="42" dt="2026-10-18T16:38:22.366"/>
    <p1510:client id="{57A71D9D-6531-95F8-2F0E-D46C4CA98217}" v="10" dt="2026-10-18T11:02:36.578"/>
    <p1510:client id="{72EAEBFA-A119-E741-B81F-AC7382C8F8AF}" v="182" dt="2026-10-18T12:18:40.282"/>
    <p1510:client id="{76EC3CD4-261D-CE5F-572A-7BEA6AE93A33}" v="622" dt="2026-10-18T19:31:05.663"/>
    <p1510:client id="{8686541F-B86A-D3B2-493B-FAF10E540C7F}" v="266" dt="2026-10-19T02:09:35.696"/>
    <p1510:client id="{8D432A40-2565-54D6-EC59-38A79ED076C1}" v="1693" dt="2026-10-19T10:08:20.963"/>
    <p1510:client id="{929F0827-5CE6-7374-A2F5-83003B5E8362}" v="32" dt="2026-10-19T09:37:55.840"/>
    <p1510:client id="{ACF0E51A-A523-7E20-5576-F7872605909B}" v="62" dt="2026-10-19T09:46:29.366"/>
    <p1510:client id="{C05B273C-A9AC-8CC4-DAD9-EDB6A1B690F7}" v="70" dt="2026-10-19T05:49:49.325"/>
    <p1510:client id="{C24D26A6-8E7C-BA25-F9C2-877CA53B91D4}" v="1" dt="2026-10-18T12:20:33.266"/>
    <p1510:client id="{C427DE1A-F04C-F2FB-16FA-6EFF9B6E5435}" v="96" dt="2026-10-18T15:40:33.0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658"/>
  </p:normalViewPr>
  <p:slideViewPr>
    <p:cSldViewPr snapToGrid="0">
      <p:cViewPr>
        <p:scale>
          <a:sx n="117" d="100"/>
          <a:sy n="117" d="100"/>
        </p:scale>
        <p:origin x="376"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B06968D34F31643D/Year%203%20-%20Group%20Project/General%20Documents/Timelin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50828487969324"/>
          <c:y val="0.14569062720368067"/>
          <c:w val="0.84017049701068836"/>
          <c:h val="0.82656674601721292"/>
        </c:manualLayout>
      </c:layout>
      <c:barChart>
        <c:barDir val="bar"/>
        <c:grouping val="stacked"/>
        <c:varyColors val="0"/>
        <c:ser>
          <c:idx val="0"/>
          <c:order val="0"/>
          <c:tx>
            <c:strRef>
              <c:f>Sheet1!$C$2</c:f>
              <c:strCache>
                <c:ptCount val="1"/>
                <c:pt idx="0">
                  <c:v>Start</c:v>
                </c:pt>
              </c:strCache>
            </c:strRef>
          </c:tx>
          <c:spPr>
            <a:noFill/>
            <a:ln>
              <a:noFill/>
            </a:ln>
            <a:effectLst/>
          </c:spPr>
          <c:invertIfNegative val="0"/>
          <c:cat>
            <c:strRef>
              <c:f>Sheet1!$B$3:$B$13</c:f>
              <c:strCache>
                <c:ptCount val="5"/>
                <c:pt idx="0">
                  <c:v>Requirements Analysis</c:v>
                </c:pt>
                <c:pt idx="1">
                  <c:v>Initial Design Concept</c:v>
                </c:pt>
                <c:pt idx="2">
                  <c:v>Design down-selection</c:v>
                </c:pt>
                <c:pt idx="3">
                  <c:v>Detailed design and analysis</c:v>
                </c:pt>
                <c:pt idx="4">
                  <c:v>Verification and Final report</c:v>
                </c:pt>
              </c:strCache>
            </c:strRef>
          </c:cat>
          <c:val>
            <c:numRef>
              <c:f>Sheet1!$C$3:$C$7</c:f>
              <c:numCache>
                <c:formatCode>m/d/yyyy</c:formatCode>
                <c:ptCount val="5"/>
                <c:pt idx="0">
                  <c:v>46294</c:v>
                </c:pt>
                <c:pt idx="1">
                  <c:v>46315</c:v>
                </c:pt>
                <c:pt idx="2">
                  <c:v>46341</c:v>
                </c:pt>
                <c:pt idx="3">
                  <c:v>46364</c:v>
                </c:pt>
                <c:pt idx="4">
                  <c:v>46447</c:v>
                </c:pt>
              </c:numCache>
            </c:numRef>
          </c:val>
          <c:extLst>
            <c:ext xmlns:c16="http://schemas.microsoft.com/office/drawing/2014/chart" uri="{C3380CC4-5D6E-409C-BE32-E72D297353CC}">
              <c16:uniqueId val="{00000000-9EE8-48BB-809B-F6ABD9DD148B}"/>
            </c:ext>
          </c:extLst>
        </c:ser>
        <c:ser>
          <c:idx val="1"/>
          <c:order val="1"/>
          <c:tx>
            <c:strRef>
              <c:f>Sheet1!$E$2</c:f>
              <c:strCache>
                <c:ptCount val="1"/>
                <c:pt idx="0">
                  <c:v>Duration</c:v>
                </c:pt>
              </c:strCache>
            </c:strRef>
          </c:tx>
          <c:spPr>
            <a:solidFill>
              <a:schemeClr val="accent2"/>
            </a:solidFill>
            <a:ln>
              <a:noFill/>
            </a:ln>
            <a:effectLst/>
          </c:spPr>
          <c:invertIfNegative val="0"/>
          <c:dPt>
            <c:idx val="0"/>
            <c:invertIfNegative val="0"/>
            <c:bubble3D val="0"/>
            <c:spPr>
              <a:solidFill>
                <a:schemeClr val="accent2">
                  <a:lumMod val="75000"/>
                </a:schemeClr>
              </a:solidFill>
              <a:ln>
                <a:noFill/>
              </a:ln>
              <a:effectLst/>
            </c:spPr>
            <c:extLst>
              <c:ext xmlns:c16="http://schemas.microsoft.com/office/drawing/2014/chart" uri="{C3380CC4-5D6E-409C-BE32-E72D297353CC}">
                <c16:uniqueId val="{00000002-9EE8-48BB-809B-F6ABD9DD148B}"/>
              </c:ext>
            </c:extLst>
          </c:dPt>
          <c:dPt>
            <c:idx val="1"/>
            <c:invertIfNegative val="0"/>
            <c:bubble3D val="0"/>
            <c:spPr>
              <a:solidFill>
                <a:schemeClr val="tx2">
                  <a:lumMod val="75000"/>
                  <a:lumOff val="25000"/>
                </a:schemeClr>
              </a:solidFill>
              <a:ln>
                <a:noFill/>
              </a:ln>
              <a:effectLst/>
            </c:spPr>
            <c:extLst>
              <c:ext xmlns:c16="http://schemas.microsoft.com/office/drawing/2014/chart" uri="{C3380CC4-5D6E-409C-BE32-E72D297353CC}">
                <c16:uniqueId val="{00000004-9EE8-48BB-809B-F6ABD9DD148B}"/>
              </c:ext>
            </c:extLst>
          </c:dPt>
          <c:dPt>
            <c:idx val="2"/>
            <c:invertIfNegative val="0"/>
            <c:bubble3D val="0"/>
            <c:spPr>
              <a:solidFill>
                <a:schemeClr val="tx2">
                  <a:lumMod val="75000"/>
                  <a:lumOff val="25000"/>
                </a:schemeClr>
              </a:solidFill>
              <a:ln>
                <a:noFill/>
              </a:ln>
              <a:effectLst/>
            </c:spPr>
            <c:extLst>
              <c:ext xmlns:c16="http://schemas.microsoft.com/office/drawing/2014/chart" uri="{C3380CC4-5D6E-409C-BE32-E72D297353CC}">
                <c16:uniqueId val="{00000006-9EE8-48BB-809B-F6ABD9DD148B}"/>
              </c:ext>
            </c:extLst>
          </c:dPt>
          <c:dPt>
            <c:idx val="3"/>
            <c:invertIfNegative val="0"/>
            <c:bubble3D val="0"/>
            <c:spPr>
              <a:solidFill>
                <a:schemeClr val="accent6">
                  <a:lumMod val="75000"/>
                </a:schemeClr>
              </a:solidFill>
              <a:ln>
                <a:noFill/>
              </a:ln>
              <a:effectLst/>
            </c:spPr>
            <c:extLst>
              <c:ext xmlns:c16="http://schemas.microsoft.com/office/drawing/2014/chart" uri="{C3380CC4-5D6E-409C-BE32-E72D297353CC}">
                <c16:uniqueId val="{00000008-9EE8-48BB-809B-F6ABD9DD148B}"/>
              </c:ext>
            </c:extLst>
          </c:dPt>
          <c:dPt>
            <c:idx val="4"/>
            <c:invertIfNegative val="0"/>
            <c:bubble3D val="0"/>
            <c:spPr>
              <a:solidFill>
                <a:schemeClr val="accent6">
                  <a:lumMod val="75000"/>
                </a:schemeClr>
              </a:solidFill>
              <a:ln>
                <a:noFill/>
              </a:ln>
              <a:effectLst/>
            </c:spPr>
            <c:extLst>
              <c:ext xmlns:c16="http://schemas.microsoft.com/office/drawing/2014/chart" uri="{C3380CC4-5D6E-409C-BE32-E72D297353CC}">
                <c16:uniqueId val="{0000000A-9EE8-48BB-809B-F6ABD9DD148B}"/>
              </c:ext>
            </c:extLst>
          </c:dPt>
          <c:cat>
            <c:strRef>
              <c:f>Sheet1!$B$3:$B$13</c:f>
              <c:strCache>
                <c:ptCount val="5"/>
                <c:pt idx="0">
                  <c:v>Requirements Analysis</c:v>
                </c:pt>
                <c:pt idx="1">
                  <c:v>Initial Design Concept</c:v>
                </c:pt>
                <c:pt idx="2">
                  <c:v>Design down-selection</c:v>
                </c:pt>
                <c:pt idx="3">
                  <c:v>Detailed design and analysis</c:v>
                </c:pt>
                <c:pt idx="4">
                  <c:v>Verification and Final report</c:v>
                </c:pt>
              </c:strCache>
            </c:strRef>
          </c:cat>
          <c:val>
            <c:numRef>
              <c:f>Sheet1!$E$3:$E$7</c:f>
              <c:numCache>
                <c:formatCode>General</c:formatCode>
                <c:ptCount val="5"/>
                <c:pt idx="0">
                  <c:v>21</c:v>
                </c:pt>
                <c:pt idx="1">
                  <c:v>26</c:v>
                </c:pt>
                <c:pt idx="2">
                  <c:v>23</c:v>
                </c:pt>
                <c:pt idx="3">
                  <c:v>83</c:v>
                </c:pt>
                <c:pt idx="4">
                  <c:v>50</c:v>
                </c:pt>
              </c:numCache>
            </c:numRef>
          </c:val>
          <c:extLst>
            <c:ext xmlns:c16="http://schemas.microsoft.com/office/drawing/2014/chart" uri="{C3380CC4-5D6E-409C-BE32-E72D297353CC}">
              <c16:uniqueId val="{0000000B-9EE8-48BB-809B-F6ABD9DD148B}"/>
            </c:ext>
          </c:extLst>
        </c:ser>
        <c:dLbls>
          <c:showLegendKey val="0"/>
          <c:showVal val="0"/>
          <c:showCatName val="0"/>
          <c:showSerName val="0"/>
          <c:showPercent val="0"/>
          <c:showBubbleSize val="0"/>
        </c:dLbls>
        <c:gapWidth val="42"/>
        <c:overlap val="100"/>
        <c:axId val="338334207"/>
        <c:axId val="325907919"/>
      </c:barChart>
      <c:catAx>
        <c:axId val="338334207"/>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5907919"/>
        <c:crosses val="autoZero"/>
        <c:auto val="1"/>
        <c:lblAlgn val="ctr"/>
        <c:lblOffset val="100"/>
        <c:noMultiLvlLbl val="0"/>
      </c:catAx>
      <c:valAx>
        <c:axId val="325907919"/>
        <c:scaling>
          <c:orientation val="minMax"/>
          <c:max val="46497"/>
          <c:min val="46294"/>
        </c:scaling>
        <c:delete val="1"/>
        <c:axPos val="t"/>
        <c:numFmt formatCode="m/d/yyyy" sourceLinked="1"/>
        <c:majorTickMark val="none"/>
        <c:minorTickMark val="none"/>
        <c:tickLblPos val="nextTo"/>
        <c:crossAx val="3383342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tx1"/>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r>
              <a:rPr lang="en-GB" sz="1200" b="1"/>
              <a:t>Cost per aircraft vs number built (2025 £ M)</a:t>
            </a:r>
          </a:p>
          <a:p>
            <a:r>
              <a:rPr lang="en-GB" sz="1000" b="0"/>
              <a:t>700 aircraft ≈ 19 years at A330 rates</a:t>
            </a:r>
          </a:p>
        </c:rich>
      </c:tx>
      <c:overlay val="0"/>
    </c:title>
    <c:autoTitleDeleted val="0"/>
    <c:plotArea>
      <c:layout/>
      <c:lineChart>
        <c:grouping val="standard"/>
        <c:varyColors val="0"/>
        <c:ser>
          <c:idx val="0"/>
          <c:order val="0"/>
          <c:tx>
            <c:strRef>
              <c:f>Sheet1!$B$1</c:f>
              <c:strCache>
                <c:ptCount val="1"/>
                <c:pt idx="0">
                  <c:v>Western Europe (≈ 700)</c:v>
                </c:pt>
              </c:strCache>
            </c:strRef>
          </c:tx>
          <c:spPr>
            <a:ln w="28575">
              <a:solidFill>
                <a:srgbClr val="0B3C5D"/>
              </a:solidFill>
              <a:prstDash val="solid"/>
            </a:ln>
          </c:spPr>
          <c:marker>
            <c:symbol val="none"/>
          </c:marker>
          <c:cat>
            <c:strRef>
              <c:f>Sheet1!$A$2:$A$16</c:f>
              <c:strCache>
                <c:ptCount val="15"/>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strCache>
            </c:strRef>
          </c:cat>
          <c:val>
            <c:numRef>
              <c:f>Sheet1!$B$2:$B$16</c:f>
              <c:numCache>
                <c:formatCode>General</c:formatCode>
                <c:ptCount val="15"/>
                <c:pt idx="0">
                  <c:v>290.7</c:v>
                </c:pt>
                <c:pt idx="1">
                  <c:v>219</c:v>
                </c:pt>
                <c:pt idx="2">
                  <c:v>188.8</c:v>
                </c:pt>
                <c:pt idx="3">
                  <c:v>171.1</c:v>
                </c:pt>
                <c:pt idx="4">
                  <c:v>159.19999999999999</c:v>
                </c:pt>
                <c:pt idx="5">
                  <c:v>150.4</c:v>
                </c:pt>
                <c:pt idx="6">
                  <c:v>143.6</c:v>
                </c:pt>
                <c:pt idx="7">
                  <c:v>138.1</c:v>
                </c:pt>
                <c:pt idx="8">
                  <c:v>133.5</c:v>
                </c:pt>
                <c:pt idx="9">
                  <c:v>129.6</c:v>
                </c:pt>
                <c:pt idx="10">
                  <c:v>126.3</c:v>
                </c:pt>
                <c:pt idx="11">
                  <c:v>123.4</c:v>
                </c:pt>
                <c:pt idx="12">
                  <c:v>120.8</c:v>
                </c:pt>
                <c:pt idx="13">
                  <c:v>118.5</c:v>
                </c:pt>
                <c:pt idx="14">
                  <c:v>116.4</c:v>
                </c:pt>
              </c:numCache>
            </c:numRef>
          </c:val>
          <c:smooth val="0"/>
          <c:extLst>
            <c:ext xmlns:c16="http://schemas.microsoft.com/office/drawing/2014/chart" uri="{C3380CC4-5D6E-409C-BE32-E72D297353CC}">
              <c16:uniqueId val="{00000000-B8B5-0F47-9115-B16C2CF68980}"/>
            </c:ext>
          </c:extLst>
        </c:ser>
        <c:ser>
          <c:idx val="1"/>
          <c:order val="1"/>
          <c:tx>
            <c:strRef>
              <c:f>Sheet1!$C$1</c:f>
              <c:strCache>
                <c:ptCount val="1"/>
                <c:pt idx="0">
                  <c:v>10 % lower labour cost (≈ 585)</c:v>
                </c:pt>
              </c:strCache>
            </c:strRef>
          </c:tx>
          <c:spPr>
            <a:ln w="28575">
              <a:solidFill>
                <a:srgbClr val="156082"/>
              </a:solidFill>
              <a:prstDash val="solid"/>
            </a:ln>
          </c:spPr>
          <c:marker>
            <c:symbol val="none"/>
          </c:marker>
          <c:cat>
            <c:strRef>
              <c:f>Sheet1!$A$2:$A$16</c:f>
              <c:strCache>
                <c:ptCount val="15"/>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strCache>
            </c:strRef>
          </c:cat>
          <c:val>
            <c:numRef>
              <c:f>Sheet1!$C$2:$C$16</c:f>
              <c:numCache>
                <c:formatCode>General</c:formatCode>
                <c:ptCount val="15"/>
                <c:pt idx="0">
                  <c:v>271.5</c:v>
                </c:pt>
                <c:pt idx="1">
                  <c:v>205.8</c:v>
                </c:pt>
                <c:pt idx="2">
                  <c:v>178</c:v>
                </c:pt>
                <c:pt idx="3">
                  <c:v>161.80000000000001</c:v>
                </c:pt>
                <c:pt idx="4">
                  <c:v>150.80000000000001</c:v>
                </c:pt>
                <c:pt idx="5">
                  <c:v>142.69999999999999</c:v>
                </c:pt>
                <c:pt idx="6">
                  <c:v>136.4</c:v>
                </c:pt>
                <c:pt idx="7">
                  <c:v>131.30000000000001</c:v>
                </c:pt>
                <c:pt idx="8">
                  <c:v>127.1</c:v>
                </c:pt>
                <c:pt idx="9">
                  <c:v>123.5</c:v>
                </c:pt>
                <c:pt idx="10">
                  <c:v>120.5</c:v>
                </c:pt>
                <c:pt idx="11">
                  <c:v>117.8</c:v>
                </c:pt>
                <c:pt idx="12">
                  <c:v>115.4</c:v>
                </c:pt>
                <c:pt idx="13">
                  <c:v>113.2</c:v>
                </c:pt>
                <c:pt idx="14">
                  <c:v>111.3</c:v>
                </c:pt>
              </c:numCache>
            </c:numRef>
          </c:val>
          <c:smooth val="0"/>
          <c:extLst>
            <c:ext xmlns:c16="http://schemas.microsoft.com/office/drawing/2014/chart" uri="{C3380CC4-5D6E-409C-BE32-E72D297353CC}">
              <c16:uniqueId val="{00000001-B8B5-0F47-9115-B16C2CF68980}"/>
            </c:ext>
          </c:extLst>
        </c:ser>
        <c:ser>
          <c:idx val="2"/>
          <c:order val="2"/>
          <c:tx>
            <c:strRef>
              <c:f>Sheet1!$D$1</c:f>
              <c:strCache>
                <c:ptCount val="1"/>
                <c:pt idx="0">
                  <c:v>20 % lower labour cost (≈ 485)</c:v>
                </c:pt>
              </c:strCache>
            </c:strRef>
          </c:tx>
          <c:spPr>
            <a:ln w="28575">
              <a:solidFill>
                <a:srgbClr val="3E8BB5"/>
              </a:solidFill>
              <a:prstDash val="solid"/>
            </a:ln>
          </c:spPr>
          <c:marker>
            <c:symbol val="none"/>
          </c:marker>
          <c:cat>
            <c:strRef>
              <c:f>Sheet1!$A$2:$A$16</c:f>
              <c:strCache>
                <c:ptCount val="15"/>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strCache>
            </c:strRef>
          </c:cat>
          <c:val>
            <c:numRef>
              <c:f>Sheet1!$D$2:$D$16</c:f>
              <c:numCache>
                <c:formatCode>General</c:formatCode>
                <c:ptCount val="15"/>
                <c:pt idx="0">
                  <c:v>252.4</c:v>
                </c:pt>
                <c:pt idx="1">
                  <c:v>192.5</c:v>
                </c:pt>
                <c:pt idx="2">
                  <c:v>167.2</c:v>
                </c:pt>
                <c:pt idx="3">
                  <c:v>152.4</c:v>
                </c:pt>
                <c:pt idx="4">
                  <c:v>142.30000000000001</c:v>
                </c:pt>
                <c:pt idx="5">
                  <c:v>134.9</c:v>
                </c:pt>
                <c:pt idx="6">
                  <c:v>129.19999999999999</c:v>
                </c:pt>
                <c:pt idx="7">
                  <c:v>124.5</c:v>
                </c:pt>
                <c:pt idx="8">
                  <c:v>120.7</c:v>
                </c:pt>
                <c:pt idx="9">
                  <c:v>117.4</c:v>
                </c:pt>
                <c:pt idx="10">
                  <c:v>114.6</c:v>
                </c:pt>
                <c:pt idx="11">
                  <c:v>112.1</c:v>
                </c:pt>
                <c:pt idx="12">
                  <c:v>109.9</c:v>
                </c:pt>
                <c:pt idx="13">
                  <c:v>108</c:v>
                </c:pt>
                <c:pt idx="14">
                  <c:v>106.2</c:v>
                </c:pt>
              </c:numCache>
            </c:numRef>
          </c:val>
          <c:smooth val="0"/>
          <c:extLst>
            <c:ext xmlns:c16="http://schemas.microsoft.com/office/drawing/2014/chart" uri="{C3380CC4-5D6E-409C-BE32-E72D297353CC}">
              <c16:uniqueId val="{00000002-B8B5-0F47-9115-B16C2CF68980}"/>
            </c:ext>
          </c:extLst>
        </c:ser>
        <c:ser>
          <c:idx val="3"/>
          <c:order val="3"/>
          <c:tx>
            <c:strRef>
              <c:f>Sheet1!$E$1</c:f>
              <c:strCache>
                <c:ptCount val="1"/>
                <c:pt idx="0">
                  <c:v>30 % lower labour cost (≈ 395)</c:v>
                </c:pt>
              </c:strCache>
            </c:strRef>
          </c:tx>
          <c:spPr>
            <a:ln w="28575">
              <a:solidFill>
                <a:srgbClr val="7FB5D5"/>
              </a:solidFill>
              <a:prstDash val="solid"/>
            </a:ln>
          </c:spPr>
          <c:marker>
            <c:symbol val="none"/>
          </c:marker>
          <c:cat>
            <c:strRef>
              <c:f>Sheet1!$A$2:$A$16</c:f>
              <c:strCache>
                <c:ptCount val="15"/>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strCache>
            </c:strRef>
          </c:cat>
          <c:val>
            <c:numRef>
              <c:f>Sheet1!$E$2:$E$16</c:f>
              <c:numCache>
                <c:formatCode>General</c:formatCode>
                <c:ptCount val="15"/>
                <c:pt idx="0">
                  <c:v>233.2</c:v>
                </c:pt>
                <c:pt idx="1">
                  <c:v>179.2</c:v>
                </c:pt>
                <c:pt idx="2">
                  <c:v>156.4</c:v>
                </c:pt>
                <c:pt idx="3">
                  <c:v>143</c:v>
                </c:pt>
                <c:pt idx="4">
                  <c:v>133.9</c:v>
                </c:pt>
                <c:pt idx="5">
                  <c:v>127.2</c:v>
                </c:pt>
                <c:pt idx="6">
                  <c:v>122</c:v>
                </c:pt>
                <c:pt idx="7">
                  <c:v>117.8</c:v>
                </c:pt>
                <c:pt idx="8">
                  <c:v>114.3</c:v>
                </c:pt>
                <c:pt idx="9">
                  <c:v>111.3</c:v>
                </c:pt>
                <c:pt idx="10">
                  <c:v>108.7</c:v>
                </c:pt>
                <c:pt idx="11">
                  <c:v>106.5</c:v>
                </c:pt>
                <c:pt idx="12">
                  <c:v>104.5</c:v>
                </c:pt>
                <c:pt idx="13">
                  <c:v>102.7</c:v>
                </c:pt>
                <c:pt idx="14">
                  <c:v>101.1</c:v>
                </c:pt>
              </c:numCache>
            </c:numRef>
          </c:val>
          <c:smooth val="0"/>
          <c:extLst>
            <c:ext xmlns:c16="http://schemas.microsoft.com/office/drawing/2014/chart" uri="{C3380CC4-5D6E-409C-BE32-E72D297353CC}">
              <c16:uniqueId val="{00000002-B8B5-0F47-9115-B16C2CF68980}"/>
            </c:ext>
          </c:extLst>
        </c:ser>
        <c:ser>
          <c:idx val="4"/>
          <c:order val="4"/>
          <c:tx>
            <c:strRef>
              <c:f>Sheet1!$F$1</c:f>
              <c:strCache>
                <c:ptCount val="1"/>
                <c:pt idx="0">
                  <c:v>Unit price (50 % of A330-900 list)</c:v>
                </c:pt>
              </c:strCache>
            </c:strRef>
          </c:tx>
          <c:spPr>
            <a:ln w="19050">
              <a:solidFill>
                <a:srgbClr val="000000"/>
              </a:solidFill>
              <a:prstDash val="sysDash"/>
            </a:ln>
          </c:spPr>
          <c:marker>
            <c:symbol val="none"/>
          </c:marker>
          <c:cat>
            <c:strRef>
              <c:f>Sheet1!$A$2:$A$16</c:f>
              <c:strCache>
                <c:ptCount val="15"/>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strCache>
            </c:strRef>
          </c:cat>
          <c:val>
            <c:numRef>
              <c:f>Sheet1!$F$2:$F$16</c:f>
              <c:numCache>
                <c:formatCode>General</c:formatCode>
                <c:ptCount val="15"/>
                <c:pt idx="0">
                  <c:v>143.6</c:v>
                </c:pt>
                <c:pt idx="1">
                  <c:v>143.6</c:v>
                </c:pt>
                <c:pt idx="2">
                  <c:v>143.6</c:v>
                </c:pt>
                <c:pt idx="3">
                  <c:v>143.6</c:v>
                </c:pt>
                <c:pt idx="4">
                  <c:v>143.6</c:v>
                </c:pt>
                <c:pt idx="5">
                  <c:v>143.6</c:v>
                </c:pt>
                <c:pt idx="6">
                  <c:v>143.6</c:v>
                </c:pt>
                <c:pt idx="7">
                  <c:v>143.6</c:v>
                </c:pt>
                <c:pt idx="8">
                  <c:v>143.6</c:v>
                </c:pt>
                <c:pt idx="9">
                  <c:v>143.6</c:v>
                </c:pt>
                <c:pt idx="10">
                  <c:v>143.6</c:v>
                </c:pt>
                <c:pt idx="11">
                  <c:v>143.6</c:v>
                </c:pt>
                <c:pt idx="12">
                  <c:v>143.6</c:v>
                </c:pt>
                <c:pt idx="13">
                  <c:v>143.6</c:v>
                </c:pt>
                <c:pt idx="14">
                  <c:v>143.6</c:v>
                </c:pt>
              </c:numCache>
            </c:numRef>
          </c:val>
          <c:smooth val="0"/>
          <c:extLst>
            <c:ext xmlns:c16="http://schemas.microsoft.com/office/drawing/2014/chart" uri="{C3380CC4-5D6E-409C-BE32-E72D297353CC}">
              <c16:uniqueId val="{00000002-B8B5-0F47-9115-B16C2CF68980}"/>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title>
          <c:tx>
            <c:rich>
              <a:bodyPr/>
              <a:lstStyle/>
              <a:p>
                <a:r>
                  <a:rPr lang="en-GB" sz="1000"/>
                  <a:t>Aircraft produced</a:t>
                </a:r>
              </a:p>
            </c:rich>
          </c:tx>
          <c:overlay val="0"/>
        </c:title>
        <c:numFmt formatCode="General" sourceLinked="0"/>
        <c:majorTickMark val="out"/>
        <c:minorTickMark val="none"/>
        <c:tickLblPos val="nextTo"/>
        <c:txPr>
          <a:bodyPr/>
          <a:lstStyle/>
          <a:p>
            <a:pPr>
              <a:defRPr sz="1000"/>
            </a:pPr>
            <a:endParaRPr lang="en-US"/>
          </a:p>
        </c:txPr>
        <c:crossAx val="2140495176"/>
        <c:crosses val="autoZero"/>
        <c:auto val="1"/>
        <c:lblAlgn val="ctr"/>
        <c:lblOffset val="100"/>
        <c:tickLblSkip val="2"/>
        <c:noMultiLvlLbl val="0"/>
      </c:catAx>
      <c:valAx>
        <c:axId val="2140495176"/>
        <c:scaling>
          <c:orientation val="minMax"/>
          <c:max val="300"/>
          <c:min val="100"/>
        </c:scaling>
        <c:delete val="0"/>
        <c:axPos val="l"/>
        <c:majorGridlines>
          <c:spPr>
            <a:ln>
              <a:solidFill>
                <a:srgbClr val="BFBFBF"/>
              </a:solidFill>
            </a:ln>
          </c:spPr>
        </c:majorGridlines>
        <c:title>
          <c:tx>
            <c:rich>
              <a:bodyPr/>
              <a:lstStyle/>
              <a:p>
                <a:r>
                  <a:rPr lang="en-GB" sz="1000"/>
                  <a:t>£ M per aircraft</a:t>
                </a:r>
              </a:p>
            </c:rich>
          </c:tx>
          <c:overlay val="0"/>
        </c:title>
        <c:numFmt formatCode="General" sourceLinked="1"/>
        <c:majorTickMark val="out"/>
        <c:minorTickMark val="none"/>
        <c:tickLblPos val="nextTo"/>
        <c:txPr>
          <a:bodyPr/>
          <a:lstStyle/>
          <a:p>
            <a:pPr>
              <a:defRPr sz="1000"/>
            </a:pPr>
            <a:endParaRPr lang="en-US"/>
          </a:p>
        </c:txPr>
        <c:crossAx val="2118791784"/>
        <c:crosses val="autoZero"/>
        <c:crossBetween val="midCat"/>
        <c:majorUnit val="50"/>
      </c:valAx>
    </c:plotArea>
    <c:legend>
      <c:legendPos val="b"/>
      <c:overlay val="0"/>
      <c:txPr>
        <a:bodyPr/>
        <a:lstStyle/>
        <a:p>
          <a:pPr>
            <a:defRPr sz="90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ECE25F-22AB-40DE-AEBD-4F277CA0BC8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2893C7F-C4C7-4AAE-A63B-5B9496AA06AF}">
      <dgm:prSet/>
      <dgm:spPr/>
      <dgm:t>
        <a:bodyPr/>
        <a:lstStyle/>
        <a:p>
          <a:pPr>
            <a:lnSpc>
              <a:spcPct val="100000"/>
            </a:lnSpc>
          </a:pPr>
          <a:r>
            <a:rPr lang="en-US"/>
            <a:t>Work breakdown structure and timeline created </a:t>
          </a:r>
        </a:p>
      </dgm:t>
    </dgm:pt>
    <dgm:pt modelId="{318CA1D2-6C2D-429C-84B5-B8C51F2B82DD}" type="parTrans" cxnId="{35BA21F3-10E9-474A-BEC0-10BE54876491}">
      <dgm:prSet/>
      <dgm:spPr/>
      <dgm:t>
        <a:bodyPr/>
        <a:lstStyle/>
        <a:p>
          <a:endParaRPr lang="en-US"/>
        </a:p>
      </dgm:t>
    </dgm:pt>
    <dgm:pt modelId="{4A6B162C-1296-4D38-BCBF-7261D8FFC13E}" type="sibTrans" cxnId="{35BA21F3-10E9-474A-BEC0-10BE54876491}">
      <dgm:prSet/>
      <dgm:spPr/>
      <dgm:t>
        <a:bodyPr/>
        <a:lstStyle/>
        <a:p>
          <a:endParaRPr lang="en-US"/>
        </a:p>
      </dgm:t>
    </dgm:pt>
    <dgm:pt modelId="{B756AD0F-92F4-4F88-9D5F-3FA30EBC23AB}">
      <dgm:prSet/>
      <dgm:spPr/>
      <dgm:t>
        <a:bodyPr/>
        <a:lstStyle/>
        <a:p>
          <a:pPr>
            <a:lnSpc>
              <a:spcPct val="100000"/>
            </a:lnSpc>
          </a:pPr>
          <a:r>
            <a:rPr lang="en-US"/>
            <a:t>Weekly team meetings alongside sub-team meetings</a:t>
          </a:r>
        </a:p>
      </dgm:t>
    </dgm:pt>
    <dgm:pt modelId="{BB1274B9-5633-449F-85A8-FC29B9401F9E}" type="parTrans" cxnId="{B6E92092-E7BF-4D03-89F9-3641C03ACD2F}">
      <dgm:prSet/>
      <dgm:spPr/>
      <dgm:t>
        <a:bodyPr/>
        <a:lstStyle/>
        <a:p>
          <a:endParaRPr lang="en-US"/>
        </a:p>
      </dgm:t>
    </dgm:pt>
    <dgm:pt modelId="{D66DF6F3-4068-455A-9EF3-F5AA1BD882A5}" type="sibTrans" cxnId="{B6E92092-E7BF-4D03-89F9-3641C03ACD2F}">
      <dgm:prSet/>
      <dgm:spPr/>
      <dgm:t>
        <a:bodyPr/>
        <a:lstStyle/>
        <a:p>
          <a:endParaRPr lang="en-US"/>
        </a:p>
      </dgm:t>
    </dgm:pt>
    <dgm:pt modelId="{94C8A919-0CF9-475E-8FCC-A531EE6F3342}">
      <dgm:prSet/>
      <dgm:spPr/>
      <dgm:t>
        <a:bodyPr/>
        <a:lstStyle/>
        <a:p>
          <a:pPr>
            <a:lnSpc>
              <a:spcPct val="100000"/>
            </a:lnSpc>
          </a:pPr>
          <a:r>
            <a:rPr lang="en-US"/>
            <a:t>Excel spreadsheet tracking tasks and deadlines</a:t>
          </a:r>
        </a:p>
      </dgm:t>
    </dgm:pt>
    <dgm:pt modelId="{13B1ED85-B647-4921-AEAF-AAAF8AB3966F}" type="parTrans" cxnId="{3A75498F-A78D-4581-9052-668E8441A799}">
      <dgm:prSet/>
      <dgm:spPr/>
      <dgm:t>
        <a:bodyPr/>
        <a:lstStyle/>
        <a:p>
          <a:endParaRPr lang="en-US"/>
        </a:p>
      </dgm:t>
    </dgm:pt>
    <dgm:pt modelId="{9257A9BC-D3DA-42FC-94D0-DA3BC65CEC52}" type="sibTrans" cxnId="{3A75498F-A78D-4581-9052-668E8441A799}">
      <dgm:prSet/>
      <dgm:spPr/>
      <dgm:t>
        <a:bodyPr/>
        <a:lstStyle/>
        <a:p>
          <a:endParaRPr lang="en-US"/>
        </a:p>
      </dgm:t>
    </dgm:pt>
    <dgm:pt modelId="{6CE0B2F6-3071-418F-BF38-A85261221059}" type="pres">
      <dgm:prSet presAssocID="{A9ECE25F-22AB-40DE-AEBD-4F277CA0BC8B}" presName="root" presStyleCnt="0">
        <dgm:presLayoutVars>
          <dgm:dir/>
          <dgm:resizeHandles val="exact"/>
        </dgm:presLayoutVars>
      </dgm:prSet>
      <dgm:spPr/>
    </dgm:pt>
    <dgm:pt modelId="{43F1735F-B816-4655-BD20-CC7FC7D07220}" type="pres">
      <dgm:prSet presAssocID="{C2893C7F-C4C7-4AAE-A63B-5B9496AA06AF}" presName="compNode" presStyleCnt="0"/>
      <dgm:spPr/>
    </dgm:pt>
    <dgm:pt modelId="{C8DBDB4E-9141-4C3E-A19F-5E9284E20038}" type="pres">
      <dgm:prSet presAssocID="{C2893C7F-C4C7-4AAE-A63B-5B9496AA06AF}" presName="bgRect" presStyleLbl="bgShp" presStyleIdx="0" presStyleCnt="3"/>
      <dgm:spPr/>
    </dgm:pt>
    <dgm:pt modelId="{4ED360A1-EDC3-41D3-BB3A-995FBEDE4C80}" type="pres">
      <dgm:prSet presAssocID="{C2893C7F-C4C7-4AAE-A63B-5B9496AA06AF}" presName="iconRect" presStyleLbl="node1" presStyleIdx="0" presStyleCnt="3"/>
      <dgm:spPr>
        <a:blipFill rotWithShape="1">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Checkmark"/>
        </a:ext>
      </dgm:extLst>
    </dgm:pt>
    <dgm:pt modelId="{B58BE4CF-4F76-4D4A-9305-9A96DA68D8B0}" type="pres">
      <dgm:prSet presAssocID="{C2893C7F-C4C7-4AAE-A63B-5B9496AA06AF}" presName="spaceRect" presStyleCnt="0"/>
      <dgm:spPr/>
    </dgm:pt>
    <dgm:pt modelId="{5D187A01-9E56-4509-A7D4-79DEF7B1C5BA}" type="pres">
      <dgm:prSet presAssocID="{C2893C7F-C4C7-4AAE-A63B-5B9496AA06AF}" presName="parTx" presStyleLbl="revTx" presStyleIdx="0" presStyleCnt="3">
        <dgm:presLayoutVars>
          <dgm:chMax val="0"/>
          <dgm:chPref val="0"/>
        </dgm:presLayoutVars>
      </dgm:prSet>
      <dgm:spPr/>
    </dgm:pt>
    <dgm:pt modelId="{88269ED5-36D9-494A-A097-C7CC68D25A61}" type="pres">
      <dgm:prSet presAssocID="{4A6B162C-1296-4D38-BCBF-7261D8FFC13E}" presName="sibTrans" presStyleCnt="0"/>
      <dgm:spPr/>
    </dgm:pt>
    <dgm:pt modelId="{BB3C9B53-6A1F-4039-B750-EC5AF732DED3}" type="pres">
      <dgm:prSet presAssocID="{B756AD0F-92F4-4F88-9D5F-3FA30EBC23AB}" presName="compNode" presStyleCnt="0"/>
      <dgm:spPr/>
    </dgm:pt>
    <dgm:pt modelId="{2D98F3A2-854F-4C9E-BCD1-A5D59B40CD9B}" type="pres">
      <dgm:prSet presAssocID="{B756AD0F-92F4-4F88-9D5F-3FA30EBC23AB}" presName="bgRect" presStyleLbl="bgShp" presStyleIdx="1" presStyleCnt="3"/>
      <dgm:spPr/>
    </dgm:pt>
    <dgm:pt modelId="{6E488CCB-EC94-4E8B-8A42-D90B99708257}" type="pres">
      <dgm:prSet presAssocID="{B756AD0F-92F4-4F88-9D5F-3FA30EBC23AB}" presName="iconRect" presStyleLbl="node1" presStyleIdx="1" presStyleCnt="3"/>
      <dgm:spPr>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Meeting"/>
        </a:ext>
      </dgm:extLst>
    </dgm:pt>
    <dgm:pt modelId="{027A91BC-2BA5-44AF-92D4-3B8FED7AD861}" type="pres">
      <dgm:prSet presAssocID="{B756AD0F-92F4-4F88-9D5F-3FA30EBC23AB}" presName="spaceRect" presStyleCnt="0"/>
      <dgm:spPr/>
    </dgm:pt>
    <dgm:pt modelId="{A6EE2E0B-86DD-4F13-824D-F0E730C20B21}" type="pres">
      <dgm:prSet presAssocID="{B756AD0F-92F4-4F88-9D5F-3FA30EBC23AB}" presName="parTx" presStyleLbl="revTx" presStyleIdx="1" presStyleCnt="3">
        <dgm:presLayoutVars>
          <dgm:chMax val="0"/>
          <dgm:chPref val="0"/>
        </dgm:presLayoutVars>
      </dgm:prSet>
      <dgm:spPr/>
    </dgm:pt>
    <dgm:pt modelId="{3BAB320A-FC34-4412-883A-9A4C3DDF539D}" type="pres">
      <dgm:prSet presAssocID="{D66DF6F3-4068-455A-9EF3-F5AA1BD882A5}" presName="sibTrans" presStyleCnt="0"/>
      <dgm:spPr/>
    </dgm:pt>
    <dgm:pt modelId="{79180707-4898-46A3-BEA1-EA933B243B9B}" type="pres">
      <dgm:prSet presAssocID="{94C8A919-0CF9-475E-8FCC-A531EE6F3342}" presName="compNode" presStyleCnt="0"/>
      <dgm:spPr/>
    </dgm:pt>
    <dgm:pt modelId="{E4B2AE2D-4F99-4067-8979-3E2DC8A8106A}" type="pres">
      <dgm:prSet presAssocID="{94C8A919-0CF9-475E-8FCC-A531EE6F3342}" presName="bgRect" presStyleLbl="bgShp" presStyleIdx="2" presStyleCnt="3"/>
      <dgm:spPr/>
    </dgm:pt>
    <dgm:pt modelId="{987A4DEE-0638-459F-88F9-4472AB5A9AAB}" type="pres">
      <dgm:prSet presAssocID="{94C8A919-0CF9-475E-8FCC-A531EE6F3342}" presName="iconRect" presStyleLbl="node1" presStyleIdx="2" presStyleCnt="3"/>
      <dgm:spPr>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Table"/>
        </a:ext>
      </dgm:extLst>
    </dgm:pt>
    <dgm:pt modelId="{D800F228-7C47-42B7-9798-B3D29C20D243}" type="pres">
      <dgm:prSet presAssocID="{94C8A919-0CF9-475E-8FCC-A531EE6F3342}" presName="spaceRect" presStyleCnt="0"/>
      <dgm:spPr/>
    </dgm:pt>
    <dgm:pt modelId="{4714D299-C4AB-44E6-8170-EDA1ED82512D}" type="pres">
      <dgm:prSet presAssocID="{94C8A919-0CF9-475E-8FCC-A531EE6F3342}" presName="parTx" presStyleLbl="revTx" presStyleIdx="2" presStyleCnt="3">
        <dgm:presLayoutVars>
          <dgm:chMax val="0"/>
          <dgm:chPref val="0"/>
        </dgm:presLayoutVars>
      </dgm:prSet>
      <dgm:spPr/>
    </dgm:pt>
  </dgm:ptLst>
  <dgm:cxnLst>
    <dgm:cxn modelId="{3E431629-5461-47F4-A92F-57C3989CD1F9}" type="presOf" srcId="{A9ECE25F-22AB-40DE-AEBD-4F277CA0BC8B}" destId="{6CE0B2F6-3071-418F-BF38-A85261221059}" srcOrd="0" destOrd="0" presId="urn:microsoft.com/office/officeart/2018/2/layout/IconVerticalSolidList"/>
    <dgm:cxn modelId="{4CD3C435-70CE-4A0B-A682-A30FBD76A27B}" type="presOf" srcId="{94C8A919-0CF9-475E-8FCC-A531EE6F3342}" destId="{4714D299-C4AB-44E6-8170-EDA1ED82512D}" srcOrd="0" destOrd="0" presId="urn:microsoft.com/office/officeart/2018/2/layout/IconVerticalSolidList"/>
    <dgm:cxn modelId="{D17CFB5C-EA7D-437B-932D-439D95497487}" type="presOf" srcId="{C2893C7F-C4C7-4AAE-A63B-5B9496AA06AF}" destId="{5D187A01-9E56-4509-A7D4-79DEF7B1C5BA}" srcOrd="0" destOrd="0" presId="urn:microsoft.com/office/officeart/2018/2/layout/IconVerticalSolidList"/>
    <dgm:cxn modelId="{3A75498F-A78D-4581-9052-668E8441A799}" srcId="{A9ECE25F-22AB-40DE-AEBD-4F277CA0BC8B}" destId="{94C8A919-0CF9-475E-8FCC-A531EE6F3342}" srcOrd="2" destOrd="0" parTransId="{13B1ED85-B647-4921-AEAF-AAAF8AB3966F}" sibTransId="{9257A9BC-D3DA-42FC-94D0-DA3BC65CEC52}"/>
    <dgm:cxn modelId="{B6E92092-E7BF-4D03-89F9-3641C03ACD2F}" srcId="{A9ECE25F-22AB-40DE-AEBD-4F277CA0BC8B}" destId="{B756AD0F-92F4-4F88-9D5F-3FA30EBC23AB}" srcOrd="1" destOrd="0" parTransId="{BB1274B9-5633-449F-85A8-FC29B9401F9E}" sibTransId="{D66DF6F3-4068-455A-9EF3-F5AA1BD882A5}"/>
    <dgm:cxn modelId="{6F1D2BBF-6A83-4DAE-A9ED-30ABEA5784E2}" type="presOf" srcId="{B756AD0F-92F4-4F88-9D5F-3FA30EBC23AB}" destId="{A6EE2E0B-86DD-4F13-824D-F0E730C20B21}" srcOrd="0" destOrd="0" presId="urn:microsoft.com/office/officeart/2018/2/layout/IconVerticalSolidList"/>
    <dgm:cxn modelId="{35BA21F3-10E9-474A-BEC0-10BE54876491}" srcId="{A9ECE25F-22AB-40DE-AEBD-4F277CA0BC8B}" destId="{C2893C7F-C4C7-4AAE-A63B-5B9496AA06AF}" srcOrd="0" destOrd="0" parTransId="{318CA1D2-6C2D-429C-84B5-B8C51F2B82DD}" sibTransId="{4A6B162C-1296-4D38-BCBF-7261D8FFC13E}"/>
    <dgm:cxn modelId="{9862B933-6950-4E60-A2D3-FB0839DB8F01}" type="presParOf" srcId="{6CE0B2F6-3071-418F-BF38-A85261221059}" destId="{43F1735F-B816-4655-BD20-CC7FC7D07220}" srcOrd="0" destOrd="0" presId="urn:microsoft.com/office/officeart/2018/2/layout/IconVerticalSolidList"/>
    <dgm:cxn modelId="{33F4AF7D-5A4F-4159-93FF-9189CEFF37CB}" type="presParOf" srcId="{43F1735F-B816-4655-BD20-CC7FC7D07220}" destId="{C8DBDB4E-9141-4C3E-A19F-5E9284E20038}" srcOrd="0" destOrd="0" presId="urn:microsoft.com/office/officeart/2018/2/layout/IconVerticalSolidList"/>
    <dgm:cxn modelId="{3EADD982-B010-448C-94C5-0371D7374855}" type="presParOf" srcId="{43F1735F-B816-4655-BD20-CC7FC7D07220}" destId="{4ED360A1-EDC3-41D3-BB3A-995FBEDE4C80}" srcOrd="1" destOrd="0" presId="urn:microsoft.com/office/officeart/2018/2/layout/IconVerticalSolidList"/>
    <dgm:cxn modelId="{938A32F1-BDBC-4700-8EC4-A7DF8BE8645C}" type="presParOf" srcId="{43F1735F-B816-4655-BD20-CC7FC7D07220}" destId="{B58BE4CF-4F76-4D4A-9305-9A96DA68D8B0}" srcOrd="2" destOrd="0" presId="urn:microsoft.com/office/officeart/2018/2/layout/IconVerticalSolidList"/>
    <dgm:cxn modelId="{5206A815-4504-43CE-9FC2-6D405D6D555E}" type="presParOf" srcId="{43F1735F-B816-4655-BD20-CC7FC7D07220}" destId="{5D187A01-9E56-4509-A7D4-79DEF7B1C5BA}" srcOrd="3" destOrd="0" presId="urn:microsoft.com/office/officeart/2018/2/layout/IconVerticalSolidList"/>
    <dgm:cxn modelId="{A87B154A-84F0-407A-9DBD-04CF02DC81E3}" type="presParOf" srcId="{6CE0B2F6-3071-418F-BF38-A85261221059}" destId="{88269ED5-36D9-494A-A097-C7CC68D25A61}" srcOrd="1" destOrd="0" presId="urn:microsoft.com/office/officeart/2018/2/layout/IconVerticalSolidList"/>
    <dgm:cxn modelId="{9D046D45-0EF2-46BF-8E6B-3414084CA87D}" type="presParOf" srcId="{6CE0B2F6-3071-418F-BF38-A85261221059}" destId="{BB3C9B53-6A1F-4039-B750-EC5AF732DED3}" srcOrd="2" destOrd="0" presId="urn:microsoft.com/office/officeart/2018/2/layout/IconVerticalSolidList"/>
    <dgm:cxn modelId="{BE78488E-F665-49D1-A306-0EE758FA80E1}" type="presParOf" srcId="{BB3C9B53-6A1F-4039-B750-EC5AF732DED3}" destId="{2D98F3A2-854F-4C9E-BCD1-A5D59B40CD9B}" srcOrd="0" destOrd="0" presId="urn:microsoft.com/office/officeart/2018/2/layout/IconVerticalSolidList"/>
    <dgm:cxn modelId="{96711A8E-C7CF-4B0D-B0A7-55C50D33A4A7}" type="presParOf" srcId="{BB3C9B53-6A1F-4039-B750-EC5AF732DED3}" destId="{6E488CCB-EC94-4E8B-8A42-D90B99708257}" srcOrd="1" destOrd="0" presId="urn:microsoft.com/office/officeart/2018/2/layout/IconVerticalSolidList"/>
    <dgm:cxn modelId="{6995C108-DBF5-4A94-BBC2-DF02FAA58E10}" type="presParOf" srcId="{BB3C9B53-6A1F-4039-B750-EC5AF732DED3}" destId="{027A91BC-2BA5-44AF-92D4-3B8FED7AD861}" srcOrd="2" destOrd="0" presId="urn:microsoft.com/office/officeart/2018/2/layout/IconVerticalSolidList"/>
    <dgm:cxn modelId="{2FBCC983-0C89-47C7-B4AC-129FDD446F79}" type="presParOf" srcId="{BB3C9B53-6A1F-4039-B750-EC5AF732DED3}" destId="{A6EE2E0B-86DD-4F13-824D-F0E730C20B21}" srcOrd="3" destOrd="0" presId="urn:microsoft.com/office/officeart/2018/2/layout/IconVerticalSolidList"/>
    <dgm:cxn modelId="{9434ED4D-6FE9-4DE1-AF16-C1D43C137EEF}" type="presParOf" srcId="{6CE0B2F6-3071-418F-BF38-A85261221059}" destId="{3BAB320A-FC34-4412-883A-9A4C3DDF539D}" srcOrd="3" destOrd="0" presId="urn:microsoft.com/office/officeart/2018/2/layout/IconVerticalSolidList"/>
    <dgm:cxn modelId="{299D5DF7-32D2-42F9-B9ED-19D3E2B9E858}" type="presParOf" srcId="{6CE0B2F6-3071-418F-BF38-A85261221059}" destId="{79180707-4898-46A3-BEA1-EA933B243B9B}" srcOrd="4" destOrd="0" presId="urn:microsoft.com/office/officeart/2018/2/layout/IconVerticalSolidList"/>
    <dgm:cxn modelId="{10D9BD42-25EE-4B37-A22B-728379355F27}" type="presParOf" srcId="{79180707-4898-46A3-BEA1-EA933B243B9B}" destId="{E4B2AE2D-4F99-4067-8979-3E2DC8A8106A}" srcOrd="0" destOrd="0" presId="urn:microsoft.com/office/officeart/2018/2/layout/IconVerticalSolidList"/>
    <dgm:cxn modelId="{F1AEB637-CB29-4A3C-8857-A9D2CEAFB64D}" type="presParOf" srcId="{79180707-4898-46A3-BEA1-EA933B243B9B}" destId="{987A4DEE-0638-459F-88F9-4472AB5A9AAB}" srcOrd="1" destOrd="0" presId="urn:microsoft.com/office/officeart/2018/2/layout/IconVerticalSolidList"/>
    <dgm:cxn modelId="{75B1E895-5B5D-472F-87B0-010F4890DA43}" type="presParOf" srcId="{79180707-4898-46A3-BEA1-EA933B243B9B}" destId="{D800F228-7C47-42B7-9798-B3D29C20D243}" srcOrd="2" destOrd="0" presId="urn:microsoft.com/office/officeart/2018/2/layout/IconVerticalSolidList"/>
    <dgm:cxn modelId="{6084F6B9-63B5-4339-AA37-7356D8EED945}" type="presParOf" srcId="{79180707-4898-46A3-BEA1-EA933B243B9B}" destId="{4714D299-C4AB-44E6-8170-EDA1ED82512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DBDB4E-9141-4C3E-A19F-5E9284E20038}">
      <dsp:nvSpPr>
        <dsp:cNvPr id="0" name=""/>
        <dsp:cNvSpPr/>
      </dsp:nvSpPr>
      <dsp:spPr>
        <a:xfrm>
          <a:off x="0" y="428"/>
          <a:ext cx="10515600" cy="10035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D360A1-EDC3-41D3-BB3A-995FBEDE4C80}">
      <dsp:nvSpPr>
        <dsp:cNvPr id="0" name=""/>
        <dsp:cNvSpPr/>
      </dsp:nvSpPr>
      <dsp:spPr>
        <a:xfrm>
          <a:off x="303571" y="226226"/>
          <a:ext cx="551948" cy="551948"/>
        </a:xfrm>
        <a:prstGeom prst="rect">
          <a:avLst/>
        </a:prstGeom>
        <a:blipFill rotWithShape="1">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187A01-9E56-4509-A7D4-79DEF7B1C5BA}">
      <dsp:nvSpPr>
        <dsp:cNvPr id="0" name=""/>
        <dsp:cNvSpPr/>
      </dsp:nvSpPr>
      <dsp:spPr>
        <a:xfrm>
          <a:off x="1159092" y="428"/>
          <a:ext cx="9356507" cy="1003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208" tIns="106208" rIns="106208" bIns="106208" numCol="1" spcCol="1270" anchor="ctr" anchorCtr="0">
          <a:noAutofit/>
        </a:bodyPr>
        <a:lstStyle/>
        <a:p>
          <a:pPr marL="0" lvl="0" indent="0" algn="l" defTabSz="1111250">
            <a:lnSpc>
              <a:spcPct val="100000"/>
            </a:lnSpc>
            <a:spcBef>
              <a:spcPct val="0"/>
            </a:spcBef>
            <a:spcAft>
              <a:spcPct val="35000"/>
            </a:spcAft>
            <a:buNone/>
          </a:pPr>
          <a:r>
            <a:rPr lang="en-US" sz="2500" kern="1200"/>
            <a:t>Work breakdown structure and timeline created </a:t>
          </a:r>
        </a:p>
      </dsp:txBody>
      <dsp:txXfrm>
        <a:off x="1159092" y="428"/>
        <a:ext cx="9356507" cy="1003543"/>
      </dsp:txXfrm>
    </dsp:sp>
    <dsp:sp modelId="{2D98F3A2-854F-4C9E-BCD1-A5D59B40CD9B}">
      <dsp:nvSpPr>
        <dsp:cNvPr id="0" name=""/>
        <dsp:cNvSpPr/>
      </dsp:nvSpPr>
      <dsp:spPr>
        <a:xfrm>
          <a:off x="0" y="1254858"/>
          <a:ext cx="10515600" cy="10035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488CCB-EC94-4E8B-8A42-D90B99708257}">
      <dsp:nvSpPr>
        <dsp:cNvPr id="0" name=""/>
        <dsp:cNvSpPr/>
      </dsp:nvSpPr>
      <dsp:spPr>
        <a:xfrm>
          <a:off x="303571" y="1480655"/>
          <a:ext cx="551948" cy="551948"/>
        </a:xfrm>
        <a:prstGeom prst="rect">
          <a:avLst/>
        </a:prstGeom>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EE2E0B-86DD-4F13-824D-F0E730C20B21}">
      <dsp:nvSpPr>
        <dsp:cNvPr id="0" name=""/>
        <dsp:cNvSpPr/>
      </dsp:nvSpPr>
      <dsp:spPr>
        <a:xfrm>
          <a:off x="1159092" y="1254858"/>
          <a:ext cx="9356507" cy="1003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208" tIns="106208" rIns="106208" bIns="106208" numCol="1" spcCol="1270" anchor="ctr" anchorCtr="0">
          <a:noAutofit/>
        </a:bodyPr>
        <a:lstStyle/>
        <a:p>
          <a:pPr marL="0" lvl="0" indent="0" algn="l" defTabSz="1111250">
            <a:lnSpc>
              <a:spcPct val="100000"/>
            </a:lnSpc>
            <a:spcBef>
              <a:spcPct val="0"/>
            </a:spcBef>
            <a:spcAft>
              <a:spcPct val="35000"/>
            </a:spcAft>
            <a:buNone/>
          </a:pPr>
          <a:r>
            <a:rPr lang="en-US" sz="2500" kern="1200"/>
            <a:t>Weekly team meetings alongside sub-team meetings</a:t>
          </a:r>
        </a:p>
      </dsp:txBody>
      <dsp:txXfrm>
        <a:off x="1159092" y="1254858"/>
        <a:ext cx="9356507" cy="1003543"/>
      </dsp:txXfrm>
    </dsp:sp>
    <dsp:sp modelId="{E4B2AE2D-4F99-4067-8979-3E2DC8A8106A}">
      <dsp:nvSpPr>
        <dsp:cNvPr id="0" name=""/>
        <dsp:cNvSpPr/>
      </dsp:nvSpPr>
      <dsp:spPr>
        <a:xfrm>
          <a:off x="0" y="2509287"/>
          <a:ext cx="10515600" cy="10035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7A4DEE-0638-459F-88F9-4472AB5A9AAB}">
      <dsp:nvSpPr>
        <dsp:cNvPr id="0" name=""/>
        <dsp:cNvSpPr/>
      </dsp:nvSpPr>
      <dsp:spPr>
        <a:xfrm>
          <a:off x="303571" y="2735084"/>
          <a:ext cx="551948" cy="551948"/>
        </a:xfrm>
        <a:prstGeom prst="rect">
          <a:avLst/>
        </a:prstGeom>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14D299-C4AB-44E6-8170-EDA1ED82512D}">
      <dsp:nvSpPr>
        <dsp:cNvPr id="0" name=""/>
        <dsp:cNvSpPr/>
      </dsp:nvSpPr>
      <dsp:spPr>
        <a:xfrm>
          <a:off x="1159092" y="2509287"/>
          <a:ext cx="9356507" cy="1003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208" tIns="106208" rIns="106208" bIns="106208" numCol="1" spcCol="1270" anchor="ctr" anchorCtr="0">
          <a:noAutofit/>
        </a:bodyPr>
        <a:lstStyle/>
        <a:p>
          <a:pPr marL="0" lvl="0" indent="0" algn="l" defTabSz="1111250">
            <a:lnSpc>
              <a:spcPct val="100000"/>
            </a:lnSpc>
            <a:spcBef>
              <a:spcPct val="0"/>
            </a:spcBef>
            <a:spcAft>
              <a:spcPct val="35000"/>
            </a:spcAft>
            <a:buNone/>
          </a:pPr>
          <a:r>
            <a:rPr lang="en-US" sz="2500" kern="1200"/>
            <a:t>Excel spreadsheet tracking tasks and deadlines</a:t>
          </a:r>
        </a:p>
      </dsp:txBody>
      <dsp:txXfrm>
        <a:off x="1159092" y="2509287"/>
        <a:ext cx="9356507" cy="100354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1CE6B6-FF1C-4101-A9AA-782B32285BD9}" type="datetimeFigureOut">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80D4A-E415-4490-9628-13EBD2AF61CC}" type="slidenum">
              <a:t>‹#›</a:t>
            </a:fld>
            <a:endParaRPr lang="en-US"/>
          </a:p>
        </p:txBody>
      </p:sp>
    </p:spTree>
    <p:extLst>
      <p:ext uri="{BB962C8B-B14F-4D97-AF65-F5344CB8AC3E}">
        <p14:creationId xmlns:p14="http://schemas.microsoft.com/office/powerpoint/2010/main" val="1881590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nSpc>
                <a:spcPct val="90000"/>
              </a:lnSpc>
              <a:spcBef>
                <a:spcPts val="1000"/>
              </a:spcBef>
            </a:pPr>
            <a:r>
              <a:rPr lang="en-US"/>
              <a:t>Spoken about aircraft already but more specifically, what does the aircraft need to do?</a:t>
            </a:r>
          </a:p>
          <a:p>
            <a:pPr marL="228600" indent="-228600">
              <a:lnSpc>
                <a:spcPct val="90000"/>
              </a:lnSpc>
              <a:spcBef>
                <a:spcPts val="1000"/>
              </a:spcBef>
            </a:pPr>
            <a:r>
              <a:rPr lang="en-US"/>
              <a:t>Fly &lt;- airworthiness &lt;- CS-25, ICAO regulations</a:t>
            </a:r>
          </a:p>
          <a:p>
            <a:pPr marL="228600" indent="-228600">
              <a:lnSpc>
                <a:spcPct val="90000"/>
              </a:lnSpc>
              <a:spcBef>
                <a:spcPts val="1000"/>
              </a:spcBef>
            </a:pPr>
            <a:r>
              <a:rPr lang="en-US"/>
              <a:t>So what have we done to make sure fits?</a:t>
            </a:r>
            <a:endParaRPr lang="en-US">
              <a:ea typeface="Calibri"/>
              <a:cs typeface="Calibri"/>
            </a:endParaRPr>
          </a:p>
          <a:p>
            <a:pPr marL="228600" indent="-228600">
              <a:lnSpc>
                <a:spcPct val="90000"/>
              </a:lnSpc>
              <a:spcBef>
                <a:spcPts val="1000"/>
              </a:spcBef>
            </a:pPr>
            <a:r>
              <a:rPr lang="en-US"/>
              <a:t>How have we structured our info: id for reference, align to CS-25 sections, title, requirement, reference and way to show compliance - put pic of Excel spreadsheet/doc/table maybe (supplementary material only)</a:t>
            </a:r>
          </a:p>
          <a:p>
            <a:pPr>
              <a:lnSpc>
                <a:spcPct val="90000"/>
              </a:lnSpc>
              <a:spcBef>
                <a:spcPts val="1000"/>
              </a:spcBef>
            </a:pPr>
            <a:r>
              <a:rPr lang="en-US">
                <a:ea typeface="Calibri"/>
                <a:cs typeface="Calibri"/>
              </a:rPr>
              <a:t>ADIT framework </a:t>
            </a:r>
            <a:r>
              <a:rPr lang="en-US"/>
              <a:t>from NASA pg 215 Expanded Guidance for NASA Systems Engineering</a:t>
            </a:r>
          </a:p>
          <a:p>
            <a:pPr>
              <a:lnSpc>
                <a:spcPct val="90000"/>
              </a:lnSpc>
              <a:spcBef>
                <a:spcPts val="1000"/>
              </a:spcBef>
            </a:pPr>
            <a:r>
              <a:rPr lang="en-US">
                <a:ea typeface="Calibri"/>
                <a:cs typeface="Calibri"/>
              </a:rPr>
              <a:t>Analysis: </a:t>
            </a:r>
            <a:r>
              <a:rPr lang="en-US"/>
              <a:t>mathematical modeling and analytical techniques, model/simulation</a:t>
            </a:r>
            <a:endParaRPr lang="en-US">
              <a:ea typeface="Calibri"/>
              <a:cs typeface="Calibri"/>
            </a:endParaRPr>
          </a:p>
          <a:p>
            <a:pPr>
              <a:lnSpc>
                <a:spcPct val="90000"/>
              </a:lnSpc>
              <a:spcBef>
                <a:spcPts val="1000"/>
              </a:spcBef>
            </a:pPr>
            <a:r>
              <a:rPr lang="en-US">
                <a:ea typeface="Calibri"/>
                <a:cs typeface="Calibri"/>
              </a:rPr>
              <a:t>Demonstration: end use achieves req. Could be physical model or one time flight performance. Less info than test</a:t>
            </a:r>
          </a:p>
          <a:p>
            <a:pPr>
              <a:lnSpc>
                <a:spcPct val="90000"/>
              </a:lnSpc>
              <a:spcBef>
                <a:spcPts val="1000"/>
              </a:spcBef>
            </a:pPr>
            <a:r>
              <a:rPr lang="en-US">
                <a:ea typeface="Calibri"/>
                <a:cs typeface="Calibri"/>
              </a:rPr>
              <a:t>Inspection: visual examination of realised end product</a:t>
            </a:r>
          </a:p>
          <a:p>
            <a:pPr>
              <a:lnSpc>
                <a:spcPct val="90000"/>
              </a:lnSpc>
              <a:spcBef>
                <a:spcPts val="1000"/>
              </a:spcBef>
            </a:pPr>
            <a:r>
              <a:rPr lang="en-US">
                <a:ea typeface="Calibri"/>
                <a:cs typeface="Calibri"/>
              </a:rPr>
              <a:t>Test: use an end product for detailed analysis, for sufficient info</a:t>
            </a:r>
          </a:p>
          <a:p>
            <a:pPr marL="228600" indent="-228600">
              <a:lnSpc>
                <a:spcPct val="90000"/>
              </a:lnSpc>
              <a:spcBef>
                <a:spcPts val="1000"/>
              </a:spcBef>
            </a:pP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3DF80D4A-E415-4490-9628-13EBD2AF61CC}" type="slidenum">
              <a:t>4</a:t>
            </a:fld>
            <a:endParaRPr lang="en-US"/>
          </a:p>
        </p:txBody>
      </p:sp>
    </p:spTree>
    <p:extLst>
      <p:ext uri="{BB962C8B-B14F-4D97-AF65-F5344CB8AC3E}">
        <p14:creationId xmlns:p14="http://schemas.microsoft.com/office/powerpoint/2010/main" val="1049297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2DB98-281C-33E0-5667-0E623F669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DB8B9-A8AE-CD3D-FF15-3BC5D2AFA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5F9AED-41F0-CD0C-BC2B-EF5131FB2A7D}"/>
              </a:ext>
            </a:extLst>
          </p:cNvPr>
          <p:cNvSpPr>
            <a:spLocks noGrp="1"/>
          </p:cNvSpPr>
          <p:nvPr>
            <p:ph type="body" idx="1"/>
          </p:nvPr>
        </p:nvSpPr>
        <p:spPr/>
        <p:txBody>
          <a:bodyPr/>
          <a:lstStyle/>
          <a:p>
            <a:r>
              <a:rPr lang="en-GB"/>
              <a:t>FLIGHT: Stability, Flight envelope, communications, emissions and noise</a:t>
            </a:r>
            <a:endParaRPr lang="en-US"/>
          </a:p>
          <a:p>
            <a:r>
              <a:rPr lang="en-GB"/>
              <a:t>SAFETY:  Safe operation/safety and emergency/system safety, safety factors, performance margins</a:t>
            </a:r>
          </a:p>
          <a:p>
            <a:r>
              <a:rPr lang="en-GB"/>
              <a:t>FATIGUE: link to both safety and cost, could make subcategory I guess</a:t>
            </a:r>
          </a:p>
          <a:p>
            <a:r>
              <a:rPr lang="en-GB"/>
              <a:t>COST: DOC, maintenance etc (say more later in presentation)</a:t>
            </a:r>
          </a:p>
          <a:p>
            <a:endParaRPr lang="en-GB"/>
          </a:p>
          <a:p>
            <a:r>
              <a:rPr lang="en-GB"/>
              <a:t>This also covers brief requirements, we could spread out and make two slides with two topics</a:t>
            </a:r>
          </a:p>
          <a:p>
            <a:pPr>
              <a:lnSpc>
                <a:spcPct val="90000"/>
              </a:lnSpc>
              <a:spcBef>
                <a:spcPts val="1000"/>
              </a:spcBef>
            </a:pP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1A9CEB7A-1D4C-7BA2-7AEF-775D8699765B}"/>
              </a:ext>
            </a:extLst>
          </p:cNvPr>
          <p:cNvSpPr>
            <a:spLocks noGrp="1"/>
          </p:cNvSpPr>
          <p:nvPr>
            <p:ph type="sldNum" sz="quarter" idx="5"/>
          </p:nvPr>
        </p:nvSpPr>
        <p:spPr/>
        <p:txBody>
          <a:bodyPr/>
          <a:lstStyle/>
          <a:p>
            <a:fld id="{3DF80D4A-E415-4490-9628-13EBD2AF61CC}" type="slidenum">
              <a:t>5</a:t>
            </a:fld>
            <a:endParaRPr lang="en-US"/>
          </a:p>
        </p:txBody>
      </p:sp>
    </p:spTree>
    <p:extLst>
      <p:ext uri="{BB962C8B-B14F-4D97-AF65-F5344CB8AC3E}">
        <p14:creationId xmlns:p14="http://schemas.microsoft.com/office/powerpoint/2010/main" val="1985052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FA36F-450C-A12C-2570-9593B5A83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5658A-AA1F-FE26-BBEA-6D1F2C152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01652B-6A1F-E041-78D3-CD18F4C702E6}"/>
              </a:ext>
            </a:extLst>
          </p:cNvPr>
          <p:cNvSpPr>
            <a:spLocks noGrp="1"/>
          </p:cNvSpPr>
          <p:nvPr>
            <p:ph type="body" idx="1"/>
          </p:nvPr>
        </p:nvSpPr>
        <p:spPr/>
        <p:txBody>
          <a:bodyPr/>
          <a:lstStyle/>
          <a:p>
            <a:r>
              <a:rPr lang="en-GB"/>
              <a:t>FLIGHT: Stability, Flight envelope, communications, emissions and noise</a:t>
            </a:r>
            <a:endParaRPr lang="en-US"/>
          </a:p>
          <a:p>
            <a:r>
              <a:rPr lang="en-GB"/>
              <a:t>SAFETY:  Safe operation/safety and emergency/system safety, safety factors, performance margins</a:t>
            </a:r>
          </a:p>
          <a:p>
            <a:r>
              <a:rPr lang="en-GB"/>
              <a:t>FATIGUE: link to both safety and cost, could make subcategory I guess</a:t>
            </a:r>
          </a:p>
          <a:p>
            <a:r>
              <a:rPr lang="en-GB"/>
              <a:t>COST: DOC, maintenance etc (say more later in presentation)</a:t>
            </a:r>
          </a:p>
          <a:p>
            <a:endParaRPr lang="en-GB"/>
          </a:p>
          <a:p>
            <a:r>
              <a:rPr lang="en-GB"/>
              <a:t>This also covers brief requirements, we could spread out and make two slides with two topics</a:t>
            </a:r>
          </a:p>
          <a:p>
            <a:endParaRPr lang="en-GB">
              <a:ea typeface="Calibri"/>
              <a:cs typeface="Calibri"/>
            </a:endParaRPr>
          </a:p>
        </p:txBody>
      </p:sp>
      <p:sp>
        <p:nvSpPr>
          <p:cNvPr id="4" name="Slide Number Placeholder 3">
            <a:extLst>
              <a:ext uri="{FF2B5EF4-FFF2-40B4-BE49-F238E27FC236}">
                <a16:creationId xmlns:a16="http://schemas.microsoft.com/office/drawing/2014/main" id="{073751D5-7439-21E7-75A1-BC99DFE31B61}"/>
              </a:ext>
            </a:extLst>
          </p:cNvPr>
          <p:cNvSpPr>
            <a:spLocks noGrp="1"/>
          </p:cNvSpPr>
          <p:nvPr>
            <p:ph type="sldNum" sz="quarter" idx="5"/>
          </p:nvPr>
        </p:nvSpPr>
        <p:spPr/>
        <p:txBody>
          <a:bodyPr/>
          <a:lstStyle/>
          <a:p>
            <a:fld id="{3DF80D4A-E415-4490-9628-13EBD2AF61CC}" type="slidenum">
              <a:t>6</a:t>
            </a:fld>
            <a:endParaRPr lang="en-US"/>
          </a:p>
        </p:txBody>
      </p:sp>
    </p:spTree>
    <p:extLst>
      <p:ext uri="{BB962C8B-B14F-4D97-AF65-F5344CB8AC3E}">
        <p14:creationId xmlns:p14="http://schemas.microsoft.com/office/powerpoint/2010/main" val="797956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F80D4A-E415-4490-9628-13EBD2AF61CC}" type="slidenum">
              <a:rPr lang="en-GB" smtClean="0"/>
              <a:t>8</a:t>
            </a:fld>
            <a:endParaRPr lang="en-GB"/>
          </a:p>
        </p:txBody>
      </p:sp>
    </p:spTree>
    <p:extLst>
      <p:ext uri="{BB962C8B-B14F-4D97-AF65-F5344CB8AC3E}">
        <p14:creationId xmlns:p14="http://schemas.microsoft.com/office/powerpoint/2010/main" val="3481538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show we understand where risk comes from at this stage. We haven't chosen a concept yet, so the risks come from the brief, the regulations, the 2040 EIS date and our own limits (data, tools, time).</a:t>
            </a:r>
          </a:p>
          <a:p>
            <a:endParaRPr/>
          </a:p>
          <a:p>
            <a:r>
              <a:t>Process: identify risks from the brief, CS-25 and our WBS; rate each on likelihood x severity (1-5 each); give each a mitigation and an owner subteam; keep a risk register and reassess at SRR, PDR and CDR. Ratings are proposed and preliminary.</a:t>
            </a:r>
          </a:p>
          <a:p>
            <a:endParaRPr/>
          </a:p>
          <a:p>
            <a:r>
              <a:t>Matrix: R1-R8 plotted. Red = score 15+, amber 8-14, green below 8. Top risks: performance shortfall, immature 2040 tech / unjustified concept, CS-25 non-compliance.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top risks briefly, don't read the table. Key message: these come straight from the brief, so they show we've read and understood it.</a:t>
            </a:r>
          </a:p>
          <a:p>
            <a:endParaRPr/>
          </a:p>
          <a:p>
            <a:r>
              <a:t>Be upfront that we haven't chosen a concept, so concept-specific risks (e.g. gate span for a high-aspect-ratio wing, evacuation for a BWB) will be added once we select one. Noise &amp; emissions and airport compatibility are also in the full register.</a:t>
            </a:r>
          </a:p>
          <a:p>
            <a:endParaRPr/>
          </a:p>
          <a:p>
            <a:r>
              <a:t>Limitations: we can't plan for or resolve everything at this stage. What we've done: requirements from CS-25, project broken down into a WBS and subteams so it's manageable.</a:t>
            </a:r>
          </a:p>
          <a:p>
            <a:endParaRPr/>
          </a:p>
          <a:p>
            <a:r>
              <a:t>Biggest overall risk: not fulfilling the brief, which means cost. Bridge: we've acknowledged the risks - next is how we make it a reality on a practical level, which leads into costs.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Message: fuel dominates DOC, so the SAF requirement is first and foremost a cost problem.</a:t>
            </a:r>
          </a:p>
          <a:p>
            <a:r>
              <a:rPr lang="en-GB" dirty="0"/>
              <a:t>Typical split from Raymer, ICAO and AEA: fuel 25-40 %, maintenance 20-30 %. With SAF about 41 % dearer per unit energy, DOC rises by roughly 0.25-0.40 × 41 %, i.e. 10-17 %.</a:t>
            </a:r>
          </a:p>
          <a:p>
            <a:r>
              <a:rPr lang="en-GB" dirty="0"/>
              <a:t>Maintenance: scheduled checks over 25 years come to about £25-110 M per aircraft, mid-estimate £60 M, assuming 4,500 flight hours a year. That is about one-eighth of the £460 M fuel bill, so fuel is the lever.</a:t>
            </a:r>
          </a:p>
          <a:p>
            <a:r>
              <a:rPr lang="en-GB" dirty="0"/>
              <a:t>The pie shows 87 % of mission fuel is burned in cruise, so cruise efficiency matters most; this sets up the innovation options on slide 17.</a:t>
            </a:r>
          </a:p>
          <a:p>
            <a:r>
              <a:rPr lang="en-GB" dirty="0"/>
              <a:t>Life-cycle chart (Raymer): our cost model gives RDT&amp;E ≈ £13.2 bn and ≈ £125 M production cost per aircraft at the 700-aircraft break-even.</a:t>
            </a:r>
          </a:p>
        </p:txBody>
      </p:sp>
      <p:sp>
        <p:nvSpPr>
          <p:cNvPr id="4" name="Slide Number Placeholder 3"/>
          <p:cNvSpPr>
            <a:spLocks noGrp="1"/>
          </p:cNvSpPr>
          <p:nvPr>
            <p:ph type="sldNum" sz="quarter" idx="5"/>
          </p:nvPr>
        </p:nvSpPr>
        <p:spPr/>
        <p:txBody>
          <a:bodyPr/>
          <a:lstStyle/>
          <a:p>
            <a:fld id="{3DF80D4A-E415-4490-9628-13EBD2AF61CC}" type="slidenum">
              <a:rPr lang="en-GB" smtClean="0"/>
              <a:t>14</a:t>
            </a:fld>
            <a:endParaRPr lang="en-GB"/>
          </a:p>
        </p:txBody>
      </p:sp>
    </p:spTree>
    <p:extLst>
      <p:ext uri="{BB962C8B-B14F-4D97-AF65-F5344CB8AC3E}">
        <p14:creationId xmlns:p14="http://schemas.microsoft.com/office/powerpoint/2010/main" val="3173729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Message: the brief's 100 % SAF requirement drives both cost and design.</a:t>
            </a:r>
          </a:p>
          <a:p>
            <a:r>
              <a:rPr lang="en-GB" dirty="0"/>
              <a:t>Four production pathways. At 2040 only HEFA is under the brief price of $1,409/t, but it is limited by waste-oil feedstock, so the marginal SAF price will be set by AtJ or PtL at about 1.2-1.8 times the brief price. We will therefore carry SAF price as a sensitivity case.</a:t>
            </a:r>
          </a:p>
          <a:p>
            <a:r>
              <a:rPr lang="en-GB" dirty="0"/>
              <a:t>Today's drop-in limit is a 50 % blend. Neat synthetic fuel has no aromatics, which is why D7566 sets a minimum aromatic content in blends: aromatics swell nitrile seals. Our fuel system therefore needs seal materials that don't rely on aromatics, plus about 8 % more tank volume and recalibrated gauging because of the lower density.</a:t>
            </a:r>
          </a:p>
          <a:p>
            <a:r>
              <a:rPr lang="en-GB" dirty="0"/>
              <a:t>Evidence that R5 is manageable: Rolls-Royce ran its in-production engines on 100 % SAF with no performance loss.</a:t>
            </a:r>
          </a:p>
          <a:p>
            <a:r>
              <a:rPr lang="en-GB" dirty="0"/>
              <a:t>Cost parity needs about 29 % less fuel energy per seat: that number becomes the target on slide 17.</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Message: programme break-even is about 700 aircraft in Western Europe, and labour cost is the strongest lever.</a:t>
            </a:r>
          </a:p>
          <a:p>
            <a:r>
              <a:rPr lang="en-GB" dirty="0"/>
              <a:t>DAPCA IV gives the cost per aircraft as a function of production run. The dashed line is the unit price, taken as 50 % of the A330-900 list price to reflect typical airline discounts. Each 10 % cut in labour cost moves break-even down by about 100 aircraft. 700 aircraft is about 19 years at current A330 rates.</a:t>
            </a:r>
          </a:p>
          <a:p>
            <a:r>
              <a:rPr lang="en-GB" dirty="0"/>
              <a:t>Materials: composites cut weight but cost more per kg; thermoplastics are now demonstrated at fuselage scale. Each tonne saved cuts fuel by about 0.5-0.7 %, which helps close the SAF gap. Material choice will be a PDR trade study.</a:t>
            </a:r>
          </a:p>
          <a:p>
            <a:r>
              <a:rPr lang="en-GB" dirty="0"/>
              <a:t>Sites: the decision is deferred to PDR. Toulouse has the widebody experience; Poland and Tianjin are cheaper but carry capability and export-control risks.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Message: no single technology closes the 29 % SAF cost gap, but combined they get us to about 20-22 %.</a:t>
            </a:r>
          </a:p>
          <a:p>
            <a:r>
              <a:rPr lang="en-GB" dirty="0"/>
              <a:t>Each card gives the fuel saving, the evidence and the penalty, tagged with the flight phase it acts on. Engine and wing act in cruise, which burns 87 % of the fuel.</a:t>
            </a:r>
          </a:p>
          <a:p>
            <a:r>
              <a:rPr lang="en-GB" dirty="0"/>
              <a:t>Savings multiply rather than add: 0.90 × 0.97 × 0.918 leaves about 80 % of the fuel, a 20 % saving from design. Operations add 1-2 points, giving 21-22 %.</a:t>
            </a:r>
          </a:p>
          <a:p>
            <a:r>
              <a:rPr lang="en-GB" dirty="0"/>
              <a:t>Caveats: the hybrid data are for a 154-seat single-aisle, and folding tips are needed to keep the long wing inside Code E gates, which links back to our airport-compatibility requirement.</a:t>
            </a:r>
          </a:p>
          <a:p>
            <a:r>
              <a:rPr lang="en-GB" dirty="0"/>
              <a:t>The remaining 7-9 points go to PDR trade studies on cruise Mach and weight. None of these options are selected yet.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26407-37ED-4E0D-FDD9-A9AF18E08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D2398-55B4-154A-478D-38FC77E02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4267A1-5491-B03F-AE45-9FACEAC7F946}"/>
              </a:ext>
            </a:extLst>
          </p:cNvPr>
          <p:cNvSpPr>
            <a:spLocks noGrp="1"/>
          </p:cNvSpPr>
          <p:nvPr>
            <p:ph type="body" idx="1"/>
          </p:nvPr>
        </p:nvSpPr>
        <p:spPr/>
        <p:txBody>
          <a:bodyPr/>
          <a:lstStyle/>
          <a:p>
            <a:pPr marL="228600" indent="-228600">
              <a:lnSpc>
                <a:spcPct val="90000"/>
              </a:lnSpc>
              <a:spcBef>
                <a:spcPts val="1000"/>
              </a:spcBef>
              <a:buFont typeface="Arial,Sans-Serif"/>
              <a:buChar char="•"/>
            </a:pPr>
            <a:r>
              <a:rPr lang="en-US"/>
              <a:t>Could be cont. of last slide, move around text a bit</a:t>
            </a:r>
          </a:p>
          <a:p>
            <a:pPr marL="228600" indent="-228600">
              <a:lnSpc>
                <a:spcPct val="90000"/>
              </a:lnSpc>
              <a:spcBef>
                <a:spcPts val="1000"/>
              </a:spcBef>
              <a:buFont typeface="Arial,Sans-Serif"/>
              <a:buChar char="•"/>
            </a:pPr>
            <a:r>
              <a:rPr lang="en-US"/>
              <a:t>Then how have we found to make sure regs comply, intro to IDAT framework?</a:t>
            </a:r>
          </a:p>
          <a:p>
            <a:pPr marL="228600" indent="-228600">
              <a:lnSpc>
                <a:spcPct val="90000"/>
              </a:lnSpc>
              <a:spcBef>
                <a:spcPts val="1000"/>
              </a:spcBef>
              <a:buFont typeface="Arial,Sans-Serif"/>
              <a:buChar char="•"/>
            </a:pPr>
            <a:r>
              <a:rPr lang="en-US"/>
              <a:t>Summary of requirements we found: e.g. stability always needed, safe operation of aircraft etc.</a:t>
            </a:r>
          </a:p>
          <a:p>
            <a:pPr marL="228600" indent="-228600">
              <a:lnSpc>
                <a:spcPct val="90000"/>
              </a:lnSpc>
              <a:spcBef>
                <a:spcPts val="1000"/>
              </a:spcBef>
              <a:buFont typeface="Arial,Sans-Serif"/>
              <a:buChar char="•"/>
            </a:pPr>
            <a:r>
              <a:rPr lang="en-US"/>
              <a:t>Next brief requirements</a:t>
            </a:r>
          </a:p>
          <a:p>
            <a:pPr>
              <a:lnSpc>
                <a:spcPct val="90000"/>
              </a:lnSpc>
              <a:spcBef>
                <a:spcPts val="1000"/>
              </a:spcBef>
            </a:pPr>
            <a:endParaRPr lang="en-US">
              <a:ea typeface="Calibri"/>
              <a:cs typeface="Calibri"/>
            </a:endParaRPr>
          </a:p>
          <a:p>
            <a:endParaRPr lang="en-US">
              <a:ea typeface="Calibri"/>
              <a:cs typeface="Calibri"/>
            </a:endParaRPr>
          </a:p>
          <a:p>
            <a:endParaRPr lang="en-US">
              <a:ea typeface="Calibri"/>
              <a:cs typeface="Calibri"/>
            </a:endParaRPr>
          </a:p>
          <a:p>
            <a:pPr marL="171450" indent="-171450">
              <a:lnSpc>
                <a:spcPct val="90000"/>
              </a:lnSpc>
              <a:spcBef>
                <a:spcPts val="1000"/>
              </a:spcBef>
              <a:buFont typeface="Arial,Sans-Serif"/>
              <a:buChar char="•"/>
            </a:pPr>
            <a:r>
              <a:rPr lang="en-US"/>
              <a:t>Safe operation (Flight) </a:t>
            </a:r>
          </a:p>
          <a:p>
            <a:pPr marL="171450" indent="-171450">
              <a:lnSpc>
                <a:spcPct val="90000"/>
              </a:lnSpc>
              <a:spcBef>
                <a:spcPts val="1000"/>
              </a:spcBef>
              <a:buFont typeface="Arial,Sans-Serif"/>
              <a:buChar char="•"/>
            </a:pPr>
            <a:r>
              <a:rPr lang="en-US"/>
              <a:t>Mention safety factors from brief</a:t>
            </a:r>
          </a:p>
          <a:p>
            <a:pPr marL="171450" indent="-171450">
              <a:lnSpc>
                <a:spcPct val="90000"/>
              </a:lnSpc>
              <a:spcBef>
                <a:spcPts val="1000"/>
              </a:spcBef>
              <a:buFont typeface="Arial,Sans-Serif"/>
              <a:buChar char="•"/>
            </a:pPr>
            <a:r>
              <a:rPr lang="en-US"/>
              <a:t>Communications/alerts etc.</a:t>
            </a:r>
          </a:p>
          <a:p>
            <a:endParaRPr lang="en-US">
              <a:ea typeface="Calibri"/>
              <a:cs typeface="Calibri"/>
            </a:endParaRPr>
          </a:p>
        </p:txBody>
      </p:sp>
      <p:sp>
        <p:nvSpPr>
          <p:cNvPr id="4" name="Slide Number Placeholder 3">
            <a:extLst>
              <a:ext uri="{FF2B5EF4-FFF2-40B4-BE49-F238E27FC236}">
                <a16:creationId xmlns:a16="http://schemas.microsoft.com/office/drawing/2014/main" id="{AD832EDB-82BE-7073-1390-DCD8115F9D00}"/>
              </a:ext>
            </a:extLst>
          </p:cNvPr>
          <p:cNvSpPr>
            <a:spLocks noGrp="1"/>
          </p:cNvSpPr>
          <p:nvPr>
            <p:ph type="sldNum" sz="quarter" idx="5"/>
          </p:nvPr>
        </p:nvSpPr>
        <p:spPr/>
        <p:txBody>
          <a:bodyPr/>
          <a:lstStyle/>
          <a:p>
            <a:fld id="{3DF80D4A-E415-4490-9628-13EBD2AF61CC}" type="slidenum">
              <a:t>19</a:t>
            </a:fld>
            <a:endParaRPr lang="en-US"/>
          </a:p>
        </p:txBody>
      </p:sp>
    </p:spTree>
    <p:extLst>
      <p:ext uri="{BB962C8B-B14F-4D97-AF65-F5344CB8AC3E}">
        <p14:creationId xmlns:p14="http://schemas.microsoft.com/office/powerpoint/2010/main" val="1809339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99FC6-C1EE-54A0-2DDC-0FE187934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1B95F-F6B1-BE60-3672-2635EB28E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94E85A-A734-A9BC-EA07-6AA5136A1D41}"/>
              </a:ext>
            </a:extLst>
          </p:cNvPr>
          <p:cNvSpPr>
            <a:spLocks noGrp="1"/>
          </p:cNvSpPr>
          <p:nvPr>
            <p:ph type="body" idx="1"/>
          </p:nvPr>
        </p:nvSpPr>
        <p:spPr/>
        <p:txBody>
          <a:bodyPr/>
          <a:lstStyle/>
          <a:p>
            <a:pPr marL="228600" indent="-228600">
              <a:lnSpc>
                <a:spcPct val="90000"/>
              </a:lnSpc>
              <a:spcBef>
                <a:spcPts val="1000"/>
              </a:spcBef>
              <a:buFont typeface="Arial,Sans-Serif"/>
              <a:buChar char="•"/>
            </a:pPr>
            <a:r>
              <a:rPr lang="en-US"/>
              <a:t>Could be cont. of last slide, move around text a bit</a:t>
            </a:r>
          </a:p>
          <a:p>
            <a:pPr marL="228600" indent="-228600">
              <a:lnSpc>
                <a:spcPct val="90000"/>
              </a:lnSpc>
              <a:spcBef>
                <a:spcPts val="1000"/>
              </a:spcBef>
              <a:buFont typeface="Arial,Sans-Serif"/>
              <a:buChar char="•"/>
            </a:pPr>
            <a:r>
              <a:rPr lang="en-US"/>
              <a:t>Then how have we found to make sure regs comply, intro to IDAT framework?</a:t>
            </a:r>
          </a:p>
          <a:p>
            <a:pPr marL="228600" indent="-228600">
              <a:lnSpc>
                <a:spcPct val="90000"/>
              </a:lnSpc>
              <a:spcBef>
                <a:spcPts val="1000"/>
              </a:spcBef>
              <a:buFont typeface="Arial,Sans-Serif"/>
              <a:buChar char="•"/>
            </a:pPr>
            <a:r>
              <a:rPr lang="en-US"/>
              <a:t>Summary of requirements we found: e.g. stability always needed, safe operation of aircraft etc.</a:t>
            </a:r>
            <a:endParaRPr lang="en-US">
              <a:ea typeface="Calibri"/>
              <a:cs typeface="Calibri"/>
            </a:endParaRPr>
          </a:p>
          <a:p>
            <a:pPr marL="228600" indent="-228600">
              <a:lnSpc>
                <a:spcPct val="90000"/>
              </a:lnSpc>
              <a:spcBef>
                <a:spcPts val="1000"/>
              </a:spcBef>
              <a:buFont typeface="Arial,Sans-Serif"/>
              <a:buChar char="•"/>
            </a:pPr>
            <a:r>
              <a:rPr lang="en-US"/>
              <a:t>Next brief requirements</a:t>
            </a:r>
          </a:p>
          <a:p>
            <a:pPr marL="228600" indent="-228600">
              <a:lnSpc>
                <a:spcPct val="90000"/>
              </a:lnSpc>
              <a:spcBef>
                <a:spcPts val="1000"/>
              </a:spcBef>
              <a:buFont typeface="Arial,Sans-Serif"/>
              <a:buChar char="•"/>
            </a:pPr>
            <a:endParaRPr lang="en-US">
              <a:ea typeface="Calibri"/>
              <a:cs typeface="Calibri"/>
            </a:endParaRPr>
          </a:p>
          <a:p>
            <a:pPr marL="228600" indent="-228600">
              <a:lnSpc>
                <a:spcPct val="90000"/>
              </a:lnSpc>
              <a:spcBef>
                <a:spcPts val="1000"/>
              </a:spcBef>
              <a:buFont typeface="Arial,Sans-Serif"/>
              <a:buChar char="•"/>
            </a:pPr>
            <a:endParaRPr lang="en-US">
              <a:ea typeface="Calibri"/>
              <a:cs typeface="Calibri"/>
            </a:endParaRPr>
          </a:p>
          <a:p>
            <a:endParaRPr lang="en-US">
              <a:ea typeface="Calibri"/>
              <a:cs typeface="Calibri"/>
            </a:endParaRPr>
          </a:p>
          <a:p>
            <a:pPr marL="171450" indent="-171450">
              <a:lnSpc>
                <a:spcPct val="90000"/>
              </a:lnSpc>
              <a:spcBef>
                <a:spcPts val="1000"/>
              </a:spcBef>
              <a:buFont typeface="Arial,Sans-Serif"/>
              <a:buChar char="•"/>
            </a:pPr>
            <a:r>
              <a:rPr lang="en-US"/>
              <a:t>Safe operation (Flight) </a:t>
            </a:r>
          </a:p>
          <a:p>
            <a:pPr marL="171450" indent="-171450">
              <a:lnSpc>
                <a:spcPct val="90000"/>
              </a:lnSpc>
              <a:spcBef>
                <a:spcPts val="1000"/>
              </a:spcBef>
              <a:buFont typeface="Arial,Sans-Serif"/>
              <a:buChar char="•"/>
            </a:pPr>
            <a:r>
              <a:rPr lang="en-US"/>
              <a:t>Mention safety factors from brief</a:t>
            </a:r>
          </a:p>
          <a:p>
            <a:pPr marL="171450" indent="-171450">
              <a:lnSpc>
                <a:spcPct val="90000"/>
              </a:lnSpc>
              <a:spcBef>
                <a:spcPts val="1000"/>
              </a:spcBef>
              <a:buFont typeface="Arial,Sans-Serif"/>
              <a:buChar char="•"/>
            </a:pPr>
            <a:r>
              <a:rPr lang="en-US"/>
              <a:t>Communications/alerts etc.</a:t>
            </a:r>
          </a:p>
          <a:p>
            <a:pPr marL="171450" indent="-171450">
              <a:lnSpc>
                <a:spcPct val="90000"/>
              </a:lnSpc>
              <a:spcBef>
                <a:spcPts val="1000"/>
              </a:spcBef>
              <a:buFont typeface="Arial,Sans-Serif"/>
              <a:buChar char="•"/>
            </a:pPr>
            <a:endParaRPr lang="en-US">
              <a:ea typeface="Calibri"/>
              <a:cs typeface="Calibri"/>
            </a:endParaRPr>
          </a:p>
          <a:p>
            <a:pPr>
              <a:lnSpc>
                <a:spcPct val="90000"/>
              </a:lnSpc>
              <a:spcBef>
                <a:spcPts val="1000"/>
              </a:spcBef>
            </a:pP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5634FE77-065B-0CBE-C1C1-D4F79C658BAB}"/>
              </a:ext>
            </a:extLst>
          </p:cNvPr>
          <p:cNvSpPr>
            <a:spLocks noGrp="1"/>
          </p:cNvSpPr>
          <p:nvPr>
            <p:ph type="sldNum" sz="quarter" idx="5"/>
          </p:nvPr>
        </p:nvSpPr>
        <p:spPr/>
        <p:txBody>
          <a:bodyPr/>
          <a:lstStyle/>
          <a:p>
            <a:fld id="{3DF80D4A-E415-4490-9628-13EBD2AF61CC}" type="slidenum">
              <a:t>20</a:t>
            </a:fld>
            <a:endParaRPr lang="en-US"/>
          </a:p>
        </p:txBody>
      </p:sp>
    </p:spTree>
    <p:extLst>
      <p:ext uri="{BB962C8B-B14F-4D97-AF65-F5344CB8AC3E}">
        <p14:creationId xmlns:p14="http://schemas.microsoft.com/office/powerpoint/2010/main" val="2185292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nSpc>
                <a:spcPct val="90000"/>
              </a:lnSpc>
              <a:spcBef>
                <a:spcPts val="1000"/>
              </a:spcBef>
              <a:buFont typeface="Arial,Sans-Serif"/>
              <a:buChar char="•"/>
            </a:pPr>
            <a:r>
              <a:rPr lang="en-US"/>
              <a:t>What it says on tin, be careful with phrasing</a:t>
            </a:r>
          </a:p>
          <a:p>
            <a:pPr marL="228600" indent="-228600">
              <a:lnSpc>
                <a:spcPct val="90000"/>
              </a:lnSpc>
              <a:spcBef>
                <a:spcPts val="1000"/>
              </a:spcBef>
              <a:buFont typeface="Arial,Sans-Serif"/>
              <a:buChar char="•"/>
            </a:pPr>
            <a:r>
              <a:rPr lang="en-US"/>
              <a:t>Don’t need to include stuff that is to be calculated or stuff mentioned in intro e.g. passenger payload</a:t>
            </a:r>
            <a:endParaRPr lang="en-US">
              <a:ea typeface="Calibri"/>
              <a:cs typeface="Calibri"/>
            </a:endParaRPr>
          </a:p>
          <a:p>
            <a:pPr marL="228600" indent="-228600">
              <a:lnSpc>
                <a:spcPct val="90000"/>
              </a:lnSpc>
              <a:spcBef>
                <a:spcPts val="1000"/>
              </a:spcBef>
              <a:buFont typeface="Arial,Sans-Serif"/>
              <a:buChar char="•"/>
            </a:pPr>
            <a:r>
              <a:rPr lang="en-US"/>
              <a:t>Ideally show graphically </a:t>
            </a:r>
          </a:p>
          <a:p>
            <a:pPr marL="228600" indent="-228600">
              <a:lnSpc>
                <a:spcPct val="90000"/>
              </a:lnSpc>
              <a:spcBef>
                <a:spcPts val="1000"/>
              </a:spcBef>
              <a:buFont typeface="Arial,Sans-Serif"/>
              <a:buChar char="•"/>
            </a:pPr>
            <a:r>
              <a:rPr lang="en-US"/>
              <a:t>Also remember that big part of project is to work with existing infrastructure (3.2)</a:t>
            </a:r>
          </a:p>
          <a:p>
            <a:pPr marL="228600" indent="-228600">
              <a:lnSpc>
                <a:spcPct val="90000"/>
              </a:lnSpc>
              <a:spcBef>
                <a:spcPts val="1000"/>
              </a:spcBef>
              <a:buFont typeface="Arial,Sans-Serif"/>
              <a:buChar char="•"/>
            </a:pPr>
            <a:r>
              <a:rPr lang="en-US"/>
              <a:t>Incorporate safety factors to show we’re thinking about operational aspect</a:t>
            </a:r>
          </a:p>
          <a:p>
            <a:pPr marL="285750" indent="-285750">
              <a:lnSpc>
                <a:spcPct val="90000"/>
              </a:lnSpc>
              <a:spcBef>
                <a:spcPts val="1000"/>
              </a:spcBef>
              <a:buFont typeface="Arial,Sans-Serif"/>
              <a:buChar char="•"/>
            </a:pPr>
            <a:r>
              <a:rPr lang="en-US"/>
              <a:t>Now we can layout how we are planning to fulfill requirements </a:t>
            </a:r>
            <a:r>
              <a:rPr lang="en-US" err="1"/>
              <a:t>i.e.project</a:t>
            </a:r>
            <a:r>
              <a:rPr lang="en-US"/>
              <a:t> management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3DF80D4A-E415-4490-9628-13EBD2AF61CC}" type="slidenum">
              <a:t>21</a:t>
            </a:fld>
            <a:endParaRPr lang="en-US"/>
          </a:p>
        </p:txBody>
      </p:sp>
    </p:spTree>
    <p:extLst>
      <p:ext uri="{BB962C8B-B14F-4D97-AF65-F5344CB8AC3E}">
        <p14:creationId xmlns:p14="http://schemas.microsoft.com/office/powerpoint/2010/main" val="1942468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19/10/2026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19/10/2026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19/10/2026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19/10/2026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19/10/2026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19/10/2026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19/10/2026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19/10/2026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19/10/2026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19/10/2026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19/10/2026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19/10/2026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jpe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386865" y="818984"/>
            <a:ext cx="6596245" cy="3268520"/>
          </a:xfrm>
        </p:spPr>
        <p:txBody>
          <a:bodyPr>
            <a:normAutofit/>
          </a:bodyPr>
          <a:lstStyle/>
          <a:p>
            <a:pPr algn="r"/>
            <a:r>
              <a:rPr lang="en-GB" sz="4800">
                <a:solidFill>
                  <a:srgbClr val="FFFFFF"/>
                </a:solidFill>
              </a:rPr>
              <a:t>System Requirements Review</a:t>
            </a:r>
          </a:p>
        </p:txBody>
      </p:sp>
      <p:sp>
        <p:nvSpPr>
          <p:cNvPr id="19" name="Rectangle 1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31874" y="4797188"/>
            <a:ext cx="6051236" cy="1241828"/>
          </a:xfrm>
        </p:spPr>
        <p:txBody>
          <a:bodyPr vert="horz" lIns="91440" tIns="45720" rIns="91440" bIns="45720" rtlCol="0" anchor="t">
            <a:normAutofit/>
          </a:bodyPr>
          <a:lstStyle/>
          <a:p>
            <a:pPr algn="r"/>
            <a:r>
              <a:rPr lang="en-GB">
                <a:solidFill>
                  <a:srgbClr val="FFFFFF"/>
                </a:solidFill>
              </a:rPr>
              <a:t>Team 10</a:t>
            </a:r>
          </a:p>
        </p:txBody>
      </p:sp>
      <p:sp>
        <p:nvSpPr>
          <p:cNvPr id="21" name="Rectangle 20">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82F205D-2D64-DF19-BD3E-300478977E07}"/>
              </a:ext>
            </a:extLst>
          </p:cNvPr>
          <p:cNvSpPr>
            <a:spLocks noGrp="1"/>
          </p:cNvSpPr>
          <p:nvPr>
            <p:ph type="sldNum" sz="quarter" idx="12"/>
          </p:nvPr>
        </p:nvSpPr>
        <p:spPr/>
        <p:txBody>
          <a:bodyPr/>
          <a:lstStyle/>
          <a:p>
            <a:fld id="{330EA680-D336-4FF7-8B7A-9848BB0A1C32}" type="slidenum">
              <a:rPr lang="en-GB" smtClean="0"/>
              <a:t>1</a:t>
            </a:fld>
            <a:endParaRPr lang="en-GB"/>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371F3-1241-94FB-8D8A-08655B96DFAB}"/>
              </a:ext>
            </a:extLst>
          </p:cNvPr>
          <p:cNvSpPr>
            <a:spLocks noGrp="1"/>
          </p:cNvSpPr>
          <p:nvPr>
            <p:ph type="title"/>
          </p:nvPr>
        </p:nvSpPr>
        <p:spPr/>
        <p:txBody>
          <a:bodyPr/>
          <a:lstStyle/>
          <a:p>
            <a:r>
              <a:rPr lang="en-US"/>
              <a:t>Contents</a:t>
            </a:r>
          </a:p>
        </p:txBody>
      </p:sp>
      <p:sp>
        <p:nvSpPr>
          <p:cNvPr id="3" name="Content Placeholder 2">
            <a:extLst>
              <a:ext uri="{FF2B5EF4-FFF2-40B4-BE49-F238E27FC236}">
                <a16:creationId xmlns:a16="http://schemas.microsoft.com/office/drawing/2014/main" id="{205675CF-750E-2AE0-F16F-D664C79EBC32}"/>
              </a:ext>
            </a:extLst>
          </p:cNvPr>
          <p:cNvSpPr>
            <a:spLocks noGrp="1"/>
          </p:cNvSpPr>
          <p:nvPr>
            <p:ph idx="1"/>
          </p:nvPr>
        </p:nvSpPr>
        <p:spPr>
          <a:xfrm>
            <a:off x="838200" y="1696758"/>
            <a:ext cx="9596717" cy="4810778"/>
          </a:xfrm>
        </p:spPr>
        <p:txBody>
          <a:bodyPr vert="horz" lIns="91440" tIns="45720" rIns="91440" bIns="45720" rtlCol="0" anchor="t">
            <a:normAutofit/>
          </a:bodyPr>
          <a:lstStyle/>
          <a:p>
            <a:r>
              <a:rPr lang="en-US"/>
              <a:t>Introduction</a:t>
            </a:r>
          </a:p>
          <a:p>
            <a:r>
              <a:rPr lang="en-US"/>
              <a:t>Requirements</a:t>
            </a:r>
          </a:p>
          <a:p>
            <a:r>
              <a:rPr lang="en-US"/>
              <a:t>Project Management</a:t>
            </a:r>
          </a:p>
          <a:p>
            <a:r>
              <a:rPr lang="en-US" err="1"/>
              <a:t>Programme</a:t>
            </a:r>
            <a:r>
              <a:rPr lang="en-US"/>
              <a:t> Risks</a:t>
            </a:r>
          </a:p>
          <a:p>
            <a:r>
              <a:rPr lang="en-US"/>
              <a:t>Costs</a:t>
            </a:r>
          </a:p>
        </p:txBody>
      </p:sp>
      <p:sp>
        <p:nvSpPr>
          <p:cNvPr id="4" name="Slide Number Placeholder 3">
            <a:extLst>
              <a:ext uri="{FF2B5EF4-FFF2-40B4-BE49-F238E27FC236}">
                <a16:creationId xmlns:a16="http://schemas.microsoft.com/office/drawing/2014/main" id="{0A442A94-E2B4-1E65-FB93-85D511908666}"/>
              </a:ext>
            </a:extLst>
          </p:cNvPr>
          <p:cNvSpPr>
            <a:spLocks noGrp="1"/>
          </p:cNvSpPr>
          <p:nvPr>
            <p:ph type="sldNum" sz="quarter" idx="12"/>
          </p:nvPr>
        </p:nvSpPr>
        <p:spPr/>
        <p:txBody>
          <a:bodyPr/>
          <a:lstStyle/>
          <a:p>
            <a:fld id="{330EA680-D336-4FF7-8B7A-9848BB0A1C32}" type="slidenum">
              <a:rPr lang="en-GB" smtClean="0"/>
              <a:t>2</a:t>
            </a:fld>
            <a:endParaRPr lang="en-GB"/>
          </a:p>
        </p:txBody>
      </p:sp>
    </p:spTree>
    <p:extLst>
      <p:ext uri="{BB962C8B-B14F-4D97-AF65-F5344CB8AC3E}">
        <p14:creationId xmlns:p14="http://schemas.microsoft.com/office/powerpoint/2010/main" val="2440894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5FD31-DD0B-9962-FFE3-E4608F1A34E2}"/>
              </a:ext>
            </a:extLst>
          </p:cNvPr>
          <p:cNvSpPr>
            <a:spLocks noGrp="1"/>
          </p:cNvSpPr>
          <p:nvPr>
            <p:ph type="title"/>
          </p:nvPr>
        </p:nvSpPr>
        <p:spPr/>
        <p:txBody>
          <a:bodyPr/>
          <a:lstStyle/>
          <a:p>
            <a:r>
              <a:rPr lang="en-GB"/>
              <a:t>Introduction</a:t>
            </a:r>
          </a:p>
        </p:txBody>
      </p:sp>
      <p:sp>
        <p:nvSpPr>
          <p:cNvPr id="3" name="Content Placeholder 2">
            <a:extLst>
              <a:ext uri="{FF2B5EF4-FFF2-40B4-BE49-F238E27FC236}">
                <a16:creationId xmlns:a16="http://schemas.microsoft.com/office/drawing/2014/main" id="{7A7520DF-4717-5F42-79F9-DE4D2FE8CDA4}"/>
              </a:ext>
            </a:extLst>
          </p:cNvPr>
          <p:cNvSpPr>
            <a:spLocks noGrp="1"/>
          </p:cNvSpPr>
          <p:nvPr>
            <p:ph idx="1"/>
          </p:nvPr>
        </p:nvSpPr>
        <p:spPr/>
        <p:txBody>
          <a:bodyPr vert="horz" lIns="91440" tIns="45720" rIns="91440" bIns="45720" rtlCol="0">
            <a:normAutofit/>
          </a:bodyPr>
          <a:lstStyle/>
          <a:p>
            <a:pPr marL="0" lvl="0" indent="0" fontAlgn="base">
              <a:buNone/>
            </a:pPr>
            <a:r>
              <a:rPr lang="en-GB"/>
              <a:t>Design of a competitive aircraft:</a:t>
            </a:r>
            <a:r>
              <a:rPr lang="en-US"/>
              <a:t>​</a:t>
            </a:r>
          </a:p>
          <a:p>
            <a:pPr fontAlgn="base"/>
            <a:r>
              <a:rPr lang="en-GB"/>
              <a:t>Fuelled by 100% SAF</a:t>
            </a:r>
            <a:r>
              <a:rPr lang="en-US"/>
              <a:t>​</a:t>
            </a:r>
          </a:p>
          <a:p>
            <a:pPr fontAlgn="base"/>
            <a:r>
              <a:rPr lang="en-GB"/>
              <a:t>Mid-size (300 passenger payload) </a:t>
            </a:r>
          </a:p>
          <a:p>
            <a:pPr fontAlgn="base"/>
            <a:r>
              <a:rPr lang="en-GB"/>
              <a:t>Medium range:</a:t>
            </a:r>
          </a:p>
          <a:p>
            <a:pPr lvl="1" fontAlgn="base"/>
            <a:r>
              <a:rPr lang="en-GB"/>
              <a:t>Design 5000 NM </a:t>
            </a:r>
          </a:p>
          <a:p>
            <a:pPr lvl="1" fontAlgn="base"/>
            <a:r>
              <a:rPr lang="en-GB"/>
              <a:t>Economic 3000 NM</a:t>
            </a:r>
          </a:p>
          <a:p>
            <a:r>
              <a:rPr lang="en-GB"/>
              <a:t>2040 entry into service</a:t>
            </a:r>
          </a:p>
          <a:p>
            <a:endParaRPr lang="en-GB"/>
          </a:p>
          <a:p>
            <a:endParaRPr lang="en-GB"/>
          </a:p>
        </p:txBody>
      </p:sp>
      <p:pic>
        <p:nvPicPr>
          <p:cNvPr id="5" name="Graphic 4">
            <a:extLst>
              <a:ext uri="{FF2B5EF4-FFF2-40B4-BE49-F238E27FC236}">
                <a16:creationId xmlns:a16="http://schemas.microsoft.com/office/drawing/2014/main" id="{5142E6D4-D155-A407-68D6-AD4BF7A48E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69943" y="2415420"/>
            <a:ext cx="1845733" cy="1845733"/>
          </a:xfrm>
          <a:prstGeom prst="rect">
            <a:avLst/>
          </a:prstGeom>
        </p:spPr>
      </p:pic>
      <p:sp>
        <p:nvSpPr>
          <p:cNvPr id="4" name="Slide Number Placeholder 3">
            <a:extLst>
              <a:ext uri="{FF2B5EF4-FFF2-40B4-BE49-F238E27FC236}">
                <a16:creationId xmlns:a16="http://schemas.microsoft.com/office/drawing/2014/main" id="{9DA9EC8B-2539-86B2-96D0-BD2AAC57D411}"/>
              </a:ext>
            </a:extLst>
          </p:cNvPr>
          <p:cNvSpPr>
            <a:spLocks noGrp="1"/>
          </p:cNvSpPr>
          <p:nvPr>
            <p:ph type="sldNum" sz="quarter" idx="12"/>
          </p:nvPr>
        </p:nvSpPr>
        <p:spPr/>
        <p:txBody>
          <a:bodyPr/>
          <a:lstStyle/>
          <a:p>
            <a:fld id="{330EA680-D336-4FF7-8B7A-9848BB0A1C32}" type="slidenum">
              <a:rPr lang="en-GB" smtClean="0"/>
              <a:t>3</a:t>
            </a:fld>
            <a:endParaRPr lang="en-GB"/>
          </a:p>
        </p:txBody>
      </p:sp>
    </p:spTree>
    <p:extLst>
      <p:ext uri="{BB962C8B-B14F-4D97-AF65-F5344CB8AC3E}">
        <p14:creationId xmlns:p14="http://schemas.microsoft.com/office/powerpoint/2010/main" val="3347934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42D6F-F35D-C85A-44C6-D64C15FD6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E923C3-ED63-B5C4-6BEC-0EF138189330}"/>
              </a:ext>
            </a:extLst>
          </p:cNvPr>
          <p:cNvSpPr>
            <a:spLocks noGrp="1"/>
          </p:cNvSpPr>
          <p:nvPr>
            <p:ph type="title"/>
          </p:nvPr>
        </p:nvSpPr>
        <p:spPr>
          <a:xfrm>
            <a:off x="269240" y="50165"/>
            <a:ext cx="10515600" cy="1325563"/>
          </a:xfrm>
        </p:spPr>
        <p:txBody>
          <a:bodyPr/>
          <a:lstStyle/>
          <a:p>
            <a:r>
              <a:rPr lang="en-US"/>
              <a:t>Requirements: The Need</a:t>
            </a:r>
          </a:p>
        </p:txBody>
      </p:sp>
      <p:sp>
        <p:nvSpPr>
          <p:cNvPr id="3" name="Content Placeholder 2">
            <a:extLst>
              <a:ext uri="{FF2B5EF4-FFF2-40B4-BE49-F238E27FC236}">
                <a16:creationId xmlns:a16="http://schemas.microsoft.com/office/drawing/2014/main" id="{17B3C0F5-D7DE-46C7-D41B-8FC576DC2A4C}"/>
              </a:ext>
            </a:extLst>
          </p:cNvPr>
          <p:cNvSpPr>
            <a:spLocks noGrp="1"/>
          </p:cNvSpPr>
          <p:nvPr>
            <p:ph idx="1"/>
          </p:nvPr>
        </p:nvSpPr>
        <p:spPr>
          <a:xfrm>
            <a:off x="6648390" y="2603749"/>
            <a:ext cx="4748239" cy="641179"/>
          </a:xfrm>
        </p:spPr>
        <p:txBody>
          <a:bodyPr vert="horz" lIns="91440" tIns="45720" rIns="91440" bIns="45720" rtlCol="0" anchor="t">
            <a:normAutofit fontScale="85000" lnSpcReduction="10000"/>
          </a:bodyPr>
          <a:lstStyle/>
          <a:p>
            <a:pPr marL="0" indent="0">
              <a:buNone/>
            </a:pPr>
            <a:r>
              <a:rPr lang="en-US" sz="1800"/>
              <a:t>Example of requirement tables (see supplementary material) </a:t>
            </a:r>
            <a:r>
              <a:rPr lang="en-US" sz="1800" b="1"/>
              <a:t>REPLACE IMG once AF done</a:t>
            </a:r>
          </a:p>
        </p:txBody>
      </p:sp>
      <p:sp>
        <p:nvSpPr>
          <p:cNvPr id="716" name="Rectangle: Rounded Corners 715">
            <a:extLst>
              <a:ext uri="{FF2B5EF4-FFF2-40B4-BE49-F238E27FC236}">
                <a16:creationId xmlns:a16="http://schemas.microsoft.com/office/drawing/2014/main" id="{F03F0279-1723-85FB-7130-E8FFBDEE666A}"/>
              </a:ext>
            </a:extLst>
          </p:cNvPr>
          <p:cNvSpPr/>
          <p:nvPr/>
        </p:nvSpPr>
        <p:spPr>
          <a:xfrm>
            <a:off x="1429313" y="1703262"/>
            <a:ext cx="2443238" cy="1149047"/>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GB" sz="2400" b="1"/>
              <a:t>Aim?</a:t>
            </a:r>
            <a:endParaRPr lang="en-US" sz="2400"/>
          </a:p>
          <a:p>
            <a:pPr algn="ctr"/>
            <a:r>
              <a:rPr lang="en-GB"/>
              <a:t>To design an aircraft that flies</a:t>
            </a:r>
          </a:p>
        </p:txBody>
      </p:sp>
      <p:sp>
        <p:nvSpPr>
          <p:cNvPr id="718" name="Rectangle: Rounded Corners 717">
            <a:extLst>
              <a:ext uri="{FF2B5EF4-FFF2-40B4-BE49-F238E27FC236}">
                <a16:creationId xmlns:a16="http://schemas.microsoft.com/office/drawing/2014/main" id="{DAF68826-DE4D-8104-6272-C773C5C90C16}"/>
              </a:ext>
            </a:extLst>
          </p:cNvPr>
          <p:cNvSpPr/>
          <p:nvPr/>
        </p:nvSpPr>
        <p:spPr>
          <a:xfrm>
            <a:off x="655218" y="3274197"/>
            <a:ext cx="1524001" cy="931333"/>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en-GB" sz="2400" b="1"/>
              <a:t>Design</a:t>
            </a:r>
          </a:p>
          <a:p>
            <a:pPr algn="ctr"/>
            <a:r>
              <a:rPr lang="en-GB"/>
              <a:t>PDR/CDR</a:t>
            </a:r>
          </a:p>
        </p:txBody>
      </p:sp>
      <p:sp>
        <p:nvSpPr>
          <p:cNvPr id="720" name="Rectangle: Rounded Corners 719">
            <a:extLst>
              <a:ext uri="{FF2B5EF4-FFF2-40B4-BE49-F238E27FC236}">
                <a16:creationId xmlns:a16="http://schemas.microsoft.com/office/drawing/2014/main" id="{18A04D0E-72C6-31B0-69E2-D1E54859EE1A}"/>
              </a:ext>
            </a:extLst>
          </p:cNvPr>
          <p:cNvSpPr/>
          <p:nvPr/>
        </p:nvSpPr>
        <p:spPr>
          <a:xfrm>
            <a:off x="1951753" y="4842786"/>
            <a:ext cx="1257905" cy="9494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en-GB" sz="2000" b="1"/>
              <a:t>EASA</a:t>
            </a:r>
          </a:p>
          <a:p>
            <a:pPr algn="ctr"/>
            <a:r>
              <a:rPr lang="en-GB"/>
              <a:t>CS-25</a:t>
            </a:r>
          </a:p>
        </p:txBody>
      </p:sp>
      <p:sp>
        <p:nvSpPr>
          <p:cNvPr id="721" name="Rectangle: Rounded Corners 720">
            <a:extLst>
              <a:ext uri="{FF2B5EF4-FFF2-40B4-BE49-F238E27FC236}">
                <a16:creationId xmlns:a16="http://schemas.microsoft.com/office/drawing/2014/main" id="{7F81F53C-C036-0E2B-B4C9-733A5141DF35}"/>
              </a:ext>
            </a:extLst>
          </p:cNvPr>
          <p:cNvSpPr/>
          <p:nvPr/>
        </p:nvSpPr>
        <p:spPr>
          <a:xfrm>
            <a:off x="3548324" y="4842784"/>
            <a:ext cx="1257905" cy="9494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en-GB" sz="2000" b="1"/>
              <a:t>ICAO</a:t>
            </a:r>
            <a:endParaRPr lang="en-US"/>
          </a:p>
          <a:p>
            <a:pPr algn="ctr"/>
            <a:r>
              <a:rPr lang="en-GB"/>
              <a:t>Annexes</a:t>
            </a:r>
          </a:p>
        </p:txBody>
      </p:sp>
      <p:sp>
        <p:nvSpPr>
          <p:cNvPr id="722" name="Rectangle: Rounded Corners 721">
            <a:extLst>
              <a:ext uri="{FF2B5EF4-FFF2-40B4-BE49-F238E27FC236}">
                <a16:creationId xmlns:a16="http://schemas.microsoft.com/office/drawing/2014/main" id="{A5AF5A41-C29C-E965-5C43-0B27F7951430}"/>
              </a:ext>
            </a:extLst>
          </p:cNvPr>
          <p:cNvSpPr/>
          <p:nvPr/>
        </p:nvSpPr>
        <p:spPr>
          <a:xfrm>
            <a:off x="5146249" y="4842784"/>
            <a:ext cx="1257905" cy="9494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en-GB" sz="2000" b="1"/>
              <a:t>FAA</a:t>
            </a:r>
          </a:p>
          <a:p>
            <a:pPr algn="ctr"/>
            <a:r>
              <a:rPr lang="en-GB"/>
              <a:t>[fill]</a:t>
            </a:r>
          </a:p>
        </p:txBody>
      </p:sp>
      <p:cxnSp>
        <p:nvCxnSpPr>
          <p:cNvPr id="724" name="Straight Arrow Connector 723">
            <a:extLst>
              <a:ext uri="{FF2B5EF4-FFF2-40B4-BE49-F238E27FC236}">
                <a16:creationId xmlns:a16="http://schemas.microsoft.com/office/drawing/2014/main" id="{0A9B4F8D-C0D4-672C-9AA3-22FBAE52BE1E}"/>
              </a:ext>
            </a:extLst>
          </p:cNvPr>
          <p:cNvCxnSpPr/>
          <p:nvPr/>
        </p:nvCxnSpPr>
        <p:spPr>
          <a:xfrm flipH="1">
            <a:off x="1443250" y="2866029"/>
            <a:ext cx="825690" cy="408295"/>
          </a:xfrm>
          <a:prstGeom prst="straightConnector1">
            <a:avLst/>
          </a:prstGeom>
          <a:ln w="28575"/>
        </p:spPr>
        <p:style>
          <a:lnRef idx="2">
            <a:schemeClr val="accent1"/>
          </a:lnRef>
          <a:fillRef idx="0">
            <a:schemeClr val="accent1"/>
          </a:fillRef>
          <a:effectRef idx="1">
            <a:schemeClr val="accent1"/>
          </a:effectRef>
          <a:fontRef idx="minor">
            <a:schemeClr val="tx1"/>
          </a:fontRef>
        </p:style>
      </p:cxnSp>
      <p:cxnSp>
        <p:nvCxnSpPr>
          <p:cNvPr id="725" name="Straight Arrow Connector 724">
            <a:extLst>
              <a:ext uri="{FF2B5EF4-FFF2-40B4-BE49-F238E27FC236}">
                <a16:creationId xmlns:a16="http://schemas.microsoft.com/office/drawing/2014/main" id="{4A26C67F-D3B7-B5F1-5E47-7635467F304C}"/>
              </a:ext>
            </a:extLst>
          </p:cNvPr>
          <p:cNvCxnSpPr>
            <a:cxnSpLocks/>
          </p:cNvCxnSpPr>
          <p:nvPr/>
        </p:nvCxnSpPr>
        <p:spPr>
          <a:xfrm>
            <a:off x="3059373" y="2871715"/>
            <a:ext cx="1056732" cy="396839"/>
          </a:xfrm>
          <a:prstGeom prst="straightConnector1">
            <a:avLst/>
          </a:prstGeom>
          <a:ln w="28575"/>
        </p:spPr>
        <p:style>
          <a:lnRef idx="2">
            <a:schemeClr val="accent1"/>
          </a:lnRef>
          <a:fillRef idx="0">
            <a:schemeClr val="accent1"/>
          </a:fillRef>
          <a:effectRef idx="1">
            <a:schemeClr val="accent1"/>
          </a:effectRef>
          <a:fontRef idx="minor">
            <a:schemeClr val="tx1"/>
          </a:fontRef>
        </p:style>
      </p:cxnSp>
      <p:cxnSp>
        <p:nvCxnSpPr>
          <p:cNvPr id="726" name="Straight Arrow Connector 725">
            <a:extLst>
              <a:ext uri="{FF2B5EF4-FFF2-40B4-BE49-F238E27FC236}">
                <a16:creationId xmlns:a16="http://schemas.microsoft.com/office/drawing/2014/main" id="{6DF77884-6A40-3A4B-9EEC-235D9ED44913}"/>
              </a:ext>
            </a:extLst>
          </p:cNvPr>
          <p:cNvCxnSpPr>
            <a:cxnSpLocks/>
          </p:cNvCxnSpPr>
          <p:nvPr/>
        </p:nvCxnSpPr>
        <p:spPr>
          <a:xfrm flipH="1" flipV="1">
            <a:off x="4115937" y="4195548"/>
            <a:ext cx="18197" cy="643718"/>
          </a:xfrm>
          <a:prstGeom prst="straightConnector1">
            <a:avLst/>
          </a:prstGeom>
          <a:ln w="28575"/>
        </p:spPr>
        <p:style>
          <a:lnRef idx="2">
            <a:schemeClr val="accent1"/>
          </a:lnRef>
          <a:fillRef idx="0">
            <a:schemeClr val="accent1"/>
          </a:fillRef>
          <a:effectRef idx="1">
            <a:schemeClr val="accent1"/>
          </a:effectRef>
          <a:fontRef idx="minor">
            <a:schemeClr val="tx1"/>
          </a:fontRef>
        </p:style>
      </p:cxnSp>
      <p:cxnSp>
        <p:nvCxnSpPr>
          <p:cNvPr id="727" name="Straight Arrow Connector 726">
            <a:extLst>
              <a:ext uri="{FF2B5EF4-FFF2-40B4-BE49-F238E27FC236}">
                <a16:creationId xmlns:a16="http://schemas.microsoft.com/office/drawing/2014/main" id="{328C3A8B-2B10-EEA5-BA9A-ED88EE0C85A7}"/>
              </a:ext>
            </a:extLst>
          </p:cNvPr>
          <p:cNvCxnSpPr>
            <a:cxnSpLocks/>
          </p:cNvCxnSpPr>
          <p:nvPr/>
        </p:nvCxnSpPr>
        <p:spPr>
          <a:xfrm flipV="1">
            <a:off x="2570329" y="4201235"/>
            <a:ext cx="954205" cy="666463"/>
          </a:xfrm>
          <a:prstGeom prst="straightConnector1">
            <a:avLst/>
          </a:prstGeom>
          <a:ln w="28575"/>
        </p:spPr>
        <p:style>
          <a:lnRef idx="2">
            <a:schemeClr val="accent1"/>
          </a:lnRef>
          <a:fillRef idx="0">
            <a:schemeClr val="accent1"/>
          </a:fillRef>
          <a:effectRef idx="1">
            <a:schemeClr val="accent1"/>
          </a:effectRef>
          <a:fontRef idx="minor">
            <a:schemeClr val="tx1"/>
          </a:fontRef>
        </p:style>
      </p:cxnSp>
      <p:cxnSp>
        <p:nvCxnSpPr>
          <p:cNvPr id="728" name="Straight Arrow Connector 727">
            <a:extLst>
              <a:ext uri="{FF2B5EF4-FFF2-40B4-BE49-F238E27FC236}">
                <a16:creationId xmlns:a16="http://schemas.microsoft.com/office/drawing/2014/main" id="{16866897-209F-01A8-0CA3-A9FBBABB439B}"/>
              </a:ext>
            </a:extLst>
          </p:cNvPr>
          <p:cNvCxnSpPr>
            <a:cxnSpLocks/>
          </p:cNvCxnSpPr>
          <p:nvPr/>
        </p:nvCxnSpPr>
        <p:spPr>
          <a:xfrm flipH="1" flipV="1">
            <a:off x="4724400" y="4206921"/>
            <a:ext cx="1064526" cy="643717"/>
          </a:xfrm>
          <a:prstGeom prst="straightConnector1">
            <a:avLst/>
          </a:prstGeom>
          <a:ln w="28575"/>
        </p:spPr>
        <p:style>
          <a:lnRef idx="2">
            <a:schemeClr val="accent1"/>
          </a:lnRef>
          <a:fillRef idx="0">
            <a:schemeClr val="accent1"/>
          </a:fillRef>
          <a:effectRef idx="1">
            <a:schemeClr val="accent1"/>
          </a:effectRef>
          <a:fontRef idx="minor">
            <a:schemeClr val="tx1"/>
          </a:fontRef>
        </p:style>
      </p:cxnSp>
      <p:pic>
        <p:nvPicPr>
          <p:cNvPr id="730" name="Picture 729">
            <a:extLst>
              <a:ext uri="{FF2B5EF4-FFF2-40B4-BE49-F238E27FC236}">
                <a16:creationId xmlns:a16="http://schemas.microsoft.com/office/drawing/2014/main" id="{B9B9648F-D7A4-A113-78A3-C0061D6B8986}"/>
              </a:ext>
            </a:extLst>
          </p:cNvPr>
          <p:cNvPicPr>
            <a:picLocks noChangeAspect="1"/>
          </p:cNvPicPr>
          <p:nvPr/>
        </p:nvPicPr>
        <p:blipFill>
          <a:blip r:embed="rId3"/>
          <a:srcRect t="9234" r="2" b="-751"/>
          <a:stretch>
            <a:fillRect/>
          </a:stretch>
        </p:blipFill>
        <p:spPr>
          <a:xfrm>
            <a:off x="6810394" y="1276722"/>
            <a:ext cx="4503680" cy="1323390"/>
          </a:xfrm>
          <a:prstGeom prst="rect">
            <a:avLst/>
          </a:prstGeom>
          <a:ln w="28575">
            <a:solidFill>
              <a:srgbClr val="00B050"/>
            </a:solidFill>
          </a:ln>
        </p:spPr>
      </p:pic>
      <p:sp>
        <p:nvSpPr>
          <p:cNvPr id="732" name="TextBox 731">
            <a:extLst>
              <a:ext uri="{FF2B5EF4-FFF2-40B4-BE49-F238E27FC236}">
                <a16:creationId xmlns:a16="http://schemas.microsoft.com/office/drawing/2014/main" id="{2BD7D44C-07DB-7452-FCCE-0A2A64B95E53}"/>
              </a:ext>
            </a:extLst>
          </p:cNvPr>
          <p:cNvSpPr txBox="1"/>
          <p:nvPr/>
        </p:nvSpPr>
        <p:spPr>
          <a:xfrm>
            <a:off x="6150048" y="727864"/>
            <a:ext cx="909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solidFill>
                  <a:srgbClr val="00B050"/>
                </a:solidFill>
              </a:rPr>
              <a:t>ID</a:t>
            </a:r>
          </a:p>
        </p:txBody>
      </p:sp>
      <p:sp>
        <p:nvSpPr>
          <p:cNvPr id="733" name="TextBox 732">
            <a:extLst>
              <a:ext uri="{FF2B5EF4-FFF2-40B4-BE49-F238E27FC236}">
                <a16:creationId xmlns:a16="http://schemas.microsoft.com/office/drawing/2014/main" id="{9FE21F33-B9DF-C4CA-519D-AD55CDD7A277}"/>
              </a:ext>
            </a:extLst>
          </p:cNvPr>
          <p:cNvSpPr txBox="1"/>
          <p:nvPr/>
        </p:nvSpPr>
        <p:spPr>
          <a:xfrm>
            <a:off x="6689165" y="718705"/>
            <a:ext cx="909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solidFill>
                  <a:srgbClr val="00B050"/>
                </a:solidFill>
              </a:rPr>
              <a:t>Title</a:t>
            </a:r>
          </a:p>
        </p:txBody>
      </p:sp>
      <p:sp>
        <p:nvSpPr>
          <p:cNvPr id="734" name="TextBox 733">
            <a:extLst>
              <a:ext uri="{FF2B5EF4-FFF2-40B4-BE49-F238E27FC236}">
                <a16:creationId xmlns:a16="http://schemas.microsoft.com/office/drawing/2014/main" id="{1CA10B5E-15D9-8A59-91EA-50CE189FC9CC}"/>
              </a:ext>
            </a:extLst>
          </p:cNvPr>
          <p:cNvSpPr txBox="1"/>
          <p:nvPr/>
        </p:nvSpPr>
        <p:spPr>
          <a:xfrm>
            <a:off x="7395405" y="711004"/>
            <a:ext cx="16491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solidFill>
                  <a:srgbClr val="00B050"/>
                </a:solidFill>
              </a:rPr>
              <a:t>Requirement</a:t>
            </a:r>
          </a:p>
        </p:txBody>
      </p:sp>
      <p:sp>
        <p:nvSpPr>
          <p:cNvPr id="735" name="TextBox 734">
            <a:extLst>
              <a:ext uri="{FF2B5EF4-FFF2-40B4-BE49-F238E27FC236}">
                <a16:creationId xmlns:a16="http://schemas.microsoft.com/office/drawing/2014/main" id="{20612A9A-9CBE-8C1A-9A39-9A93776F39CC}"/>
              </a:ext>
            </a:extLst>
          </p:cNvPr>
          <p:cNvSpPr txBox="1"/>
          <p:nvPr/>
        </p:nvSpPr>
        <p:spPr>
          <a:xfrm>
            <a:off x="8947185" y="716590"/>
            <a:ext cx="16491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solidFill>
                  <a:srgbClr val="00B050"/>
                </a:solidFill>
              </a:rPr>
              <a:t>Regulation(s)</a:t>
            </a:r>
            <a:endParaRPr lang="en-US">
              <a:solidFill>
                <a:srgbClr val="00B050"/>
              </a:solidFill>
            </a:endParaRPr>
          </a:p>
        </p:txBody>
      </p:sp>
      <p:sp>
        <p:nvSpPr>
          <p:cNvPr id="736" name="TextBox 735">
            <a:extLst>
              <a:ext uri="{FF2B5EF4-FFF2-40B4-BE49-F238E27FC236}">
                <a16:creationId xmlns:a16="http://schemas.microsoft.com/office/drawing/2014/main" id="{7A3A8ABA-03F2-4D84-1325-87F9848D611E}"/>
              </a:ext>
            </a:extLst>
          </p:cNvPr>
          <p:cNvSpPr txBox="1"/>
          <p:nvPr/>
        </p:nvSpPr>
        <p:spPr>
          <a:xfrm>
            <a:off x="10503442" y="717445"/>
            <a:ext cx="1649103"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solidFill>
                  <a:schemeClr val="accent5"/>
                </a:solidFill>
              </a:rPr>
              <a:t>Verification</a:t>
            </a:r>
            <a:endParaRPr lang="en-US">
              <a:solidFill>
                <a:schemeClr val="accent5"/>
              </a:solidFill>
            </a:endParaRPr>
          </a:p>
        </p:txBody>
      </p:sp>
      <p:cxnSp>
        <p:nvCxnSpPr>
          <p:cNvPr id="737" name="Straight Arrow Connector 736">
            <a:extLst>
              <a:ext uri="{FF2B5EF4-FFF2-40B4-BE49-F238E27FC236}">
                <a16:creationId xmlns:a16="http://schemas.microsoft.com/office/drawing/2014/main" id="{40341080-9E1C-695C-8DBC-9EA118045DD8}"/>
              </a:ext>
            </a:extLst>
          </p:cNvPr>
          <p:cNvCxnSpPr/>
          <p:nvPr/>
        </p:nvCxnSpPr>
        <p:spPr>
          <a:xfrm flipV="1">
            <a:off x="5237730" y="2087271"/>
            <a:ext cx="898477" cy="602776"/>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738" name="Straight Arrow Connector 737">
            <a:extLst>
              <a:ext uri="{FF2B5EF4-FFF2-40B4-BE49-F238E27FC236}">
                <a16:creationId xmlns:a16="http://schemas.microsoft.com/office/drawing/2014/main" id="{80733262-A2EC-0466-AF90-3AE7621BC0CF}"/>
              </a:ext>
            </a:extLst>
          </p:cNvPr>
          <p:cNvCxnSpPr>
            <a:cxnSpLocks/>
          </p:cNvCxnSpPr>
          <p:nvPr/>
        </p:nvCxnSpPr>
        <p:spPr>
          <a:xfrm>
            <a:off x="9099110" y="3371931"/>
            <a:ext cx="2" cy="602776"/>
          </a:xfrm>
          <a:prstGeom prst="straightConnector1">
            <a:avLst/>
          </a:prstGeom>
          <a:ln w="57150">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719" name="Rectangle: Rounded Corners 718">
            <a:extLst>
              <a:ext uri="{FF2B5EF4-FFF2-40B4-BE49-F238E27FC236}">
                <a16:creationId xmlns:a16="http://schemas.microsoft.com/office/drawing/2014/main" id="{03821F49-48DE-2AA6-AD26-D6448753B544}"/>
              </a:ext>
            </a:extLst>
          </p:cNvPr>
          <p:cNvSpPr/>
          <p:nvPr/>
        </p:nvSpPr>
        <p:spPr>
          <a:xfrm>
            <a:off x="2983550" y="3268149"/>
            <a:ext cx="2286000" cy="949475"/>
          </a:xfrm>
          <a:prstGeom prst="roundRect">
            <a:avLst/>
          </a:prstGeom>
          <a:solidFill>
            <a:schemeClr val="accent1">
              <a:lumMod val="75000"/>
            </a:schemeClr>
          </a:solid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en-GB" sz="2400" b="1"/>
              <a:t>Airworthiness</a:t>
            </a:r>
          </a:p>
          <a:p>
            <a:pPr algn="ctr"/>
            <a:r>
              <a:rPr lang="en-GB"/>
              <a:t>See regulations</a:t>
            </a:r>
          </a:p>
        </p:txBody>
      </p:sp>
      <p:sp>
        <p:nvSpPr>
          <p:cNvPr id="4" name="TextBox 3">
            <a:extLst>
              <a:ext uri="{FF2B5EF4-FFF2-40B4-BE49-F238E27FC236}">
                <a16:creationId xmlns:a16="http://schemas.microsoft.com/office/drawing/2014/main" id="{8FFEBC9C-273F-37E3-69D7-DC3B5FAC03E6}"/>
              </a:ext>
            </a:extLst>
          </p:cNvPr>
          <p:cNvSpPr txBox="1"/>
          <p:nvPr/>
        </p:nvSpPr>
        <p:spPr>
          <a:xfrm>
            <a:off x="8179703" y="4309008"/>
            <a:ext cx="2285998" cy="1569660"/>
          </a:xfrm>
          <a:prstGeom prst="rect">
            <a:avLst/>
          </a:prstGeom>
          <a:noFill/>
          <a:ln w="28575">
            <a:solidFill>
              <a:schemeClr val="accent5"/>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chemeClr val="accent5"/>
                </a:solidFill>
              </a:rPr>
              <a:t>A</a:t>
            </a:r>
            <a:r>
              <a:rPr lang="en-GB" sz="2400"/>
              <a:t>nalysis</a:t>
            </a:r>
            <a:endParaRPr lang="en-US" sz="2400"/>
          </a:p>
          <a:p>
            <a:r>
              <a:rPr lang="en-GB" sz="2400" b="1">
                <a:solidFill>
                  <a:schemeClr val="accent5"/>
                </a:solidFill>
              </a:rPr>
              <a:t>D</a:t>
            </a:r>
            <a:r>
              <a:rPr lang="en-GB" sz="2400"/>
              <a:t>emonstration</a:t>
            </a:r>
          </a:p>
          <a:p>
            <a:r>
              <a:rPr lang="en-GB" sz="2400" b="1">
                <a:solidFill>
                  <a:schemeClr val="accent5"/>
                </a:solidFill>
              </a:rPr>
              <a:t>I</a:t>
            </a:r>
            <a:r>
              <a:rPr lang="en-GB" sz="2400"/>
              <a:t>nspection</a:t>
            </a:r>
          </a:p>
          <a:p>
            <a:r>
              <a:rPr lang="en-GB" sz="2400" b="1">
                <a:solidFill>
                  <a:schemeClr val="accent5"/>
                </a:solidFill>
              </a:rPr>
              <a:t>T</a:t>
            </a:r>
            <a:r>
              <a:rPr lang="en-GB" sz="2400"/>
              <a:t>est</a:t>
            </a:r>
          </a:p>
        </p:txBody>
      </p:sp>
      <p:sp>
        <p:nvSpPr>
          <p:cNvPr id="6" name="TextBox 5">
            <a:extLst>
              <a:ext uri="{FF2B5EF4-FFF2-40B4-BE49-F238E27FC236}">
                <a16:creationId xmlns:a16="http://schemas.microsoft.com/office/drawing/2014/main" id="{D912FE38-385C-8A6D-3206-69479ABC5502}"/>
              </a:ext>
            </a:extLst>
          </p:cNvPr>
          <p:cNvSpPr txBox="1"/>
          <p:nvPr/>
        </p:nvSpPr>
        <p:spPr>
          <a:xfrm>
            <a:off x="7597052" y="5898487"/>
            <a:ext cx="3324047"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accent5"/>
                </a:solidFill>
              </a:rPr>
              <a:t>ADIT verification framework  [1]</a:t>
            </a:r>
            <a:endParaRPr lang="en-US">
              <a:solidFill>
                <a:schemeClr val="accent5"/>
              </a:solidFill>
            </a:endParaRPr>
          </a:p>
        </p:txBody>
      </p:sp>
      <p:sp>
        <p:nvSpPr>
          <p:cNvPr id="7" name="Slide Number Placeholder 6">
            <a:extLst>
              <a:ext uri="{FF2B5EF4-FFF2-40B4-BE49-F238E27FC236}">
                <a16:creationId xmlns:a16="http://schemas.microsoft.com/office/drawing/2014/main" id="{9697F259-092C-D4FF-BE7E-F40D5C1BC145}"/>
              </a:ext>
            </a:extLst>
          </p:cNvPr>
          <p:cNvSpPr>
            <a:spLocks noGrp="1"/>
          </p:cNvSpPr>
          <p:nvPr>
            <p:ph type="sldNum" sz="quarter" idx="12"/>
          </p:nvPr>
        </p:nvSpPr>
        <p:spPr/>
        <p:txBody>
          <a:bodyPr/>
          <a:lstStyle/>
          <a:p>
            <a:fld id="{330EA680-D336-4FF7-8B7A-9848BB0A1C32}" type="slidenum">
              <a:rPr lang="en-GB" smtClean="0"/>
              <a:t>4</a:t>
            </a:fld>
            <a:endParaRPr lang="en-GB"/>
          </a:p>
        </p:txBody>
      </p:sp>
    </p:spTree>
    <p:extLst>
      <p:ext uri="{BB962C8B-B14F-4D97-AF65-F5344CB8AC3E}">
        <p14:creationId xmlns:p14="http://schemas.microsoft.com/office/powerpoint/2010/main" val="4130469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A282-5143-36EC-5A3E-D02D4007D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3FFF0-71D4-4DB2-2D80-1B186DB8206E}"/>
              </a:ext>
            </a:extLst>
          </p:cNvPr>
          <p:cNvSpPr>
            <a:spLocks noGrp="1"/>
          </p:cNvSpPr>
          <p:nvPr>
            <p:ph type="title"/>
          </p:nvPr>
        </p:nvSpPr>
        <p:spPr>
          <a:xfrm>
            <a:off x="269240" y="40005"/>
            <a:ext cx="10515600" cy="1325563"/>
          </a:xfrm>
        </p:spPr>
        <p:txBody>
          <a:bodyPr/>
          <a:lstStyle/>
          <a:p>
            <a:r>
              <a:rPr lang="en-US"/>
              <a:t>Requirements: Categories I</a:t>
            </a:r>
          </a:p>
        </p:txBody>
      </p:sp>
      <p:sp>
        <p:nvSpPr>
          <p:cNvPr id="7" name="Slide Number Placeholder 6">
            <a:extLst>
              <a:ext uri="{FF2B5EF4-FFF2-40B4-BE49-F238E27FC236}">
                <a16:creationId xmlns:a16="http://schemas.microsoft.com/office/drawing/2014/main" id="{C44933FC-69D2-34DF-9BD7-C813F0072ACC}"/>
              </a:ext>
            </a:extLst>
          </p:cNvPr>
          <p:cNvSpPr>
            <a:spLocks noGrp="1"/>
          </p:cNvSpPr>
          <p:nvPr>
            <p:ph type="sldNum" sz="quarter" idx="12"/>
          </p:nvPr>
        </p:nvSpPr>
        <p:spPr/>
        <p:txBody>
          <a:bodyPr/>
          <a:lstStyle/>
          <a:p>
            <a:fld id="{330EA680-D336-4FF7-8B7A-9848BB0A1C32}" type="slidenum">
              <a:rPr lang="en-GB" smtClean="0"/>
              <a:t>5</a:t>
            </a:fld>
            <a:endParaRPr lang="en-GB"/>
          </a:p>
        </p:txBody>
      </p:sp>
      <p:pic>
        <p:nvPicPr>
          <p:cNvPr id="3" name="Graphic 2">
            <a:extLst>
              <a:ext uri="{FF2B5EF4-FFF2-40B4-BE49-F238E27FC236}">
                <a16:creationId xmlns:a16="http://schemas.microsoft.com/office/drawing/2014/main" id="{86993CD6-C39A-F860-CC1C-6BE7547DAA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1496" y="1929922"/>
            <a:ext cx="914400" cy="914400"/>
          </a:xfrm>
          <a:prstGeom prst="rect">
            <a:avLst/>
          </a:prstGeom>
        </p:spPr>
      </p:pic>
      <p:pic>
        <p:nvPicPr>
          <p:cNvPr id="4" name="Graphic 3">
            <a:extLst>
              <a:ext uri="{FF2B5EF4-FFF2-40B4-BE49-F238E27FC236}">
                <a16:creationId xmlns:a16="http://schemas.microsoft.com/office/drawing/2014/main" id="{68EF1CE4-DD28-9B75-F3D3-23DD8EDFFF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14032" y="1837201"/>
            <a:ext cx="894170" cy="887427"/>
          </a:xfrm>
          <a:prstGeom prst="rect">
            <a:avLst/>
          </a:prstGeom>
        </p:spPr>
      </p:pic>
      <p:sp>
        <p:nvSpPr>
          <p:cNvPr id="5" name="TextBox 4">
            <a:extLst>
              <a:ext uri="{FF2B5EF4-FFF2-40B4-BE49-F238E27FC236}">
                <a16:creationId xmlns:a16="http://schemas.microsoft.com/office/drawing/2014/main" id="{C92CF2FC-AAE9-85BE-A07D-E8937040174B}"/>
              </a:ext>
            </a:extLst>
          </p:cNvPr>
          <p:cNvSpPr txBox="1"/>
          <p:nvPr/>
        </p:nvSpPr>
        <p:spPr>
          <a:xfrm>
            <a:off x="2392862" y="1511147"/>
            <a:ext cx="892627" cy="4155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000" b="1"/>
              <a:t>Flight</a:t>
            </a:r>
          </a:p>
        </p:txBody>
      </p:sp>
      <p:sp>
        <p:nvSpPr>
          <p:cNvPr id="6" name="TextBox 5">
            <a:extLst>
              <a:ext uri="{FF2B5EF4-FFF2-40B4-BE49-F238E27FC236}">
                <a16:creationId xmlns:a16="http://schemas.microsoft.com/office/drawing/2014/main" id="{EC0551DA-F004-7488-D62E-A127C62C1158}"/>
              </a:ext>
            </a:extLst>
          </p:cNvPr>
          <p:cNvSpPr txBox="1"/>
          <p:nvPr/>
        </p:nvSpPr>
        <p:spPr>
          <a:xfrm>
            <a:off x="8715852" y="1511810"/>
            <a:ext cx="96899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000" b="1"/>
              <a:t>Safety</a:t>
            </a:r>
            <a:endParaRPr lang="en-US" sz="2000" b="1"/>
          </a:p>
        </p:txBody>
      </p:sp>
      <p:pic>
        <p:nvPicPr>
          <p:cNvPr id="8" name="Picture 7" descr="Radio Signal Black Symbol for Communication and Broadcasting 54067499 ...">
            <a:extLst>
              <a:ext uri="{FF2B5EF4-FFF2-40B4-BE49-F238E27FC236}">
                <a16:creationId xmlns:a16="http://schemas.microsoft.com/office/drawing/2014/main" id="{B12D8C8A-8AB5-A30D-401D-FEFD11B2136D}"/>
              </a:ext>
            </a:extLst>
          </p:cNvPr>
          <p:cNvPicPr>
            <a:picLocks noChangeAspect="1"/>
          </p:cNvPicPr>
          <p:nvPr/>
        </p:nvPicPr>
        <p:blipFill>
          <a:blip r:embed="rId5"/>
          <a:stretch>
            <a:fillRect/>
          </a:stretch>
        </p:blipFill>
        <p:spPr>
          <a:xfrm>
            <a:off x="8666755" y="4564852"/>
            <a:ext cx="938516" cy="892211"/>
          </a:xfrm>
          <a:prstGeom prst="rect">
            <a:avLst/>
          </a:prstGeom>
        </p:spPr>
      </p:pic>
      <p:sp>
        <p:nvSpPr>
          <p:cNvPr id="9" name="TextBox 8">
            <a:extLst>
              <a:ext uri="{FF2B5EF4-FFF2-40B4-BE49-F238E27FC236}">
                <a16:creationId xmlns:a16="http://schemas.microsoft.com/office/drawing/2014/main" id="{BEDBF6C0-9F78-5E88-F63D-F3088D8132A2}"/>
              </a:ext>
            </a:extLst>
          </p:cNvPr>
          <p:cNvSpPr txBox="1"/>
          <p:nvPr/>
        </p:nvSpPr>
        <p:spPr>
          <a:xfrm>
            <a:off x="7251743" y="4142592"/>
            <a:ext cx="376053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t>Communications &amp; Navigation</a:t>
            </a:r>
          </a:p>
        </p:txBody>
      </p:sp>
      <p:sp>
        <p:nvSpPr>
          <p:cNvPr id="11" name="TextBox 10">
            <a:extLst>
              <a:ext uri="{FF2B5EF4-FFF2-40B4-BE49-F238E27FC236}">
                <a16:creationId xmlns:a16="http://schemas.microsoft.com/office/drawing/2014/main" id="{9D4C1F99-2E6E-9ABD-9680-2CAC7D7BD728}"/>
              </a:ext>
            </a:extLst>
          </p:cNvPr>
          <p:cNvSpPr txBox="1"/>
          <p:nvPr/>
        </p:nvSpPr>
        <p:spPr>
          <a:xfrm>
            <a:off x="1184547" y="4144306"/>
            <a:ext cx="376196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t>Compatibility</a:t>
            </a:r>
            <a:endParaRPr lang="en-US"/>
          </a:p>
        </p:txBody>
      </p:sp>
      <p:pic>
        <p:nvPicPr>
          <p:cNvPr id="12" name="Graphic 11">
            <a:extLst>
              <a:ext uri="{FF2B5EF4-FFF2-40B4-BE49-F238E27FC236}">
                <a16:creationId xmlns:a16="http://schemas.microsoft.com/office/drawing/2014/main" id="{B631A96E-A152-ADA9-4A3B-8DD66BB195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41708" y="4540486"/>
            <a:ext cx="914400" cy="914400"/>
          </a:xfrm>
          <a:prstGeom prst="rect">
            <a:avLst/>
          </a:prstGeom>
        </p:spPr>
      </p:pic>
      <p:sp>
        <p:nvSpPr>
          <p:cNvPr id="13" name="TextBox 12">
            <a:extLst>
              <a:ext uri="{FF2B5EF4-FFF2-40B4-BE49-F238E27FC236}">
                <a16:creationId xmlns:a16="http://schemas.microsoft.com/office/drawing/2014/main" id="{B28456F3-04ED-ABF0-2679-7C27264B7C08}"/>
              </a:ext>
            </a:extLst>
          </p:cNvPr>
          <p:cNvSpPr txBox="1"/>
          <p:nvPr/>
        </p:nvSpPr>
        <p:spPr>
          <a:xfrm>
            <a:off x="1717676" y="2806405"/>
            <a:ext cx="25497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i="1"/>
              <a:t>stability, flight envelope</a:t>
            </a:r>
          </a:p>
        </p:txBody>
      </p:sp>
      <p:sp>
        <p:nvSpPr>
          <p:cNvPr id="14" name="TextBox 13">
            <a:extLst>
              <a:ext uri="{FF2B5EF4-FFF2-40B4-BE49-F238E27FC236}">
                <a16:creationId xmlns:a16="http://schemas.microsoft.com/office/drawing/2014/main" id="{536400D2-1723-E2EF-2E98-9923B6304D2D}"/>
              </a:ext>
            </a:extLst>
          </p:cNvPr>
          <p:cNvSpPr txBox="1"/>
          <p:nvPr/>
        </p:nvSpPr>
        <p:spPr>
          <a:xfrm>
            <a:off x="7388844" y="2685024"/>
            <a:ext cx="3797290" cy="6530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i="1"/>
              <a:t>safe operation, emergency, system -, - factors, performance margins</a:t>
            </a:r>
            <a:endParaRPr lang="en-US"/>
          </a:p>
        </p:txBody>
      </p:sp>
      <p:sp>
        <p:nvSpPr>
          <p:cNvPr id="15" name="TextBox 14">
            <a:extLst>
              <a:ext uri="{FF2B5EF4-FFF2-40B4-BE49-F238E27FC236}">
                <a16:creationId xmlns:a16="http://schemas.microsoft.com/office/drawing/2014/main" id="{08670B27-9E02-F2DE-A026-F1EF6156BE85}"/>
              </a:ext>
            </a:extLst>
          </p:cNvPr>
          <p:cNvSpPr txBox="1"/>
          <p:nvPr/>
        </p:nvSpPr>
        <p:spPr>
          <a:xfrm>
            <a:off x="1967180" y="5362139"/>
            <a:ext cx="25497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i="1"/>
              <a:t>existing infrastructure: wingspan, airports</a:t>
            </a:r>
          </a:p>
        </p:txBody>
      </p:sp>
      <p:sp>
        <p:nvSpPr>
          <p:cNvPr id="16" name="TextBox 15">
            <a:extLst>
              <a:ext uri="{FF2B5EF4-FFF2-40B4-BE49-F238E27FC236}">
                <a16:creationId xmlns:a16="http://schemas.microsoft.com/office/drawing/2014/main" id="{C21818B2-F225-7629-3F78-3EDAFA8CE764}"/>
              </a:ext>
            </a:extLst>
          </p:cNvPr>
          <p:cNvSpPr txBox="1"/>
          <p:nvPr/>
        </p:nvSpPr>
        <p:spPr>
          <a:xfrm>
            <a:off x="7650788" y="5457150"/>
            <a:ext cx="30172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t>air traffic control, airspace access, collision avoidance</a:t>
            </a:r>
          </a:p>
        </p:txBody>
      </p:sp>
    </p:spTree>
    <p:extLst>
      <p:ext uri="{BB962C8B-B14F-4D97-AF65-F5344CB8AC3E}">
        <p14:creationId xmlns:p14="http://schemas.microsoft.com/office/powerpoint/2010/main" val="385432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8EA2C-F495-EF3F-99CD-F5E7FF03A1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9E8FA-6F73-9274-9013-35FB367D4A98}"/>
              </a:ext>
            </a:extLst>
          </p:cNvPr>
          <p:cNvSpPr>
            <a:spLocks noGrp="1"/>
          </p:cNvSpPr>
          <p:nvPr>
            <p:ph type="title"/>
          </p:nvPr>
        </p:nvSpPr>
        <p:spPr>
          <a:xfrm>
            <a:off x="269240" y="40005"/>
            <a:ext cx="10515600" cy="1325563"/>
          </a:xfrm>
        </p:spPr>
        <p:txBody>
          <a:bodyPr/>
          <a:lstStyle/>
          <a:p>
            <a:r>
              <a:rPr lang="en-US"/>
              <a:t>Requirements: Categories II</a:t>
            </a:r>
          </a:p>
        </p:txBody>
      </p:sp>
      <p:sp>
        <p:nvSpPr>
          <p:cNvPr id="7" name="Slide Number Placeholder 6">
            <a:extLst>
              <a:ext uri="{FF2B5EF4-FFF2-40B4-BE49-F238E27FC236}">
                <a16:creationId xmlns:a16="http://schemas.microsoft.com/office/drawing/2014/main" id="{23EA61D0-A06E-A2C1-1B21-56BC0931BCE1}"/>
              </a:ext>
            </a:extLst>
          </p:cNvPr>
          <p:cNvSpPr>
            <a:spLocks noGrp="1"/>
          </p:cNvSpPr>
          <p:nvPr>
            <p:ph type="sldNum" sz="quarter" idx="12"/>
          </p:nvPr>
        </p:nvSpPr>
        <p:spPr/>
        <p:txBody>
          <a:bodyPr/>
          <a:lstStyle/>
          <a:p>
            <a:fld id="{330EA680-D336-4FF7-8B7A-9848BB0A1C32}" type="slidenum">
              <a:rPr lang="en-GB" smtClean="0"/>
              <a:t>6</a:t>
            </a:fld>
            <a:endParaRPr lang="en-GB"/>
          </a:p>
        </p:txBody>
      </p:sp>
      <p:pic>
        <p:nvPicPr>
          <p:cNvPr id="5" name="Picture 4" descr="160+ Frayed Rope Illustrations - iStock">
            <a:extLst>
              <a:ext uri="{FF2B5EF4-FFF2-40B4-BE49-F238E27FC236}">
                <a16:creationId xmlns:a16="http://schemas.microsoft.com/office/drawing/2014/main" id="{4D72E1F5-D122-DECD-2E81-B03336B53325}"/>
              </a:ext>
            </a:extLst>
          </p:cNvPr>
          <p:cNvPicPr>
            <a:picLocks noChangeAspect="1"/>
          </p:cNvPicPr>
          <p:nvPr/>
        </p:nvPicPr>
        <p:blipFill>
          <a:blip r:embed="rId3"/>
          <a:srcRect l="19386" t="33866" r="16478" b="28115"/>
          <a:stretch>
            <a:fillRect/>
          </a:stretch>
        </p:blipFill>
        <p:spPr>
          <a:xfrm>
            <a:off x="1816443" y="4631151"/>
            <a:ext cx="2911624" cy="874139"/>
          </a:xfrm>
          <a:prstGeom prst="rect">
            <a:avLst/>
          </a:prstGeom>
        </p:spPr>
      </p:pic>
      <p:pic>
        <p:nvPicPr>
          <p:cNvPr id="6" name="Graphic 5">
            <a:extLst>
              <a:ext uri="{FF2B5EF4-FFF2-40B4-BE49-F238E27FC236}">
                <a16:creationId xmlns:a16="http://schemas.microsoft.com/office/drawing/2014/main" id="{915EF7C0-5F85-5786-551D-9FA0B12B9A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91342" y="4591302"/>
            <a:ext cx="914400" cy="914400"/>
          </a:xfrm>
          <a:prstGeom prst="rect">
            <a:avLst/>
          </a:prstGeom>
        </p:spPr>
      </p:pic>
      <p:sp>
        <p:nvSpPr>
          <p:cNvPr id="10" name="TextBox 9">
            <a:extLst>
              <a:ext uri="{FF2B5EF4-FFF2-40B4-BE49-F238E27FC236}">
                <a16:creationId xmlns:a16="http://schemas.microsoft.com/office/drawing/2014/main" id="{4FEC7CAC-5FE3-F72D-4A28-653692FA90A9}"/>
              </a:ext>
            </a:extLst>
          </p:cNvPr>
          <p:cNvSpPr txBox="1"/>
          <p:nvPr/>
        </p:nvSpPr>
        <p:spPr>
          <a:xfrm>
            <a:off x="8355847" y="4225109"/>
            <a:ext cx="8219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t>Cost</a:t>
            </a:r>
            <a:endParaRPr lang="en-US" b="1"/>
          </a:p>
        </p:txBody>
      </p:sp>
      <p:sp>
        <p:nvSpPr>
          <p:cNvPr id="4" name="TextBox 3">
            <a:extLst>
              <a:ext uri="{FF2B5EF4-FFF2-40B4-BE49-F238E27FC236}">
                <a16:creationId xmlns:a16="http://schemas.microsoft.com/office/drawing/2014/main" id="{269A0A23-CA84-0245-75B3-65A2016D0464}"/>
              </a:ext>
            </a:extLst>
          </p:cNvPr>
          <p:cNvSpPr txBox="1"/>
          <p:nvPr/>
        </p:nvSpPr>
        <p:spPr>
          <a:xfrm>
            <a:off x="2721651" y="4264039"/>
            <a:ext cx="10990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t>Fatigue</a:t>
            </a:r>
          </a:p>
        </p:txBody>
      </p:sp>
      <p:sp>
        <p:nvSpPr>
          <p:cNvPr id="12" name="TextBox 8">
            <a:extLst>
              <a:ext uri="{FF2B5EF4-FFF2-40B4-BE49-F238E27FC236}">
                <a16:creationId xmlns:a16="http://schemas.microsoft.com/office/drawing/2014/main" id="{3C930BB9-5E44-9492-1665-98532977E380}"/>
              </a:ext>
            </a:extLst>
          </p:cNvPr>
          <p:cNvSpPr txBox="1"/>
          <p:nvPr/>
        </p:nvSpPr>
        <p:spPr>
          <a:xfrm>
            <a:off x="2720437" y="1799543"/>
            <a:ext cx="1099037"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1"/>
              <a:t>Noise</a:t>
            </a:r>
            <a:endParaRPr lang="en-US" b="1"/>
          </a:p>
        </p:txBody>
      </p:sp>
      <p:pic>
        <p:nvPicPr>
          <p:cNvPr id="13" name="Graphic 2">
            <a:extLst>
              <a:ext uri="{FF2B5EF4-FFF2-40B4-BE49-F238E27FC236}">
                <a16:creationId xmlns:a16="http://schemas.microsoft.com/office/drawing/2014/main" id="{1FF77922-2479-3AE3-1986-36DACF536E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12327" y="2172368"/>
            <a:ext cx="914400" cy="914400"/>
          </a:xfrm>
          <a:prstGeom prst="rect">
            <a:avLst/>
          </a:prstGeom>
        </p:spPr>
      </p:pic>
      <p:pic>
        <p:nvPicPr>
          <p:cNvPr id="14" name="Picture 13">
            <a:extLst>
              <a:ext uri="{FF2B5EF4-FFF2-40B4-BE49-F238E27FC236}">
                <a16:creationId xmlns:a16="http://schemas.microsoft.com/office/drawing/2014/main" id="{20D0F695-FD3D-FF65-4D41-5E5DDA3B2D7B}"/>
              </a:ext>
            </a:extLst>
          </p:cNvPr>
          <p:cNvPicPr>
            <a:picLocks noChangeAspect="1"/>
          </p:cNvPicPr>
          <p:nvPr/>
        </p:nvPicPr>
        <p:blipFill>
          <a:blip r:embed="rId6"/>
          <a:stretch>
            <a:fillRect/>
          </a:stretch>
        </p:blipFill>
        <p:spPr>
          <a:xfrm>
            <a:off x="8045278" y="2072550"/>
            <a:ext cx="1404687" cy="1106906"/>
          </a:xfrm>
          <a:prstGeom prst="rect">
            <a:avLst/>
          </a:prstGeom>
        </p:spPr>
      </p:pic>
      <p:sp>
        <p:nvSpPr>
          <p:cNvPr id="15" name="TextBox 10">
            <a:extLst>
              <a:ext uri="{FF2B5EF4-FFF2-40B4-BE49-F238E27FC236}">
                <a16:creationId xmlns:a16="http://schemas.microsoft.com/office/drawing/2014/main" id="{E6A1C5EE-8FE6-5E0D-406D-A22072A38303}"/>
              </a:ext>
            </a:extLst>
          </p:cNvPr>
          <p:cNvSpPr txBox="1"/>
          <p:nvPr/>
        </p:nvSpPr>
        <p:spPr>
          <a:xfrm>
            <a:off x="7760348" y="3178159"/>
            <a:ext cx="1987769"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i="1"/>
              <a:t>ICAO Annex 16 Vol II and III</a:t>
            </a:r>
          </a:p>
        </p:txBody>
      </p:sp>
      <p:sp>
        <p:nvSpPr>
          <p:cNvPr id="3" name="TextBox 10">
            <a:extLst>
              <a:ext uri="{FF2B5EF4-FFF2-40B4-BE49-F238E27FC236}">
                <a16:creationId xmlns:a16="http://schemas.microsoft.com/office/drawing/2014/main" id="{1F3D2BE3-ACFB-5E3E-2754-F92D504A26C3}"/>
              </a:ext>
            </a:extLst>
          </p:cNvPr>
          <p:cNvSpPr txBox="1"/>
          <p:nvPr/>
        </p:nvSpPr>
        <p:spPr>
          <a:xfrm>
            <a:off x="7996798" y="1803479"/>
            <a:ext cx="1500089"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1"/>
              <a:t>Emissions</a:t>
            </a:r>
          </a:p>
        </p:txBody>
      </p:sp>
      <p:sp>
        <p:nvSpPr>
          <p:cNvPr id="8" name="TextBox 7">
            <a:extLst>
              <a:ext uri="{FF2B5EF4-FFF2-40B4-BE49-F238E27FC236}">
                <a16:creationId xmlns:a16="http://schemas.microsoft.com/office/drawing/2014/main" id="{6702C3C7-4665-FF51-E506-7073F1D026A0}"/>
              </a:ext>
            </a:extLst>
          </p:cNvPr>
          <p:cNvSpPr txBox="1"/>
          <p:nvPr/>
        </p:nvSpPr>
        <p:spPr>
          <a:xfrm>
            <a:off x="1746596" y="3058622"/>
            <a:ext cx="3048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0" i="1" u="none" strike="noStrike" baseline="0">
                <a:solidFill>
                  <a:srgbClr val="000000"/>
                </a:solidFill>
                <a:latin typeface="Aptos"/>
                <a:ea typeface="Segoe UI"/>
                <a:cs typeface="Segoe UI"/>
              </a:rPr>
              <a:t>ICAO Annex 16 Vol </a:t>
            </a:r>
            <a:r>
              <a:rPr lang="en-GB" i="1">
                <a:solidFill>
                  <a:srgbClr val="000000"/>
                </a:solidFill>
                <a:latin typeface="Aptos"/>
                <a:ea typeface="Segoe UI"/>
                <a:cs typeface="Segoe UI"/>
              </a:rPr>
              <a:t>I</a:t>
            </a:r>
            <a:r>
              <a:rPr lang="en-GB" i="1">
                <a:solidFill>
                  <a:srgbClr val="000000"/>
                </a:solidFill>
                <a:latin typeface="Aptos"/>
                <a:ea typeface="Aptos"/>
                <a:cs typeface="Aptos"/>
              </a:rPr>
              <a:t>, FAA Stage 3, Quota Count system </a:t>
            </a:r>
            <a:endParaRPr lang="en-GB" i="1">
              <a:latin typeface="Aptos"/>
            </a:endParaRPr>
          </a:p>
          <a:p>
            <a:pPr algn="ctr"/>
            <a:endParaRPr lang="en-GB">
              <a:latin typeface="Aptos"/>
            </a:endParaRPr>
          </a:p>
        </p:txBody>
      </p:sp>
      <p:sp>
        <p:nvSpPr>
          <p:cNvPr id="11" name="TextBox 10">
            <a:extLst>
              <a:ext uri="{FF2B5EF4-FFF2-40B4-BE49-F238E27FC236}">
                <a16:creationId xmlns:a16="http://schemas.microsoft.com/office/drawing/2014/main" id="{D4066B16-4756-4141-4EE3-D703F5A7D590}"/>
              </a:ext>
            </a:extLst>
          </p:cNvPr>
          <p:cNvSpPr txBox="1"/>
          <p:nvPr/>
        </p:nvSpPr>
        <p:spPr>
          <a:xfrm>
            <a:off x="7224529" y="5505489"/>
            <a:ext cx="3048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i="1">
                <a:solidFill>
                  <a:srgbClr val="000000"/>
                </a:solidFill>
                <a:latin typeface="Aptos"/>
                <a:cs typeface="Segoe UI"/>
              </a:rPr>
              <a:t>R &amp; D, Manufacturing, DOC, SAF</a:t>
            </a:r>
            <a:endParaRPr lang="en-US">
              <a:latin typeface="Aptos"/>
            </a:endParaRPr>
          </a:p>
          <a:p>
            <a:pPr algn="ctr"/>
            <a:endParaRPr lang="en-GB">
              <a:latin typeface="Aptos"/>
            </a:endParaRPr>
          </a:p>
        </p:txBody>
      </p:sp>
      <p:sp>
        <p:nvSpPr>
          <p:cNvPr id="9" name="TextBox 10">
            <a:extLst>
              <a:ext uri="{FF2B5EF4-FFF2-40B4-BE49-F238E27FC236}">
                <a16:creationId xmlns:a16="http://schemas.microsoft.com/office/drawing/2014/main" id="{409E9297-BF1E-9E5B-88B8-CD465A4D6F5F}"/>
              </a:ext>
            </a:extLst>
          </p:cNvPr>
          <p:cNvSpPr txBox="1"/>
          <p:nvPr/>
        </p:nvSpPr>
        <p:spPr>
          <a:xfrm>
            <a:off x="1846158" y="5388225"/>
            <a:ext cx="2911793"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i="1"/>
              <a:t>repeated cyclic loads, 25-year </a:t>
            </a:r>
            <a:r>
              <a:rPr lang="en-GB" i="1" err="1"/>
              <a:t>lifesp</a:t>
            </a:r>
            <a:r>
              <a:rPr lang="en-GB" i="1"/>
              <a:t>an</a:t>
            </a:r>
          </a:p>
        </p:txBody>
      </p:sp>
    </p:spTree>
    <p:extLst>
      <p:ext uri="{BB962C8B-B14F-4D97-AF65-F5344CB8AC3E}">
        <p14:creationId xmlns:p14="http://schemas.microsoft.com/office/powerpoint/2010/main" val="2286313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A8AF4-7693-E894-098C-7E39320FBFC4}"/>
              </a:ext>
            </a:extLst>
          </p:cNvPr>
          <p:cNvSpPr>
            <a:spLocks noGrp="1"/>
          </p:cNvSpPr>
          <p:nvPr>
            <p:ph type="title"/>
          </p:nvPr>
        </p:nvSpPr>
        <p:spPr>
          <a:xfrm>
            <a:off x="161865" y="96936"/>
            <a:ext cx="5389211" cy="1128319"/>
          </a:xfrm>
        </p:spPr>
        <p:txBody>
          <a:bodyPr>
            <a:normAutofit/>
          </a:bodyPr>
          <a:lstStyle/>
          <a:p>
            <a:r>
              <a:rPr lang="en-US"/>
              <a:t>Project Management</a:t>
            </a:r>
          </a:p>
        </p:txBody>
      </p:sp>
      <p:sp>
        <p:nvSpPr>
          <p:cNvPr id="6" name="Rectangle: Rounded Corners 5">
            <a:extLst>
              <a:ext uri="{FF2B5EF4-FFF2-40B4-BE49-F238E27FC236}">
                <a16:creationId xmlns:a16="http://schemas.microsoft.com/office/drawing/2014/main" id="{10AE12C6-7E33-2F03-E6E6-63E2845F6FDD}"/>
              </a:ext>
            </a:extLst>
          </p:cNvPr>
          <p:cNvSpPr/>
          <p:nvPr/>
        </p:nvSpPr>
        <p:spPr>
          <a:xfrm>
            <a:off x="5389247" y="807980"/>
            <a:ext cx="1413545" cy="843094"/>
          </a:xfrm>
          <a:prstGeom prst="roundRect">
            <a:avLst/>
          </a:prstGeom>
          <a:solidFill>
            <a:schemeClr val="bg1">
              <a:lumMod val="8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Project Tasks</a:t>
            </a:r>
            <a:endParaRPr lang="en-GB" sz="1400" b="1">
              <a:solidFill>
                <a:schemeClr val="tx1"/>
              </a:solidFill>
            </a:endParaRPr>
          </a:p>
        </p:txBody>
      </p:sp>
      <p:sp>
        <p:nvSpPr>
          <p:cNvPr id="8" name="Rectangle: Rounded Corners 7">
            <a:extLst>
              <a:ext uri="{FF2B5EF4-FFF2-40B4-BE49-F238E27FC236}">
                <a16:creationId xmlns:a16="http://schemas.microsoft.com/office/drawing/2014/main" id="{3089D68C-9CB8-FF01-FA5D-29546A2A909E}"/>
              </a:ext>
            </a:extLst>
          </p:cNvPr>
          <p:cNvSpPr/>
          <p:nvPr/>
        </p:nvSpPr>
        <p:spPr>
          <a:xfrm>
            <a:off x="592841" y="2120695"/>
            <a:ext cx="1361813" cy="803945"/>
          </a:xfrm>
          <a:prstGeom prst="roundRect">
            <a:avLst/>
          </a:prstGeom>
          <a:solidFill>
            <a:schemeClr val="tx2">
              <a:lumMod val="25000"/>
              <a:lumOff val="7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Requirements</a:t>
            </a:r>
            <a:endParaRPr lang="en-GB" sz="1400">
              <a:solidFill>
                <a:schemeClr val="tx1"/>
              </a:solidFill>
            </a:endParaRPr>
          </a:p>
        </p:txBody>
      </p:sp>
      <p:sp>
        <p:nvSpPr>
          <p:cNvPr id="10" name="Rectangle: Rounded Corners 9">
            <a:extLst>
              <a:ext uri="{FF2B5EF4-FFF2-40B4-BE49-F238E27FC236}">
                <a16:creationId xmlns:a16="http://schemas.microsoft.com/office/drawing/2014/main" id="{8637B901-37E6-DEFC-3F3B-A46DDC1F5B2B}"/>
              </a:ext>
            </a:extLst>
          </p:cNvPr>
          <p:cNvSpPr/>
          <p:nvPr/>
        </p:nvSpPr>
        <p:spPr>
          <a:xfrm>
            <a:off x="4400745" y="2126266"/>
            <a:ext cx="1361813" cy="803945"/>
          </a:xfrm>
          <a:prstGeom prst="roundRect">
            <a:avLst/>
          </a:prstGeom>
          <a:solidFill>
            <a:schemeClr val="accent2">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Risk Management</a:t>
            </a:r>
            <a:endParaRPr lang="en-GB" sz="1400">
              <a:solidFill>
                <a:schemeClr val="tx1"/>
              </a:solidFill>
            </a:endParaRPr>
          </a:p>
        </p:txBody>
      </p:sp>
      <p:sp>
        <p:nvSpPr>
          <p:cNvPr id="12" name="Rectangle: Rounded Corners 11">
            <a:extLst>
              <a:ext uri="{FF2B5EF4-FFF2-40B4-BE49-F238E27FC236}">
                <a16:creationId xmlns:a16="http://schemas.microsoft.com/office/drawing/2014/main" id="{39F3D378-E693-92E3-824B-DD5D9DEED433}"/>
              </a:ext>
            </a:extLst>
          </p:cNvPr>
          <p:cNvSpPr/>
          <p:nvPr/>
        </p:nvSpPr>
        <p:spPr>
          <a:xfrm>
            <a:off x="10237386" y="2120694"/>
            <a:ext cx="1361813" cy="803945"/>
          </a:xfrm>
          <a:prstGeom prst="roundRect">
            <a:avLst/>
          </a:prstGeom>
          <a:solidFill>
            <a:schemeClr val="accent5">
              <a:lumMod val="40000"/>
              <a:lumOff val="6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Costs</a:t>
            </a:r>
            <a:endParaRPr lang="en-GB" sz="1400">
              <a:solidFill>
                <a:schemeClr val="tx1"/>
              </a:solidFill>
            </a:endParaRPr>
          </a:p>
        </p:txBody>
      </p:sp>
      <p:sp>
        <p:nvSpPr>
          <p:cNvPr id="14" name="Rectangle: Rounded Corners 13">
            <a:extLst>
              <a:ext uri="{FF2B5EF4-FFF2-40B4-BE49-F238E27FC236}">
                <a16:creationId xmlns:a16="http://schemas.microsoft.com/office/drawing/2014/main" id="{A60A8F4B-AB2C-2FDD-9D71-5E8AAB518298}"/>
              </a:ext>
            </a:extLst>
          </p:cNvPr>
          <p:cNvSpPr/>
          <p:nvPr/>
        </p:nvSpPr>
        <p:spPr>
          <a:xfrm>
            <a:off x="8291839" y="2120693"/>
            <a:ext cx="1361813" cy="803945"/>
          </a:xfrm>
          <a:prstGeom prst="roundRect">
            <a:avLst/>
          </a:prstGeom>
          <a:solidFill>
            <a:schemeClr val="accent3">
              <a:lumMod val="20000"/>
              <a:lumOff val="80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Project Management</a:t>
            </a:r>
            <a:endParaRPr lang="en-GB" sz="1400">
              <a:solidFill>
                <a:schemeClr val="tx1"/>
              </a:solidFill>
            </a:endParaRPr>
          </a:p>
        </p:txBody>
      </p:sp>
      <p:sp>
        <p:nvSpPr>
          <p:cNvPr id="16" name="Rectangle: Rounded Corners 15">
            <a:extLst>
              <a:ext uri="{FF2B5EF4-FFF2-40B4-BE49-F238E27FC236}">
                <a16:creationId xmlns:a16="http://schemas.microsoft.com/office/drawing/2014/main" id="{27FD8595-5C2C-C7B3-B2CE-5D44C61CEFD4}"/>
              </a:ext>
            </a:extLst>
          </p:cNvPr>
          <p:cNvSpPr/>
          <p:nvPr/>
        </p:nvSpPr>
        <p:spPr>
          <a:xfrm>
            <a:off x="2496793" y="2120630"/>
            <a:ext cx="1361813" cy="803945"/>
          </a:xfrm>
          <a:prstGeom prst="roundRect">
            <a:avLst/>
          </a:prstGeom>
          <a:solidFill>
            <a:srgbClr val="F98077"/>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Design</a:t>
            </a:r>
            <a:endParaRPr lang="en-GB" sz="1400">
              <a:solidFill>
                <a:schemeClr val="tx1"/>
              </a:solidFill>
            </a:endParaRPr>
          </a:p>
        </p:txBody>
      </p:sp>
      <p:sp>
        <p:nvSpPr>
          <p:cNvPr id="18" name="Rectangle: Rounded Corners 17">
            <a:extLst>
              <a:ext uri="{FF2B5EF4-FFF2-40B4-BE49-F238E27FC236}">
                <a16:creationId xmlns:a16="http://schemas.microsoft.com/office/drawing/2014/main" id="{C311E200-1BAB-A9D7-20A9-44479D0F7D84}"/>
              </a:ext>
            </a:extLst>
          </p:cNvPr>
          <p:cNvSpPr/>
          <p:nvPr/>
        </p:nvSpPr>
        <p:spPr>
          <a:xfrm>
            <a:off x="6346292" y="2120693"/>
            <a:ext cx="1361813" cy="803945"/>
          </a:xfrm>
          <a:prstGeom prst="roundRect">
            <a:avLst/>
          </a:prstGeom>
          <a:solidFill>
            <a:srgbClr val="FAFE50"/>
          </a:solidFill>
          <a:ln>
            <a:solidFill>
              <a:srgbClr val="C4AE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Verification Planning</a:t>
            </a:r>
            <a:endParaRPr lang="en-GB" sz="1400">
              <a:solidFill>
                <a:schemeClr val="tx1"/>
              </a:solidFill>
            </a:endParaRPr>
          </a:p>
        </p:txBody>
      </p:sp>
      <p:sp>
        <p:nvSpPr>
          <p:cNvPr id="20" name="Rectangle: Rounded Corners 19">
            <a:extLst>
              <a:ext uri="{FF2B5EF4-FFF2-40B4-BE49-F238E27FC236}">
                <a16:creationId xmlns:a16="http://schemas.microsoft.com/office/drawing/2014/main" id="{FB1F48F5-13DF-28B8-61FB-3CD722528EB3}"/>
              </a:ext>
            </a:extLst>
          </p:cNvPr>
          <p:cNvSpPr/>
          <p:nvPr/>
        </p:nvSpPr>
        <p:spPr>
          <a:xfrm>
            <a:off x="3296893" y="3114152"/>
            <a:ext cx="1103852" cy="713763"/>
          </a:xfrm>
          <a:prstGeom prst="roundRect">
            <a:avLst/>
          </a:prstGeom>
          <a:solidFill>
            <a:srgbClr val="F98077"/>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Design options considered</a:t>
            </a:r>
            <a:endParaRPr lang="en-GB" sz="1000">
              <a:solidFill>
                <a:schemeClr val="tx1"/>
              </a:solidFill>
            </a:endParaRPr>
          </a:p>
        </p:txBody>
      </p:sp>
      <p:sp>
        <p:nvSpPr>
          <p:cNvPr id="22" name="Rectangle: Rounded Corners 21">
            <a:extLst>
              <a:ext uri="{FF2B5EF4-FFF2-40B4-BE49-F238E27FC236}">
                <a16:creationId xmlns:a16="http://schemas.microsoft.com/office/drawing/2014/main" id="{903DC56B-D12A-2762-F7B5-AF30331BB806}"/>
              </a:ext>
            </a:extLst>
          </p:cNvPr>
          <p:cNvSpPr/>
          <p:nvPr/>
        </p:nvSpPr>
        <p:spPr>
          <a:xfrm>
            <a:off x="3306680" y="4008280"/>
            <a:ext cx="1103852" cy="713763"/>
          </a:xfrm>
          <a:prstGeom prst="roundRect">
            <a:avLst/>
          </a:prstGeom>
          <a:solidFill>
            <a:srgbClr val="F98077"/>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Constraints and formulas</a:t>
            </a:r>
            <a:endParaRPr lang="en-GB" sz="1000">
              <a:solidFill>
                <a:schemeClr val="tx1"/>
              </a:solidFill>
            </a:endParaRPr>
          </a:p>
        </p:txBody>
      </p:sp>
      <p:sp>
        <p:nvSpPr>
          <p:cNvPr id="24" name="Rectangle: Rounded Corners 23">
            <a:extLst>
              <a:ext uri="{FF2B5EF4-FFF2-40B4-BE49-F238E27FC236}">
                <a16:creationId xmlns:a16="http://schemas.microsoft.com/office/drawing/2014/main" id="{96C97FC1-E7D8-2E86-B322-0AC8FDD94FDA}"/>
              </a:ext>
            </a:extLst>
          </p:cNvPr>
          <p:cNvSpPr/>
          <p:nvPr/>
        </p:nvSpPr>
        <p:spPr>
          <a:xfrm>
            <a:off x="3306680" y="4902408"/>
            <a:ext cx="1103852" cy="713763"/>
          </a:xfrm>
          <a:prstGeom prst="roundRect">
            <a:avLst/>
          </a:prstGeom>
          <a:solidFill>
            <a:srgbClr val="F98077"/>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System characteristics</a:t>
            </a:r>
            <a:endParaRPr lang="en-GB" sz="1000">
              <a:solidFill>
                <a:schemeClr val="tx1"/>
              </a:solidFill>
            </a:endParaRPr>
          </a:p>
        </p:txBody>
      </p:sp>
      <p:sp>
        <p:nvSpPr>
          <p:cNvPr id="28" name="Rectangle: Rounded Corners 27">
            <a:extLst>
              <a:ext uri="{FF2B5EF4-FFF2-40B4-BE49-F238E27FC236}">
                <a16:creationId xmlns:a16="http://schemas.microsoft.com/office/drawing/2014/main" id="{B20BD003-BE49-F973-968C-302722F8996E}"/>
              </a:ext>
            </a:extLst>
          </p:cNvPr>
          <p:cNvSpPr/>
          <p:nvPr/>
        </p:nvSpPr>
        <p:spPr>
          <a:xfrm>
            <a:off x="7156179" y="3114151"/>
            <a:ext cx="1103852" cy="713763"/>
          </a:xfrm>
          <a:prstGeom prst="roundRect">
            <a:avLst/>
          </a:prstGeom>
          <a:solidFill>
            <a:srgbClr val="FAFE50"/>
          </a:solidFill>
          <a:ln>
            <a:solidFill>
              <a:srgbClr val="C4AE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Compliance Matrix</a:t>
            </a:r>
            <a:endParaRPr lang="en-GB" sz="1000">
              <a:solidFill>
                <a:schemeClr val="tx1"/>
              </a:solidFill>
            </a:endParaRPr>
          </a:p>
        </p:txBody>
      </p:sp>
      <p:sp>
        <p:nvSpPr>
          <p:cNvPr id="30" name="Rectangle: Rounded Corners 29">
            <a:extLst>
              <a:ext uri="{FF2B5EF4-FFF2-40B4-BE49-F238E27FC236}">
                <a16:creationId xmlns:a16="http://schemas.microsoft.com/office/drawing/2014/main" id="{D316A4C0-5D57-76C4-C35F-F7D90E3DFAD2}"/>
              </a:ext>
            </a:extLst>
          </p:cNvPr>
          <p:cNvSpPr/>
          <p:nvPr/>
        </p:nvSpPr>
        <p:spPr>
          <a:xfrm>
            <a:off x="7156179" y="4008280"/>
            <a:ext cx="1103852" cy="713763"/>
          </a:xfrm>
          <a:prstGeom prst="roundRect">
            <a:avLst/>
          </a:prstGeom>
          <a:solidFill>
            <a:srgbClr val="FAFE50"/>
          </a:solidFill>
          <a:ln>
            <a:solidFill>
              <a:srgbClr val="C4AE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Risk-linked verification</a:t>
            </a:r>
            <a:endParaRPr lang="en-GB" sz="1000">
              <a:solidFill>
                <a:schemeClr val="tx1"/>
              </a:solidFill>
            </a:endParaRPr>
          </a:p>
        </p:txBody>
      </p:sp>
      <p:sp>
        <p:nvSpPr>
          <p:cNvPr id="32" name="Rectangle: Rounded Corners 31">
            <a:extLst>
              <a:ext uri="{FF2B5EF4-FFF2-40B4-BE49-F238E27FC236}">
                <a16:creationId xmlns:a16="http://schemas.microsoft.com/office/drawing/2014/main" id="{894068BF-9B13-3401-C770-FC831592C867}"/>
              </a:ext>
            </a:extLst>
          </p:cNvPr>
          <p:cNvSpPr/>
          <p:nvPr/>
        </p:nvSpPr>
        <p:spPr>
          <a:xfrm>
            <a:off x="9101726" y="3114151"/>
            <a:ext cx="1103852" cy="713763"/>
          </a:xfrm>
          <a:prstGeom prst="roundRect">
            <a:avLst/>
          </a:prstGeom>
          <a:solidFill>
            <a:schemeClr val="accent3">
              <a:lumMod val="20000"/>
              <a:lumOff val="80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Project timeline</a:t>
            </a:r>
            <a:endParaRPr lang="en-GB" sz="1000">
              <a:solidFill>
                <a:schemeClr val="tx1"/>
              </a:solidFill>
            </a:endParaRPr>
          </a:p>
        </p:txBody>
      </p:sp>
      <p:sp>
        <p:nvSpPr>
          <p:cNvPr id="34" name="Rectangle: Rounded Corners 33">
            <a:extLst>
              <a:ext uri="{FF2B5EF4-FFF2-40B4-BE49-F238E27FC236}">
                <a16:creationId xmlns:a16="http://schemas.microsoft.com/office/drawing/2014/main" id="{F8A6E551-BA37-21D2-D364-9133DCACA63A}"/>
              </a:ext>
            </a:extLst>
          </p:cNvPr>
          <p:cNvSpPr/>
          <p:nvPr/>
        </p:nvSpPr>
        <p:spPr>
          <a:xfrm>
            <a:off x="9101726" y="4008279"/>
            <a:ext cx="1103852" cy="713763"/>
          </a:xfrm>
          <a:prstGeom prst="roundRect">
            <a:avLst/>
          </a:prstGeom>
          <a:solidFill>
            <a:schemeClr val="accent3">
              <a:lumMod val="20000"/>
              <a:lumOff val="80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Team organisation</a:t>
            </a:r>
            <a:endParaRPr lang="en-GB" sz="1000">
              <a:solidFill>
                <a:schemeClr val="tx1"/>
              </a:solidFill>
            </a:endParaRPr>
          </a:p>
        </p:txBody>
      </p:sp>
      <p:sp>
        <p:nvSpPr>
          <p:cNvPr id="36" name="Rectangle: Rounded Corners 35">
            <a:extLst>
              <a:ext uri="{FF2B5EF4-FFF2-40B4-BE49-F238E27FC236}">
                <a16:creationId xmlns:a16="http://schemas.microsoft.com/office/drawing/2014/main" id="{F1AE8E9E-ABD9-C4AC-D630-C82EA981EAFE}"/>
              </a:ext>
            </a:extLst>
          </p:cNvPr>
          <p:cNvSpPr/>
          <p:nvPr/>
        </p:nvSpPr>
        <p:spPr>
          <a:xfrm>
            <a:off x="9101726" y="4902407"/>
            <a:ext cx="1103852" cy="713763"/>
          </a:xfrm>
          <a:prstGeom prst="roundRect">
            <a:avLst/>
          </a:prstGeom>
          <a:solidFill>
            <a:schemeClr val="accent3">
              <a:lumMod val="20000"/>
              <a:lumOff val="80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Progress Monitoring</a:t>
            </a:r>
            <a:endParaRPr lang="en-GB" sz="1000">
              <a:solidFill>
                <a:schemeClr val="tx1"/>
              </a:solidFill>
            </a:endParaRPr>
          </a:p>
        </p:txBody>
      </p:sp>
      <p:cxnSp>
        <p:nvCxnSpPr>
          <p:cNvPr id="38" name="Straight Connector 37">
            <a:extLst>
              <a:ext uri="{FF2B5EF4-FFF2-40B4-BE49-F238E27FC236}">
                <a16:creationId xmlns:a16="http://schemas.microsoft.com/office/drawing/2014/main" id="{30D95047-555B-CEA3-8E92-38EF026394EE}"/>
              </a:ext>
            </a:extLst>
          </p:cNvPr>
          <p:cNvCxnSpPr>
            <a:cxnSpLocks/>
            <a:stCxn id="6" idx="2"/>
          </p:cNvCxnSpPr>
          <p:nvPr/>
        </p:nvCxnSpPr>
        <p:spPr>
          <a:xfrm flipH="1">
            <a:off x="6096019" y="1651074"/>
            <a:ext cx="1" cy="301773"/>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3544E49-CA60-F44F-4E6F-6C3DA1689D91}"/>
              </a:ext>
            </a:extLst>
          </p:cNvPr>
          <p:cNvCxnSpPr>
            <a:cxnSpLocks/>
            <a:stCxn id="8" idx="0"/>
          </p:cNvCxnSpPr>
          <p:nvPr/>
        </p:nvCxnSpPr>
        <p:spPr>
          <a:xfrm flipH="1" flipV="1">
            <a:off x="1273747" y="1952976"/>
            <a:ext cx="1" cy="167719"/>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0A653CB-274C-6869-D74F-8BBDAE2E7262}"/>
              </a:ext>
            </a:extLst>
          </p:cNvPr>
          <p:cNvCxnSpPr/>
          <p:nvPr/>
        </p:nvCxnSpPr>
        <p:spPr>
          <a:xfrm flipH="1" flipV="1">
            <a:off x="3177698" y="1952976"/>
            <a:ext cx="1" cy="167719"/>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C7905B9-5A4A-D4E2-413A-25E9F1B8BBEB}"/>
              </a:ext>
            </a:extLst>
          </p:cNvPr>
          <p:cNvCxnSpPr/>
          <p:nvPr/>
        </p:nvCxnSpPr>
        <p:spPr>
          <a:xfrm flipH="1" flipV="1">
            <a:off x="5081648" y="1952976"/>
            <a:ext cx="1" cy="167719"/>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7CC1ADB-9BE8-245F-ADBE-343B00B7097E}"/>
              </a:ext>
            </a:extLst>
          </p:cNvPr>
          <p:cNvCxnSpPr/>
          <p:nvPr/>
        </p:nvCxnSpPr>
        <p:spPr>
          <a:xfrm flipH="1" flipV="1">
            <a:off x="7027198" y="1952976"/>
            <a:ext cx="1" cy="167719"/>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EFA937FC-D6FC-8FB2-0AFE-7F43AB9E0EAE}"/>
              </a:ext>
            </a:extLst>
          </p:cNvPr>
          <p:cNvCxnSpPr/>
          <p:nvPr/>
        </p:nvCxnSpPr>
        <p:spPr>
          <a:xfrm flipH="1" flipV="1">
            <a:off x="8972745" y="1952911"/>
            <a:ext cx="1" cy="167719"/>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CA34070-C145-BF2D-7AAB-1CD0F35F3557}"/>
              </a:ext>
            </a:extLst>
          </p:cNvPr>
          <p:cNvCxnSpPr/>
          <p:nvPr/>
        </p:nvCxnSpPr>
        <p:spPr>
          <a:xfrm flipH="1" flipV="1">
            <a:off x="10918292" y="1952911"/>
            <a:ext cx="1" cy="167719"/>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3958086F-6295-D083-E74D-ADF5065B72DE}"/>
              </a:ext>
            </a:extLst>
          </p:cNvPr>
          <p:cNvCxnSpPr/>
          <p:nvPr/>
        </p:nvCxnSpPr>
        <p:spPr>
          <a:xfrm>
            <a:off x="1273747" y="1952911"/>
            <a:ext cx="964454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F5F16E4F-6CA0-289B-DFD4-C0E1305D9450}"/>
              </a:ext>
            </a:extLst>
          </p:cNvPr>
          <p:cNvCxnSpPr>
            <a:cxnSpLocks/>
          </p:cNvCxnSpPr>
          <p:nvPr/>
        </p:nvCxnSpPr>
        <p:spPr>
          <a:xfrm>
            <a:off x="2856471" y="2924575"/>
            <a:ext cx="0" cy="2334713"/>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2DBAECC6-B497-215F-E99E-D6FD35934D27}"/>
              </a:ext>
            </a:extLst>
          </p:cNvPr>
          <p:cNvCxnSpPr>
            <a:stCxn id="20" idx="1"/>
          </p:cNvCxnSpPr>
          <p:nvPr/>
        </p:nvCxnSpPr>
        <p:spPr>
          <a:xfrm flipH="1">
            <a:off x="2856471" y="3471034"/>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9CA17E6-5AD2-5943-1639-E643AA783688}"/>
              </a:ext>
            </a:extLst>
          </p:cNvPr>
          <p:cNvCxnSpPr/>
          <p:nvPr/>
        </p:nvCxnSpPr>
        <p:spPr>
          <a:xfrm flipH="1">
            <a:off x="2866258" y="4335274"/>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842231EA-EA81-9980-F264-67EBC52D4B3B}"/>
              </a:ext>
            </a:extLst>
          </p:cNvPr>
          <p:cNvCxnSpPr/>
          <p:nvPr/>
        </p:nvCxnSpPr>
        <p:spPr>
          <a:xfrm flipH="1">
            <a:off x="2866258" y="5259288"/>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FC1DCF66-3450-B71B-E726-33A6112A7781}"/>
              </a:ext>
            </a:extLst>
          </p:cNvPr>
          <p:cNvCxnSpPr/>
          <p:nvPr/>
        </p:nvCxnSpPr>
        <p:spPr>
          <a:xfrm flipH="1">
            <a:off x="6715757" y="3466284"/>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6D672C8C-F7B0-C9E1-EC50-4EA595287C3E}"/>
              </a:ext>
            </a:extLst>
          </p:cNvPr>
          <p:cNvCxnSpPr/>
          <p:nvPr/>
        </p:nvCxnSpPr>
        <p:spPr>
          <a:xfrm flipH="1">
            <a:off x="6709813" y="4364811"/>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4AB8835-AE5E-1598-71FB-6F7324CE26D2}"/>
              </a:ext>
            </a:extLst>
          </p:cNvPr>
          <p:cNvCxnSpPr>
            <a:cxnSpLocks/>
          </p:cNvCxnSpPr>
          <p:nvPr/>
        </p:nvCxnSpPr>
        <p:spPr>
          <a:xfrm>
            <a:off x="6709813" y="2924574"/>
            <a:ext cx="0" cy="1440237"/>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5951750C-4C60-B586-964B-267626675DB0}"/>
              </a:ext>
            </a:extLst>
          </p:cNvPr>
          <p:cNvCxnSpPr>
            <a:cxnSpLocks/>
          </p:cNvCxnSpPr>
          <p:nvPr/>
        </p:nvCxnSpPr>
        <p:spPr>
          <a:xfrm>
            <a:off x="8651517" y="2924575"/>
            <a:ext cx="0" cy="2334713"/>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3207E136-DFD5-B6D1-F6EA-1C87E3BA158F}"/>
              </a:ext>
            </a:extLst>
          </p:cNvPr>
          <p:cNvCxnSpPr/>
          <p:nvPr/>
        </p:nvCxnSpPr>
        <p:spPr>
          <a:xfrm flipH="1">
            <a:off x="8651517" y="3471034"/>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3655CEB-9F09-1297-F76A-2EBB0BD89428}"/>
              </a:ext>
            </a:extLst>
          </p:cNvPr>
          <p:cNvCxnSpPr/>
          <p:nvPr/>
        </p:nvCxnSpPr>
        <p:spPr>
          <a:xfrm flipH="1">
            <a:off x="8661304" y="4335274"/>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20E61526-48DF-034E-6A47-76D88302C26A}"/>
              </a:ext>
            </a:extLst>
          </p:cNvPr>
          <p:cNvCxnSpPr/>
          <p:nvPr/>
        </p:nvCxnSpPr>
        <p:spPr>
          <a:xfrm flipH="1">
            <a:off x="8661304" y="5259288"/>
            <a:ext cx="440422" cy="349"/>
          </a:xfrm>
          <a:prstGeom prst="line">
            <a:avLst/>
          </a:prstGeom>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5002666C-6D42-0AC4-5285-FF49AC307BF8}"/>
              </a:ext>
            </a:extLst>
          </p:cNvPr>
          <p:cNvSpPr>
            <a:spLocks noGrp="1"/>
          </p:cNvSpPr>
          <p:nvPr>
            <p:ph type="sldNum" sz="quarter" idx="12"/>
          </p:nvPr>
        </p:nvSpPr>
        <p:spPr/>
        <p:txBody>
          <a:bodyPr/>
          <a:lstStyle/>
          <a:p>
            <a:fld id="{330EA680-D336-4FF7-8B7A-9848BB0A1C32}" type="slidenum">
              <a:rPr lang="en-GB" smtClean="0"/>
              <a:t>7</a:t>
            </a:fld>
            <a:endParaRPr lang="en-GB"/>
          </a:p>
        </p:txBody>
      </p:sp>
      <p:sp>
        <p:nvSpPr>
          <p:cNvPr id="11" name="Rectangle: Rounded Corners 10">
            <a:extLst>
              <a:ext uri="{FF2B5EF4-FFF2-40B4-BE49-F238E27FC236}">
                <a16:creationId xmlns:a16="http://schemas.microsoft.com/office/drawing/2014/main" id="{4E00D815-F8E5-78AE-749F-6D2496799281}"/>
              </a:ext>
            </a:extLst>
          </p:cNvPr>
          <p:cNvSpPr/>
          <p:nvPr/>
        </p:nvSpPr>
        <p:spPr>
          <a:xfrm>
            <a:off x="11003576" y="3114151"/>
            <a:ext cx="1103852" cy="713763"/>
          </a:xfrm>
          <a:prstGeom prst="roundRect">
            <a:avLst/>
          </a:prstGeom>
          <a:solidFill>
            <a:schemeClr val="accent5">
              <a:lumMod val="40000"/>
              <a:lumOff val="6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Direct Operating Costs</a:t>
            </a:r>
            <a:endParaRPr lang="en-GB" sz="1000">
              <a:solidFill>
                <a:schemeClr val="tx1"/>
              </a:solidFill>
            </a:endParaRPr>
          </a:p>
        </p:txBody>
      </p:sp>
      <p:sp>
        <p:nvSpPr>
          <p:cNvPr id="13" name="Rectangle: Rounded Corners 12">
            <a:extLst>
              <a:ext uri="{FF2B5EF4-FFF2-40B4-BE49-F238E27FC236}">
                <a16:creationId xmlns:a16="http://schemas.microsoft.com/office/drawing/2014/main" id="{055094E3-A99B-E63C-860A-CE2CB982B503}"/>
              </a:ext>
            </a:extLst>
          </p:cNvPr>
          <p:cNvSpPr/>
          <p:nvPr/>
        </p:nvSpPr>
        <p:spPr>
          <a:xfrm>
            <a:off x="11003576" y="4008280"/>
            <a:ext cx="1103852" cy="713763"/>
          </a:xfrm>
          <a:prstGeom prst="roundRect">
            <a:avLst/>
          </a:prstGeom>
          <a:solidFill>
            <a:schemeClr val="accent5">
              <a:lumMod val="40000"/>
              <a:lumOff val="6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Manufacturing and Materials</a:t>
            </a:r>
            <a:endParaRPr lang="en-GB" sz="1000">
              <a:solidFill>
                <a:schemeClr val="tx1"/>
              </a:solidFill>
            </a:endParaRPr>
          </a:p>
        </p:txBody>
      </p:sp>
      <p:cxnSp>
        <p:nvCxnSpPr>
          <p:cNvPr id="15" name="Straight Connector 14">
            <a:extLst>
              <a:ext uri="{FF2B5EF4-FFF2-40B4-BE49-F238E27FC236}">
                <a16:creationId xmlns:a16="http://schemas.microsoft.com/office/drawing/2014/main" id="{5ABF4214-1AE5-6C0E-960F-856245864BD4}"/>
              </a:ext>
            </a:extLst>
          </p:cNvPr>
          <p:cNvCxnSpPr/>
          <p:nvPr/>
        </p:nvCxnSpPr>
        <p:spPr>
          <a:xfrm flipH="1">
            <a:off x="10563154" y="3466284"/>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7BDEC9C-EABB-B1F9-EF7D-557BFE79C7C9}"/>
              </a:ext>
            </a:extLst>
          </p:cNvPr>
          <p:cNvCxnSpPr/>
          <p:nvPr/>
        </p:nvCxnSpPr>
        <p:spPr>
          <a:xfrm flipH="1">
            <a:off x="10557210" y="4364811"/>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8AFA099-71E5-5C34-E42E-8EB2FD7C5139}"/>
              </a:ext>
            </a:extLst>
          </p:cNvPr>
          <p:cNvCxnSpPr>
            <a:cxnSpLocks/>
          </p:cNvCxnSpPr>
          <p:nvPr/>
        </p:nvCxnSpPr>
        <p:spPr>
          <a:xfrm>
            <a:off x="10557210" y="2924574"/>
            <a:ext cx="0" cy="1440237"/>
          </a:xfrm>
          <a:prstGeom prst="line">
            <a:avLst/>
          </a:prstGeom>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89A65D0E-7A8F-EFA3-E0CD-D30166D81ADB}"/>
              </a:ext>
            </a:extLst>
          </p:cNvPr>
          <p:cNvSpPr/>
          <p:nvPr/>
        </p:nvSpPr>
        <p:spPr>
          <a:xfrm>
            <a:off x="1361133" y="3114151"/>
            <a:ext cx="1103852" cy="713763"/>
          </a:xfrm>
          <a:prstGeom prst="roundRect">
            <a:avLst/>
          </a:prstGeom>
          <a:solidFill>
            <a:schemeClr val="tx2">
              <a:lumMod val="25000"/>
              <a:lumOff val="7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Design constraints</a:t>
            </a:r>
            <a:endParaRPr lang="en-GB" sz="1000">
              <a:solidFill>
                <a:schemeClr val="tx1"/>
              </a:solidFill>
            </a:endParaRPr>
          </a:p>
        </p:txBody>
      </p:sp>
      <p:sp>
        <p:nvSpPr>
          <p:cNvPr id="23" name="Rectangle: Rounded Corners 22">
            <a:extLst>
              <a:ext uri="{FF2B5EF4-FFF2-40B4-BE49-F238E27FC236}">
                <a16:creationId xmlns:a16="http://schemas.microsoft.com/office/drawing/2014/main" id="{AEBFBAC6-1A7B-9624-E972-EC61E37E4485}"/>
              </a:ext>
            </a:extLst>
          </p:cNvPr>
          <p:cNvSpPr/>
          <p:nvPr/>
        </p:nvSpPr>
        <p:spPr>
          <a:xfrm>
            <a:off x="1361133" y="4008280"/>
            <a:ext cx="1103852" cy="713763"/>
          </a:xfrm>
          <a:prstGeom prst="roundRect">
            <a:avLst/>
          </a:prstGeom>
          <a:solidFill>
            <a:schemeClr val="tx2">
              <a:lumMod val="25000"/>
              <a:lumOff val="7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Airworthiness</a:t>
            </a:r>
            <a:endParaRPr lang="en-GB" sz="1000">
              <a:solidFill>
                <a:schemeClr val="tx1"/>
              </a:solidFill>
            </a:endParaRPr>
          </a:p>
        </p:txBody>
      </p:sp>
      <p:cxnSp>
        <p:nvCxnSpPr>
          <p:cNvPr id="25" name="Straight Connector 24">
            <a:extLst>
              <a:ext uri="{FF2B5EF4-FFF2-40B4-BE49-F238E27FC236}">
                <a16:creationId xmlns:a16="http://schemas.microsoft.com/office/drawing/2014/main" id="{F794C815-7FFD-1C6C-34E5-4C8E32C5C578}"/>
              </a:ext>
            </a:extLst>
          </p:cNvPr>
          <p:cNvCxnSpPr/>
          <p:nvPr/>
        </p:nvCxnSpPr>
        <p:spPr>
          <a:xfrm flipH="1">
            <a:off x="920711" y="3466284"/>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E73FB12-C399-3AA8-D686-247740F50A67}"/>
              </a:ext>
            </a:extLst>
          </p:cNvPr>
          <p:cNvCxnSpPr/>
          <p:nvPr/>
        </p:nvCxnSpPr>
        <p:spPr>
          <a:xfrm flipH="1">
            <a:off x="914767" y="4364811"/>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93E64C6F-641B-3ABD-CD88-26B4C1892483}"/>
              </a:ext>
            </a:extLst>
          </p:cNvPr>
          <p:cNvCxnSpPr>
            <a:cxnSpLocks/>
          </p:cNvCxnSpPr>
          <p:nvPr/>
        </p:nvCxnSpPr>
        <p:spPr>
          <a:xfrm>
            <a:off x="914767" y="2924574"/>
            <a:ext cx="0" cy="1440237"/>
          </a:xfrm>
          <a:prstGeom prst="line">
            <a:avLst/>
          </a:prstGeom>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92954EC3-22DA-D050-5A0F-2AE2929C7855}"/>
              </a:ext>
            </a:extLst>
          </p:cNvPr>
          <p:cNvSpPr/>
          <p:nvPr/>
        </p:nvSpPr>
        <p:spPr>
          <a:xfrm>
            <a:off x="5187035" y="3113800"/>
            <a:ext cx="1103852" cy="713763"/>
          </a:xfrm>
          <a:prstGeom prst="roundRect">
            <a:avLst/>
          </a:prstGeom>
          <a:solidFill>
            <a:schemeClr val="accent2">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Risk Ratings</a:t>
            </a:r>
            <a:endParaRPr lang="en-GB" sz="1000">
              <a:solidFill>
                <a:schemeClr val="tx1"/>
              </a:solidFill>
            </a:endParaRPr>
          </a:p>
        </p:txBody>
      </p:sp>
      <p:sp>
        <p:nvSpPr>
          <p:cNvPr id="31" name="Rectangle: Rounded Corners 30">
            <a:extLst>
              <a:ext uri="{FF2B5EF4-FFF2-40B4-BE49-F238E27FC236}">
                <a16:creationId xmlns:a16="http://schemas.microsoft.com/office/drawing/2014/main" id="{8AF03178-9464-00ED-5C33-599F8A85AE91}"/>
              </a:ext>
            </a:extLst>
          </p:cNvPr>
          <p:cNvSpPr/>
          <p:nvPr/>
        </p:nvSpPr>
        <p:spPr>
          <a:xfrm>
            <a:off x="5187035" y="4007929"/>
            <a:ext cx="1103852" cy="713763"/>
          </a:xfrm>
          <a:prstGeom prst="roundRect">
            <a:avLst/>
          </a:prstGeom>
          <a:solidFill>
            <a:schemeClr val="accent2">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Risk mitigation</a:t>
            </a:r>
            <a:endParaRPr lang="en-GB" sz="1000">
              <a:solidFill>
                <a:schemeClr val="tx1"/>
              </a:solidFill>
            </a:endParaRPr>
          </a:p>
        </p:txBody>
      </p:sp>
      <p:cxnSp>
        <p:nvCxnSpPr>
          <p:cNvPr id="33" name="Straight Connector 32">
            <a:extLst>
              <a:ext uri="{FF2B5EF4-FFF2-40B4-BE49-F238E27FC236}">
                <a16:creationId xmlns:a16="http://schemas.microsoft.com/office/drawing/2014/main" id="{03A81E3B-357F-209A-8F8B-125C52A78FC6}"/>
              </a:ext>
            </a:extLst>
          </p:cNvPr>
          <p:cNvCxnSpPr/>
          <p:nvPr/>
        </p:nvCxnSpPr>
        <p:spPr>
          <a:xfrm flipH="1">
            <a:off x="4746613" y="3465933"/>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C99A2014-DA77-311A-8837-2D2FEC229BD5}"/>
              </a:ext>
            </a:extLst>
          </p:cNvPr>
          <p:cNvCxnSpPr/>
          <p:nvPr/>
        </p:nvCxnSpPr>
        <p:spPr>
          <a:xfrm flipH="1">
            <a:off x="4740669" y="4364460"/>
            <a:ext cx="440422" cy="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26F7C7A6-BB76-DDBF-97EF-B299195311A5}"/>
              </a:ext>
            </a:extLst>
          </p:cNvPr>
          <p:cNvCxnSpPr>
            <a:cxnSpLocks/>
          </p:cNvCxnSpPr>
          <p:nvPr/>
        </p:nvCxnSpPr>
        <p:spPr>
          <a:xfrm>
            <a:off x="4740669" y="2924223"/>
            <a:ext cx="0" cy="1440237"/>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7744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D04C9-5BF9-DA9C-570B-ADF498B59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BBC88-9E28-B49E-DC2D-005F5369F092}"/>
              </a:ext>
            </a:extLst>
          </p:cNvPr>
          <p:cNvSpPr>
            <a:spLocks noGrp="1"/>
          </p:cNvSpPr>
          <p:nvPr>
            <p:ph type="title"/>
          </p:nvPr>
        </p:nvSpPr>
        <p:spPr>
          <a:xfrm>
            <a:off x="154497" y="-27632"/>
            <a:ext cx="10515600" cy="1325563"/>
          </a:xfrm>
        </p:spPr>
        <p:txBody>
          <a:bodyPr/>
          <a:lstStyle/>
          <a:p>
            <a:r>
              <a:rPr lang="en-US"/>
              <a:t>Timeline</a:t>
            </a:r>
          </a:p>
        </p:txBody>
      </p:sp>
      <p:sp>
        <p:nvSpPr>
          <p:cNvPr id="3" name="Content Placeholder 2">
            <a:extLst>
              <a:ext uri="{FF2B5EF4-FFF2-40B4-BE49-F238E27FC236}">
                <a16:creationId xmlns:a16="http://schemas.microsoft.com/office/drawing/2014/main" id="{5B250503-ACAB-CE42-613B-6F3B6E89D33D}"/>
              </a:ext>
            </a:extLst>
          </p:cNvPr>
          <p:cNvSpPr>
            <a:spLocks noGrp="1"/>
          </p:cNvSpPr>
          <p:nvPr>
            <p:ph idx="1"/>
          </p:nvPr>
        </p:nvSpPr>
        <p:spPr>
          <a:xfrm>
            <a:off x="188751" y="5191769"/>
            <a:ext cx="8300908" cy="1018397"/>
          </a:xfrm>
        </p:spPr>
        <p:txBody>
          <a:bodyPr>
            <a:normAutofit fontScale="92500" lnSpcReduction="20000"/>
          </a:bodyPr>
          <a:lstStyle/>
          <a:p>
            <a:r>
              <a:rPr lang="en-US"/>
              <a:t>Next focus should be on an initial design concept</a:t>
            </a:r>
          </a:p>
          <a:p>
            <a:pPr lvl="1"/>
            <a:r>
              <a:rPr lang="en-US"/>
              <a:t>Sub-teams focusing on chapters linked to design (Costs, Algorithms, Risk Management…)</a:t>
            </a:r>
          </a:p>
        </p:txBody>
      </p:sp>
      <p:graphicFrame>
        <p:nvGraphicFramePr>
          <p:cNvPr id="5" name="Table 4">
            <a:extLst>
              <a:ext uri="{FF2B5EF4-FFF2-40B4-BE49-F238E27FC236}">
                <a16:creationId xmlns:a16="http://schemas.microsoft.com/office/drawing/2014/main" id="{D4D80297-F071-F1DD-C97C-58FC8DAE0187}"/>
              </a:ext>
            </a:extLst>
          </p:cNvPr>
          <p:cNvGraphicFramePr>
            <a:graphicFrameLocks noGrp="1"/>
          </p:cNvGraphicFramePr>
          <p:nvPr>
            <p:extLst>
              <p:ext uri="{D42A27DB-BD31-4B8C-83A1-F6EECF244321}">
                <p14:modId xmlns:p14="http://schemas.microsoft.com/office/powerpoint/2010/main" val="997171836"/>
              </p:ext>
            </p:extLst>
          </p:nvPr>
        </p:nvGraphicFramePr>
        <p:xfrm>
          <a:off x="8600493" y="2301239"/>
          <a:ext cx="3263317" cy="2758440"/>
        </p:xfrm>
        <a:graphic>
          <a:graphicData uri="http://schemas.openxmlformats.org/drawingml/2006/table">
            <a:tbl>
              <a:tblPr>
                <a:tableStyleId>{5C22544A-7EE6-4342-B048-85BDC9FD1C3A}</a:tableStyleId>
              </a:tblPr>
              <a:tblGrid>
                <a:gridCol w="2367455">
                  <a:extLst>
                    <a:ext uri="{9D8B030D-6E8A-4147-A177-3AD203B41FA5}">
                      <a16:colId xmlns:a16="http://schemas.microsoft.com/office/drawing/2014/main" val="1079957250"/>
                    </a:ext>
                  </a:extLst>
                </a:gridCol>
                <a:gridCol w="895862">
                  <a:extLst>
                    <a:ext uri="{9D8B030D-6E8A-4147-A177-3AD203B41FA5}">
                      <a16:colId xmlns:a16="http://schemas.microsoft.com/office/drawing/2014/main" val="1679538848"/>
                    </a:ext>
                  </a:extLst>
                </a:gridCol>
              </a:tblGrid>
              <a:tr h="165809">
                <a:tc>
                  <a:txBody>
                    <a:bodyPr/>
                    <a:lstStyle/>
                    <a:p>
                      <a:pPr algn="ctr" fontAlgn="b">
                        <a:buNone/>
                      </a:pPr>
                      <a:r>
                        <a:rPr lang="en-GB" sz="1100" b="1" u="none" strike="noStrike">
                          <a:effectLst/>
                        </a:rPr>
                        <a:t>Task</a:t>
                      </a:r>
                      <a:endParaRPr lang="en-GB" sz="1100" b="1"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b">
                        <a:buNone/>
                      </a:pPr>
                      <a:r>
                        <a:rPr lang="en-GB" sz="1100" b="1" u="none" strike="noStrike">
                          <a:effectLst/>
                        </a:rPr>
                        <a:t>Required in</a:t>
                      </a:r>
                      <a:endParaRPr lang="en-GB" sz="1100" b="1"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94734640"/>
                  </a:ext>
                </a:extLst>
              </a:tr>
              <a:tr h="165809">
                <a:tc>
                  <a:txBody>
                    <a:bodyPr/>
                    <a:lstStyle/>
                    <a:p>
                      <a:pPr algn="l" fontAlgn="b">
                        <a:buNone/>
                      </a:pPr>
                      <a:r>
                        <a:rPr lang="en-GB" sz="1100" u="none" strike="noStrike">
                          <a:effectLst/>
                        </a:rPr>
                        <a:t>Requirements Analysis</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tx2">
                        <a:lumMod val="25000"/>
                        <a:lumOff val="75000"/>
                      </a:schemeClr>
                    </a:solidFill>
                  </a:tcPr>
                </a:tc>
                <a:tc>
                  <a:txBody>
                    <a:bodyPr/>
                    <a:lstStyle/>
                    <a:p>
                      <a:pPr algn="l" fontAlgn="b">
                        <a:buNone/>
                      </a:pPr>
                      <a:r>
                        <a:rPr lang="en-GB" sz="1100" u="none" strike="noStrike">
                          <a:effectLst/>
                        </a:rPr>
                        <a:t>SSR</a:t>
                      </a:r>
                      <a:endParaRPr lang="en-GB" sz="1100" b="0"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solidFill>
                      <a:schemeClr val="tx2">
                        <a:lumMod val="25000"/>
                        <a:lumOff val="75000"/>
                      </a:schemeClr>
                    </a:solidFill>
                  </a:tcPr>
                </a:tc>
                <a:extLst>
                  <a:ext uri="{0D108BD9-81ED-4DB2-BD59-A6C34878D82A}">
                    <a16:rowId xmlns:a16="http://schemas.microsoft.com/office/drawing/2014/main" val="3465745602"/>
                  </a:ext>
                </a:extLst>
              </a:tr>
              <a:tr h="165809">
                <a:tc>
                  <a:txBody>
                    <a:bodyPr/>
                    <a:lstStyle/>
                    <a:p>
                      <a:pPr algn="l" fontAlgn="b">
                        <a:buNone/>
                      </a:pPr>
                      <a:r>
                        <a:rPr lang="en-GB" sz="1100" u="none" strike="noStrike">
                          <a:effectLst/>
                        </a:rPr>
                        <a:t>Project Risk Management</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accent2">
                        <a:lumMod val="40000"/>
                        <a:lumOff val="60000"/>
                      </a:schemeClr>
                    </a:solidFill>
                  </a:tcPr>
                </a:tc>
                <a:tc>
                  <a:txBody>
                    <a:bodyPr/>
                    <a:lstStyle/>
                    <a:p>
                      <a:pPr algn="l" fontAlgn="b">
                        <a:buNone/>
                      </a:pPr>
                      <a:r>
                        <a:rPr lang="en-GB" sz="1100" u="none" strike="noStrike">
                          <a:effectLst/>
                        </a:rPr>
                        <a:t>SSR,PDR,CDR</a:t>
                      </a:r>
                      <a:endParaRPr lang="en-GB" sz="1100" b="0"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solidFill>
                      <a:schemeClr val="accent2">
                        <a:lumMod val="40000"/>
                        <a:lumOff val="60000"/>
                      </a:schemeClr>
                    </a:solidFill>
                  </a:tcPr>
                </a:tc>
                <a:extLst>
                  <a:ext uri="{0D108BD9-81ED-4DB2-BD59-A6C34878D82A}">
                    <a16:rowId xmlns:a16="http://schemas.microsoft.com/office/drawing/2014/main" val="3454292181"/>
                  </a:ext>
                </a:extLst>
              </a:tr>
              <a:tr h="165809">
                <a:tc>
                  <a:txBody>
                    <a:bodyPr/>
                    <a:lstStyle/>
                    <a:p>
                      <a:pPr algn="l" fontAlgn="b">
                        <a:buNone/>
                      </a:pPr>
                      <a:r>
                        <a:rPr lang="en-GB" sz="1100" u="none" strike="noStrike">
                          <a:effectLst/>
                        </a:rPr>
                        <a:t>Project Management</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accent2">
                        <a:lumMod val="40000"/>
                        <a:lumOff val="60000"/>
                      </a:schemeClr>
                    </a:solidFill>
                  </a:tcPr>
                </a:tc>
                <a:tc>
                  <a:txBody>
                    <a:bodyPr/>
                    <a:lstStyle/>
                    <a:p>
                      <a:pPr algn="l" fontAlgn="b">
                        <a:buNone/>
                      </a:pPr>
                      <a:r>
                        <a:rPr lang="en-GB" sz="1100" u="none" strike="noStrike">
                          <a:effectLst/>
                        </a:rPr>
                        <a:t>SSR,PDR,CDR</a:t>
                      </a:r>
                      <a:endParaRPr lang="en-GB" sz="1100" b="0"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solidFill>
                      <a:schemeClr val="accent2">
                        <a:lumMod val="40000"/>
                        <a:lumOff val="60000"/>
                      </a:schemeClr>
                    </a:solidFill>
                  </a:tcPr>
                </a:tc>
                <a:extLst>
                  <a:ext uri="{0D108BD9-81ED-4DB2-BD59-A6C34878D82A}">
                    <a16:rowId xmlns:a16="http://schemas.microsoft.com/office/drawing/2014/main" val="2663660955"/>
                  </a:ext>
                </a:extLst>
              </a:tr>
              <a:tr h="165809">
                <a:tc>
                  <a:txBody>
                    <a:bodyPr/>
                    <a:lstStyle/>
                    <a:p>
                      <a:pPr algn="l" fontAlgn="b">
                        <a:buNone/>
                      </a:pPr>
                      <a:r>
                        <a:rPr lang="en-GB" sz="1100" u="none" strike="noStrike">
                          <a:effectLst/>
                        </a:rPr>
                        <a:t>Programme Costs</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accent2">
                        <a:lumMod val="40000"/>
                        <a:lumOff val="60000"/>
                      </a:schemeClr>
                    </a:solidFill>
                  </a:tcPr>
                </a:tc>
                <a:tc>
                  <a:txBody>
                    <a:bodyPr/>
                    <a:lstStyle/>
                    <a:p>
                      <a:pPr algn="l" fontAlgn="b">
                        <a:buNone/>
                      </a:pPr>
                      <a:r>
                        <a:rPr lang="en-GB" sz="1100" u="none" strike="noStrike">
                          <a:effectLst/>
                        </a:rPr>
                        <a:t>SSR,PDR,CDR</a:t>
                      </a:r>
                      <a:endParaRPr lang="en-GB" sz="1100" b="0"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solidFill>
                      <a:schemeClr val="accent2">
                        <a:lumMod val="40000"/>
                        <a:lumOff val="60000"/>
                      </a:schemeClr>
                    </a:solidFill>
                  </a:tcPr>
                </a:tc>
                <a:extLst>
                  <a:ext uri="{0D108BD9-81ED-4DB2-BD59-A6C34878D82A}">
                    <a16:rowId xmlns:a16="http://schemas.microsoft.com/office/drawing/2014/main" val="2084904127"/>
                  </a:ext>
                </a:extLst>
              </a:tr>
              <a:tr h="325567">
                <a:tc>
                  <a:txBody>
                    <a:bodyPr/>
                    <a:lstStyle/>
                    <a:p>
                      <a:pPr algn="l" fontAlgn="b">
                        <a:buNone/>
                      </a:pPr>
                      <a:r>
                        <a:rPr lang="en-GB" sz="1100" u="none" strike="noStrike">
                          <a:effectLst/>
                        </a:rPr>
                        <a:t>Algorithms/Formulae/Constraints used</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l" fontAlgn="b">
                        <a:buNone/>
                      </a:pPr>
                      <a:r>
                        <a:rPr lang="en-GB" sz="1100" u="none" strike="noStrike">
                          <a:effectLst/>
                        </a:rPr>
                        <a:t>PDR,CDR</a:t>
                      </a:r>
                      <a:endParaRPr lang="en-GB" sz="1100" b="0"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3859891312"/>
                  </a:ext>
                </a:extLst>
              </a:tr>
              <a:tr h="330270">
                <a:tc>
                  <a:txBody>
                    <a:bodyPr/>
                    <a:lstStyle/>
                    <a:p>
                      <a:pPr algn="l" fontAlgn="b">
                        <a:buNone/>
                      </a:pPr>
                      <a:r>
                        <a:rPr lang="en-GB" sz="1100" u="none" strike="noStrike">
                          <a:effectLst/>
                        </a:rPr>
                        <a:t>Current Design Concepts and Predicted System Characteristics</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l" fontAlgn="ctr">
                        <a:buNone/>
                      </a:pPr>
                      <a:r>
                        <a:rPr lang="en-GB" sz="1100" u="none" strike="noStrike">
                          <a:effectLst/>
                        </a:rPr>
                        <a:t>PDR,CDR</a:t>
                      </a:r>
                      <a:endParaRPr lang="en-GB" sz="11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1146639106"/>
                  </a:ext>
                </a:extLst>
              </a:tr>
              <a:tr h="165809">
                <a:tc>
                  <a:txBody>
                    <a:bodyPr/>
                    <a:lstStyle/>
                    <a:p>
                      <a:pPr algn="l" fontAlgn="b">
                        <a:buNone/>
                      </a:pPr>
                      <a:r>
                        <a:rPr lang="en-GB" sz="1100" u="none" strike="noStrike">
                          <a:effectLst/>
                        </a:rPr>
                        <a:t>Design Options Considered</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l" fontAlgn="b">
                        <a:buNone/>
                      </a:pPr>
                      <a:r>
                        <a:rPr lang="en-GB" sz="1100" u="none" strike="noStrike">
                          <a:effectLst/>
                        </a:rPr>
                        <a:t>PDR,CDR</a:t>
                      </a:r>
                      <a:endParaRPr lang="en-GB" sz="1100" b="0"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3676497519"/>
                  </a:ext>
                </a:extLst>
              </a:tr>
              <a:tr h="165809">
                <a:tc>
                  <a:txBody>
                    <a:bodyPr/>
                    <a:lstStyle/>
                    <a:p>
                      <a:pPr algn="l" fontAlgn="b">
                        <a:buNone/>
                      </a:pPr>
                      <a:r>
                        <a:rPr lang="en-GB" sz="1100" u="none" strike="noStrike">
                          <a:effectLst/>
                        </a:rPr>
                        <a:t>Verification Planning</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l" fontAlgn="b">
                        <a:buNone/>
                      </a:pPr>
                      <a:r>
                        <a:rPr lang="en-GB" sz="1100" u="none" strike="noStrike">
                          <a:effectLst/>
                        </a:rPr>
                        <a:t>PDR,CDR</a:t>
                      </a:r>
                      <a:endParaRPr lang="en-GB" sz="1100" b="0"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3780259293"/>
                  </a:ext>
                </a:extLst>
              </a:tr>
              <a:tr h="165809">
                <a:tc>
                  <a:txBody>
                    <a:bodyPr/>
                    <a:lstStyle/>
                    <a:p>
                      <a:pPr algn="l" fontAlgn="b">
                        <a:buNone/>
                      </a:pPr>
                      <a:r>
                        <a:rPr lang="en-GB" sz="1100" u="none" strike="noStrike">
                          <a:effectLst/>
                        </a:rPr>
                        <a:t>Interface List</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l" fontAlgn="b">
                        <a:buNone/>
                      </a:pPr>
                      <a:r>
                        <a:rPr lang="en-GB" sz="1100" u="none" strike="noStrike">
                          <a:effectLst/>
                        </a:rPr>
                        <a:t>PDR,CDR</a:t>
                      </a:r>
                      <a:endParaRPr lang="en-GB" sz="1100" b="0"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1745841027"/>
                  </a:ext>
                </a:extLst>
              </a:tr>
              <a:tr h="330270">
                <a:tc>
                  <a:txBody>
                    <a:bodyPr/>
                    <a:lstStyle/>
                    <a:p>
                      <a:pPr algn="l" fontAlgn="b">
                        <a:buNone/>
                      </a:pPr>
                      <a:r>
                        <a:rPr lang="en-GB" sz="1100" u="none" strike="noStrike">
                          <a:effectLst/>
                        </a:rPr>
                        <a:t>Configuration Management List and Changes since Initial Design</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solidFill>
                      <a:schemeClr val="accent5">
                        <a:lumMod val="20000"/>
                        <a:lumOff val="80000"/>
                      </a:schemeClr>
                    </a:solidFill>
                  </a:tcPr>
                </a:tc>
                <a:tc>
                  <a:txBody>
                    <a:bodyPr/>
                    <a:lstStyle/>
                    <a:p>
                      <a:pPr algn="l" fontAlgn="ctr">
                        <a:buNone/>
                      </a:pPr>
                      <a:r>
                        <a:rPr lang="en-GB" sz="1100" u="none" strike="noStrike">
                          <a:effectLst/>
                        </a:rPr>
                        <a:t>CDR</a:t>
                      </a:r>
                      <a:endParaRPr lang="en-GB" sz="11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solidFill>
                      <a:schemeClr val="accent5">
                        <a:lumMod val="20000"/>
                        <a:lumOff val="80000"/>
                      </a:schemeClr>
                    </a:solidFill>
                  </a:tcPr>
                </a:tc>
                <a:extLst>
                  <a:ext uri="{0D108BD9-81ED-4DB2-BD59-A6C34878D82A}">
                    <a16:rowId xmlns:a16="http://schemas.microsoft.com/office/drawing/2014/main" val="1653417256"/>
                  </a:ext>
                </a:extLst>
              </a:tr>
              <a:tr h="325567">
                <a:tc>
                  <a:txBody>
                    <a:bodyPr/>
                    <a:lstStyle/>
                    <a:p>
                      <a:pPr algn="l" fontAlgn="b">
                        <a:buNone/>
                      </a:pPr>
                      <a:r>
                        <a:rPr lang="en-GB" sz="1100" u="none" strike="noStrike">
                          <a:effectLst/>
                        </a:rPr>
                        <a:t>Conclusions and Further Improvements</a:t>
                      </a:r>
                      <a:endParaRPr lang="en-GB"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b">
                        <a:buNone/>
                      </a:pPr>
                      <a:r>
                        <a:rPr lang="en-GB" sz="1100" u="none" strike="noStrike">
                          <a:effectLst/>
                        </a:rPr>
                        <a:t>CDR</a:t>
                      </a:r>
                      <a:endParaRPr lang="en-GB" sz="1100" b="0" i="0" u="none" strike="noStrike">
                        <a:solidFill>
                          <a:srgbClr val="000000"/>
                        </a:solidFill>
                        <a:effectLst/>
                        <a:latin typeface="Aptos Narrow" panose="020B0004020202020204" pitchFamily="34" charset="0"/>
                      </a:endParaRPr>
                    </a:p>
                  </a:txBody>
                  <a:tcPr marL="6350" marR="6350" marT="635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914946734"/>
                  </a:ext>
                </a:extLst>
              </a:tr>
            </a:tbl>
          </a:graphicData>
        </a:graphic>
      </p:graphicFrame>
      <p:grpSp>
        <p:nvGrpSpPr>
          <p:cNvPr id="12" name="Group 11">
            <a:extLst>
              <a:ext uri="{FF2B5EF4-FFF2-40B4-BE49-F238E27FC236}">
                <a16:creationId xmlns:a16="http://schemas.microsoft.com/office/drawing/2014/main" id="{B201A41F-A79B-3597-E333-AB5388B063D0}"/>
              </a:ext>
            </a:extLst>
          </p:cNvPr>
          <p:cNvGrpSpPr/>
          <p:nvPr/>
        </p:nvGrpSpPr>
        <p:grpSpPr>
          <a:xfrm>
            <a:off x="2141220" y="1115112"/>
            <a:ext cx="7909560" cy="777240"/>
            <a:chOff x="1977956" y="1471672"/>
            <a:chExt cx="7909560" cy="777240"/>
          </a:xfrm>
        </p:grpSpPr>
        <p:sp>
          <p:nvSpPr>
            <p:cNvPr id="7" name="Milestone SRR">
              <a:extLst>
                <a:ext uri="{FF2B5EF4-FFF2-40B4-BE49-F238E27FC236}">
                  <a16:creationId xmlns:a16="http://schemas.microsoft.com/office/drawing/2014/main" id="{25AB3A39-365B-553F-24FD-597EA14C4916}"/>
                </a:ext>
              </a:extLst>
            </p:cNvPr>
            <p:cNvSpPr/>
            <p:nvPr/>
          </p:nvSpPr>
          <p:spPr>
            <a:xfrm>
              <a:off x="1977956" y="1471672"/>
              <a:ext cx="2697480" cy="777240"/>
            </a:xfrm>
            <a:prstGeom prst="homePlat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1800" b="1">
                  <a:solidFill>
                    <a:srgbClr val="FFFFFF"/>
                  </a:solidFill>
                </a:rPr>
                <a:t>SRR</a:t>
              </a:r>
            </a:p>
            <a:p>
              <a:pPr algn="ctr"/>
              <a:r>
                <a:rPr sz="1300" b="0">
                  <a:solidFill>
                    <a:srgbClr val="FFFFFF"/>
                  </a:solidFill>
                </a:rPr>
                <a:t>Sem 1 · Week 4</a:t>
              </a:r>
            </a:p>
          </p:txBody>
        </p:sp>
        <p:sp>
          <p:nvSpPr>
            <p:cNvPr id="9" name="Milestone PDR">
              <a:extLst>
                <a:ext uri="{FF2B5EF4-FFF2-40B4-BE49-F238E27FC236}">
                  <a16:creationId xmlns:a16="http://schemas.microsoft.com/office/drawing/2014/main" id="{4E7A95DC-508E-45FE-73CA-74C195AC3B38}"/>
                </a:ext>
              </a:extLst>
            </p:cNvPr>
            <p:cNvSpPr/>
            <p:nvPr/>
          </p:nvSpPr>
          <p:spPr>
            <a:xfrm>
              <a:off x="4583996" y="1471672"/>
              <a:ext cx="2697480" cy="777240"/>
            </a:xfrm>
            <a:prstGeom prst="chevron">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1800" b="1">
                  <a:solidFill>
                    <a:srgbClr val="FFFFFF"/>
                  </a:solidFill>
                </a:rPr>
                <a:t>PDR</a:t>
              </a:r>
            </a:p>
            <a:p>
              <a:pPr algn="ctr"/>
              <a:r>
                <a:rPr sz="1300" b="0">
                  <a:solidFill>
                    <a:srgbClr val="FFFFFF"/>
                  </a:solidFill>
                </a:rPr>
                <a:t>Sem 1 · Week 11</a:t>
              </a:r>
            </a:p>
          </p:txBody>
        </p:sp>
        <p:sp>
          <p:nvSpPr>
            <p:cNvPr id="11" name="Milestone CDR">
              <a:extLst>
                <a:ext uri="{FF2B5EF4-FFF2-40B4-BE49-F238E27FC236}">
                  <a16:creationId xmlns:a16="http://schemas.microsoft.com/office/drawing/2014/main" id="{664C400C-EEE9-AE42-EFB4-D036F5CCC1B4}"/>
                </a:ext>
              </a:extLst>
            </p:cNvPr>
            <p:cNvSpPr/>
            <p:nvPr/>
          </p:nvSpPr>
          <p:spPr>
            <a:xfrm>
              <a:off x="7190036" y="1471672"/>
              <a:ext cx="2697480" cy="777240"/>
            </a:xfrm>
            <a:prstGeom prst="chevron">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1800" b="1">
                  <a:solidFill>
                    <a:srgbClr val="0E2841"/>
                  </a:solidFill>
                </a:rPr>
                <a:t>CDR</a:t>
              </a:r>
            </a:p>
            <a:p>
              <a:pPr algn="ctr"/>
              <a:r>
                <a:rPr sz="1300" b="0">
                  <a:solidFill>
                    <a:srgbClr val="0E2841"/>
                  </a:solidFill>
                </a:rPr>
                <a:t>Sem 2 · Week 7</a:t>
              </a:r>
            </a:p>
          </p:txBody>
        </p:sp>
      </p:grpSp>
      <p:graphicFrame>
        <p:nvGraphicFramePr>
          <p:cNvPr id="14" name="Chart 13">
            <a:extLst>
              <a:ext uri="{FF2B5EF4-FFF2-40B4-BE49-F238E27FC236}">
                <a16:creationId xmlns:a16="http://schemas.microsoft.com/office/drawing/2014/main" id="{D3B44F01-27EF-C0E1-EE45-4E0DDF4958C5}"/>
              </a:ext>
            </a:extLst>
          </p:cNvPr>
          <p:cNvGraphicFramePr>
            <a:graphicFrameLocks/>
          </p:cNvGraphicFramePr>
          <p:nvPr>
            <p:extLst>
              <p:ext uri="{D42A27DB-BD31-4B8C-83A1-F6EECF244321}">
                <p14:modId xmlns:p14="http://schemas.microsoft.com/office/powerpoint/2010/main" val="307463760"/>
              </p:ext>
            </p:extLst>
          </p:nvPr>
        </p:nvGraphicFramePr>
        <p:xfrm>
          <a:off x="188751" y="2305209"/>
          <a:ext cx="8300908" cy="2471717"/>
        </p:xfrm>
        <a:graphic>
          <a:graphicData uri="http://schemas.openxmlformats.org/drawingml/2006/chart">
            <c:chart xmlns:c="http://schemas.openxmlformats.org/drawingml/2006/chart" xmlns:r="http://schemas.openxmlformats.org/officeDocument/2006/relationships" r:id="rId3"/>
          </a:graphicData>
        </a:graphic>
      </p:graphicFrame>
      <p:cxnSp>
        <p:nvCxnSpPr>
          <p:cNvPr id="18" name="Straight Connector 17">
            <a:extLst>
              <a:ext uri="{FF2B5EF4-FFF2-40B4-BE49-F238E27FC236}">
                <a16:creationId xmlns:a16="http://schemas.microsoft.com/office/drawing/2014/main" id="{8DA8F203-F07B-4B5A-74C8-C20F8ABAB465}"/>
              </a:ext>
            </a:extLst>
          </p:cNvPr>
          <p:cNvCxnSpPr>
            <a:cxnSpLocks/>
          </p:cNvCxnSpPr>
          <p:nvPr/>
        </p:nvCxnSpPr>
        <p:spPr>
          <a:xfrm>
            <a:off x="1792039" y="2537117"/>
            <a:ext cx="0" cy="2237824"/>
          </a:xfrm>
          <a:prstGeom prst="line">
            <a:avLst/>
          </a:prstGeom>
          <a:ln w="222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EDE870AF-B337-B2FD-E274-C018770B12C9}"/>
              </a:ext>
            </a:extLst>
          </p:cNvPr>
          <p:cNvSpPr txBox="1"/>
          <p:nvPr/>
        </p:nvSpPr>
        <p:spPr>
          <a:xfrm>
            <a:off x="1792038" y="2303224"/>
            <a:ext cx="1114697" cy="261610"/>
          </a:xfrm>
          <a:prstGeom prst="rect">
            <a:avLst/>
          </a:prstGeom>
          <a:noFill/>
        </p:spPr>
        <p:txBody>
          <a:bodyPr wrap="square" rtlCol="0">
            <a:spAutoFit/>
          </a:bodyPr>
          <a:lstStyle/>
          <a:p>
            <a:r>
              <a:rPr lang="en-US" sz="1100" b="1"/>
              <a:t>  SRR</a:t>
            </a:r>
            <a:endParaRPr lang="en-GB" b="1"/>
          </a:p>
        </p:txBody>
      </p:sp>
      <p:sp>
        <p:nvSpPr>
          <p:cNvPr id="22" name="Diamond 21">
            <a:extLst>
              <a:ext uri="{FF2B5EF4-FFF2-40B4-BE49-F238E27FC236}">
                <a16:creationId xmlns:a16="http://schemas.microsoft.com/office/drawing/2014/main" id="{2DC3F669-71F6-88D3-04D1-1DFD7564635C}"/>
              </a:ext>
            </a:extLst>
          </p:cNvPr>
          <p:cNvSpPr/>
          <p:nvPr/>
        </p:nvSpPr>
        <p:spPr>
          <a:xfrm>
            <a:off x="1733255" y="2373261"/>
            <a:ext cx="117566" cy="117566"/>
          </a:xfrm>
          <a:prstGeom prst="diamond">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a:extLst>
              <a:ext uri="{FF2B5EF4-FFF2-40B4-BE49-F238E27FC236}">
                <a16:creationId xmlns:a16="http://schemas.microsoft.com/office/drawing/2014/main" id="{A5BE1F5E-3073-5BC9-9115-D0530F09C2D4}"/>
              </a:ext>
            </a:extLst>
          </p:cNvPr>
          <p:cNvCxnSpPr>
            <a:cxnSpLocks/>
          </p:cNvCxnSpPr>
          <p:nvPr/>
        </p:nvCxnSpPr>
        <p:spPr>
          <a:xfrm>
            <a:off x="3464085" y="2539102"/>
            <a:ext cx="0" cy="2237824"/>
          </a:xfrm>
          <a:prstGeom prst="line">
            <a:avLst/>
          </a:prstGeom>
          <a:ln w="222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TextBox 26">
            <a:extLst>
              <a:ext uri="{FF2B5EF4-FFF2-40B4-BE49-F238E27FC236}">
                <a16:creationId xmlns:a16="http://schemas.microsoft.com/office/drawing/2014/main" id="{9CDD0ED9-508D-3D85-21BA-160695A75661}"/>
              </a:ext>
            </a:extLst>
          </p:cNvPr>
          <p:cNvSpPr txBox="1"/>
          <p:nvPr/>
        </p:nvSpPr>
        <p:spPr>
          <a:xfrm>
            <a:off x="3464084" y="2305209"/>
            <a:ext cx="1114697" cy="261610"/>
          </a:xfrm>
          <a:prstGeom prst="rect">
            <a:avLst/>
          </a:prstGeom>
          <a:noFill/>
        </p:spPr>
        <p:txBody>
          <a:bodyPr wrap="square" rtlCol="0">
            <a:spAutoFit/>
          </a:bodyPr>
          <a:lstStyle/>
          <a:p>
            <a:r>
              <a:rPr lang="en-US" sz="1100" b="1"/>
              <a:t>  PDR</a:t>
            </a:r>
            <a:endParaRPr lang="en-GB" b="1"/>
          </a:p>
        </p:txBody>
      </p:sp>
      <p:sp>
        <p:nvSpPr>
          <p:cNvPr id="28" name="Diamond 27">
            <a:extLst>
              <a:ext uri="{FF2B5EF4-FFF2-40B4-BE49-F238E27FC236}">
                <a16:creationId xmlns:a16="http://schemas.microsoft.com/office/drawing/2014/main" id="{FD487C5D-E0AD-463C-F97D-F3E43217F9C0}"/>
              </a:ext>
            </a:extLst>
          </p:cNvPr>
          <p:cNvSpPr/>
          <p:nvPr/>
        </p:nvSpPr>
        <p:spPr>
          <a:xfrm>
            <a:off x="3405301" y="2375246"/>
            <a:ext cx="117566" cy="117566"/>
          </a:xfrm>
          <a:prstGeom prst="diamond">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Connector 28">
            <a:extLst>
              <a:ext uri="{FF2B5EF4-FFF2-40B4-BE49-F238E27FC236}">
                <a16:creationId xmlns:a16="http://schemas.microsoft.com/office/drawing/2014/main" id="{35E7417B-99D3-38E8-C3C9-C763DF2E300A}"/>
              </a:ext>
            </a:extLst>
          </p:cNvPr>
          <p:cNvCxnSpPr>
            <a:cxnSpLocks/>
          </p:cNvCxnSpPr>
          <p:nvPr/>
        </p:nvCxnSpPr>
        <p:spPr>
          <a:xfrm>
            <a:off x="8043146" y="2537117"/>
            <a:ext cx="0" cy="2237824"/>
          </a:xfrm>
          <a:prstGeom prst="line">
            <a:avLst/>
          </a:prstGeom>
          <a:ln w="222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5F3C7634-817E-6B6A-7591-4FC6A434E50D}"/>
              </a:ext>
            </a:extLst>
          </p:cNvPr>
          <p:cNvSpPr txBox="1"/>
          <p:nvPr/>
        </p:nvSpPr>
        <p:spPr>
          <a:xfrm>
            <a:off x="8043145" y="2301239"/>
            <a:ext cx="1114697" cy="261610"/>
          </a:xfrm>
          <a:prstGeom prst="rect">
            <a:avLst/>
          </a:prstGeom>
          <a:noFill/>
        </p:spPr>
        <p:txBody>
          <a:bodyPr wrap="square" rtlCol="0">
            <a:spAutoFit/>
          </a:bodyPr>
          <a:lstStyle/>
          <a:p>
            <a:r>
              <a:rPr lang="en-US" sz="1100" b="1"/>
              <a:t>  CDR</a:t>
            </a:r>
            <a:endParaRPr lang="en-GB" b="1"/>
          </a:p>
        </p:txBody>
      </p:sp>
      <p:sp>
        <p:nvSpPr>
          <p:cNvPr id="31" name="Diamond 30">
            <a:extLst>
              <a:ext uri="{FF2B5EF4-FFF2-40B4-BE49-F238E27FC236}">
                <a16:creationId xmlns:a16="http://schemas.microsoft.com/office/drawing/2014/main" id="{0B1DF57E-39AC-1538-F52A-54CB21C0B8FE}"/>
              </a:ext>
            </a:extLst>
          </p:cNvPr>
          <p:cNvSpPr/>
          <p:nvPr/>
        </p:nvSpPr>
        <p:spPr>
          <a:xfrm>
            <a:off x="7984362" y="2373261"/>
            <a:ext cx="117566" cy="117566"/>
          </a:xfrm>
          <a:prstGeom prst="diamond">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49739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4B231-45F3-6BC8-61DA-ADA28B37A0FD}"/>
              </a:ext>
            </a:extLst>
          </p:cNvPr>
          <p:cNvSpPr>
            <a:spLocks noGrp="1"/>
          </p:cNvSpPr>
          <p:nvPr>
            <p:ph type="title"/>
          </p:nvPr>
        </p:nvSpPr>
        <p:spPr/>
        <p:txBody>
          <a:bodyPr/>
          <a:lstStyle/>
          <a:p>
            <a:r>
              <a:rPr lang="en-US"/>
              <a:t>Team </a:t>
            </a:r>
            <a:r>
              <a:rPr lang="en-US" err="1"/>
              <a:t>Organisation</a:t>
            </a:r>
            <a:endParaRPr lang="en-US"/>
          </a:p>
        </p:txBody>
      </p:sp>
      <p:sp>
        <p:nvSpPr>
          <p:cNvPr id="4" name="Slide Number Placeholder 3">
            <a:extLst>
              <a:ext uri="{FF2B5EF4-FFF2-40B4-BE49-F238E27FC236}">
                <a16:creationId xmlns:a16="http://schemas.microsoft.com/office/drawing/2014/main" id="{C5BB6F85-A54D-974A-AA56-D3DD5FDD3B09}"/>
              </a:ext>
            </a:extLst>
          </p:cNvPr>
          <p:cNvSpPr>
            <a:spLocks noGrp="1"/>
          </p:cNvSpPr>
          <p:nvPr>
            <p:ph type="sldNum" sz="quarter" idx="12"/>
          </p:nvPr>
        </p:nvSpPr>
        <p:spPr/>
        <p:txBody>
          <a:bodyPr/>
          <a:lstStyle/>
          <a:p>
            <a:fld id="{330EA680-D336-4FF7-8B7A-9848BB0A1C32}" type="slidenum">
              <a:rPr lang="en-GB" smtClean="0"/>
              <a:t>9</a:t>
            </a:fld>
            <a:endParaRPr lang="en-GB"/>
          </a:p>
        </p:txBody>
      </p:sp>
      <p:graphicFrame>
        <p:nvGraphicFramePr>
          <p:cNvPr id="16" name="Content Placeholder 2">
            <a:extLst>
              <a:ext uri="{FF2B5EF4-FFF2-40B4-BE49-F238E27FC236}">
                <a16:creationId xmlns:a16="http://schemas.microsoft.com/office/drawing/2014/main" id="{5884CBFB-ACC8-7E50-CD8B-748AA520759E}"/>
              </a:ext>
            </a:extLst>
          </p:cNvPr>
          <p:cNvGraphicFramePr>
            <a:graphicFrameLocks noGrp="1"/>
          </p:cNvGraphicFramePr>
          <p:nvPr>
            <p:ph idx="1"/>
            <p:extLst>
              <p:ext uri="{D42A27DB-BD31-4B8C-83A1-F6EECF244321}">
                <p14:modId xmlns:p14="http://schemas.microsoft.com/office/powerpoint/2010/main" val="1062275111"/>
              </p:ext>
            </p:extLst>
          </p:nvPr>
        </p:nvGraphicFramePr>
        <p:xfrm>
          <a:off x="838200" y="1731639"/>
          <a:ext cx="10515600" cy="3513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1193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41D68-DE0D-5D8E-CF77-86E709B8D3B4}"/>
              </a:ext>
            </a:extLst>
          </p:cNvPr>
          <p:cNvSpPr>
            <a:spLocks noGrp="1"/>
          </p:cNvSpPr>
          <p:nvPr>
            <p:ph type="title"/>
          </p:nvPr>
        </p:nvSpPr>
        <p:spPr/>
        <p:txBody>
          <a:bodyPr/>
          <a:lstStyle/>
          <a:p>
            <a:r>
              <a:rPr lang="en-US"/>
              <a:t>Risks - Overview</a:t>
            </a:r>
          </a:p>
        </p:txBody>
      </p:sp>
      <p:sp>
        <p:nvSpPr>
          <p:cNvPr id="3" name="Content Placeholder 2">
            <a:extLst>
              <a:ext uri="{FF2B5EF4-FFF2-40B4-BE49-F238E27FC236}">
                <a16:creationId xmlns:a16="http://schemas.microsoft.com/office/drawing/2014/main" id="{BC4F3DBE-9E17-A9B7-6984-17B0E4A479DF}"/>
              </a:ext>
            </a:extLst>
          </p:cNvPr>
          <p:cNvSpPr>
            <a:spLocks noGrp="1"/>
          </p:cNvSpPr>
          <p:nvPr>
            <p:ph idx="1"/>
          </p:nvPr>
        </p:nvSpPr>
        <p:spPr/>
        <p:txBody>
          <a:bodyPr/>
          <a:lstStyle/>
          <a:p>
            <a:r>
              <a:rPr lang="en-US"/>
              <a:t>What are potential risks? Where do they come from?</a:t>
            </a:r>
          </a:p>
          <a:p>
            <a:r>
              <a:rPr lang="en-US"/>
              <a:t>What is our plan, how have we considered them:</a:t>
            </a:r>
          </a:p>
          <a:p>
            <a:pPr lvl="1"/>
            <a:r>
              <a:rPr lang="en-US"/>
              <a:t>Ratings</a:t>
            </a:r>
          </a:p>
          <a:p>
            <a:pPr lvl="1"/>
            <a:r>
              <a:rPr lang="en-US"/>
              <a:t>Mitigations</a:t>
            </a:r>
          </a:p>
          <a:p>
            <a:pPr marL="0" indent="0">
              <a:buNone/>
            </a:pPr>
            <a:endParaRPr lang="en-US"/>
          </a:p>
        </p:txBody>
      </p:sp>
      <p:sp>
        <p:nvSpPr>
          <p:cNvPr id="4" name="Slide Number Placeholder 3">
            <a:extLst>
              <a:ext uri="{FF2B5EF4-FFF2-40B4-BE49-F238E27FC236}">
                <a16:creationId xmlns:a16="http://schemas.microsoft.com/office/drawing/2014/main" id="{F5446C1B-A1CB-3C69-087C-ABE0A4145901}"/>
              </a:ext>
            </a:extLst>
          </p:cNvPr>
          <p:cNvSpPr>
            <a:spLocks noGrp="1"/>
          </p:cNvSpPr>
          <p:nvPr>
            <p:ph type="sldNum" sz="quarter" idx="12"/>
          </p:nvPr>
        </p:nvSpPr>
        <p:spPr/>
        <p:txBody>
          <a:bodyPr/>
          <a:lstStyle/>
          <a:p>
            <a:fld id="{330EA680-D336-4FF7-8B7A-9848BB0A1C32}" type="slidenum">
              <a:rPr lang="en-GB" smtClean="0"/>
              <a:t>10</a:t>
            </a:fld>
            <a:endParaRPr lang="en-GB"/>
          </a:p>
        </p:txBody>
      </p:sp>
    </p:spTree>
    <p:extLst>
      <p:ext uri="{BB962C8B-B14F-4D97-AF65-F5344CB8AC3E}">
        <p14:creationId xmlns:p14="http://schemas.microsoft.com/office/powerpoint/2010/main" val="4211502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41D68-DE0D-5D8E-CF77-86E709B8D3B4}"/>
              </a:ext>
            </a:extLst>
          </p:cNvPr>
          <p:cNvSpPr>
            <a:spLocks noGrp="1"/>
          </p:cNvSpPr>
          <p:nvPr>
            <p:ph type="title"/>
          </p:nvPr>
        </p:nvSpPr>
        <p:spPr>
          <a:xfrm>
            <a:off x="157480" y="-635"/>
            <a:ext cx="4419600" cy="1325563"/>
          </a:xfrm>
        </p:spPr>
        <p:txBody>
          <a:bodyPr/>
          <a:lstStyle/>
          <a:p>
            <a:r>
              <a:rPr lang="en-US"/>
              <a:t>Risks - Overview</a:t>
            </a:r>
          </a:p>
        </p:txBody>
      </p:sp>
      <p:sp>
        <p:nvSpPr>
          <p:cNvPr id="4" name="Slide Number Placeholder 3">
            <a:extLst>
              <a:ext uri="{FF2B5EF4-FFF2-40B4-BE49-F238E27FC236}">
                <a16:creationId xmlns:a16="http://schemas.microsoft.com/office/drawing/2014/main" id="{F5446C1B-A1CB-3C69-087C-ABE0A4145901}"/>
              </a:ext>
            </a:extLst>
          </p:cNvPr>
          <p:cNvSpPr>
            <a:spLocks noGrp="1"/>
          </p:cNvSpPr>
          <p:nvPr>
            <p:ph type="sldNum" sz="quarter" idx="12"/>
          </p:nvPr>
        </p:nvSpPr>
        <p:spPr/>
        <p:txBody>
          <a:bodyPr/>
          <a:lstStyle/>
          <a:p>
            <a:fld id="{330EA680-D336-4FF7-8B7A-9848BB0A1C32}" type="slidenum">
              <a:rPr lang="en-GB" smtClean="0"/>
              <a:t>11</a:t>
            </a:fld>
            <a:endParaRPr lang="en-GB"/>
          </a:p>
        </p:txBody>
      </p:sp>
      <p:sp>
        <p:nvSpPr>
          <p:cNvPr id="5" name="Heading sources"/>
          <p:cNvSpPr txBox="1"/>
          <p:nvPr/>
        </p:nvSpPr>
        <p:spPr>
          <a:xfrm>
            <a:off x="841248" y="1691640"/>
            <a:ext cx="5120640" cy="365760"/>
          </a:xfrm>
          <a:prstGeom prst="rect">
            <a:avLst/>
          </a:prstGeom>
          <a:noFill/>
        </p:spPr>
        <p:txBody>
          <a:bodyPr wrap="square" lIns="0" tIns="0" rIns="0" bIns="0" anchor="t">
            <a:spAutoFit/>
          </a:bodyPr>
          <a:lstStyle/>
          <a:p>
            <a:pPr algn="l"/>
            <a:r>
              <a:rPr sz="1800" b="1">
                <a:solidFill>
                  <a:schemeClr val="tx1"/>
                </a:solidFill>
              </a:rPr>
              <a:t>Where do risks come from?</a:t>
            </a:r>
          </a:p>
        </p:txBody>
      </p:sp>
      <p:sp>
        <p:nvSpPr>
          <p:cNvPr id="6" name="Tile The brief"/>
          <p:cNvSpPr/>
          <p:nvPr/>
        </p:nvSpPr>
        <p:spPr>
          <a:xfrm>
            <a:off x="841248" y="2148840"/>
            <a:ext cx="2468880" cy="868680"/>
          </a:xfrm>
          <a:prstGeom prst="roundRect">
            <a:avLst>
              <a:gd name="adj" fmla="val 12000"/>
            </a:avLst>
          </a:prstGeom>
          <a:solidFill>
            <a:srgbClr val="CD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ile Regulations"/>
          <p:cNvSpPr/>
          <p:nvPr/>
        </p:nvSpPr>
        <p:spPr>
          <a:xfrm>
            <a:off x="3493008" y="2148840"/>
            <a:ext cx="2468880" cy="868680"/>
          </a:xfrm>
          <a:prstGeom prst="roundRect">
            <a:avLst>
              <a:gd name="adj" fmla="val 12000"/>
            </a:avLst>
          </a:prstGeom>
          <a:solidFill>
            <a:srgbClr val="CD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ile 2040 EIS"/>
          <p:cNvSpPr/>
          <p:nvPr/>
        </p:nvSpPr>
        <p:spPr>
          <a:xfrm>
            <a:off x="841248" y="3154680"/>
            <a:ext cx="2468880" cy="868680"/>
          </a:xfrm>
          <a:prstGeom prst="roundRect">
            <a:avLst>
              <a:gd name="adj" fmla="val 12000"/>
            </a:avLst>
          </a:prstGeom>
          <a:solidFill>
            <a:srgbClr val="CD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ile Our own limits"/>
          <p:cNvSpPr/>
          <p:nvPr/>
        </p:nvSpPr>
        <p:spPr>
          <a:xfrm>
            <a:off x="3493008" y="3154680"/>
            <a:ext cx="2468880" cy="868680"/>
          </a:xfrm>
          <a:prstGeom prst="roundRect">
            <a:avLst>
              <a:gd name="adj" fmla="val 12000"/>
            </a:avLst>
          </a:prstGeom>
          <a:solidFill>
            <a:srgbClr val="CD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Heading process"/>
          <p:cNvSpPr txBox="1"/>
          <p:nvPr/>
        </p:nvSpPr>
        <p:spPr>
          <a:xfrm>
            <a:off x="841248" y="4815840"/>
            <a:ext cx="5120640" cy="365760"/>
          </a:xfrm>
          <a:prstGeom prst="rect">
            <a:avLst/>
          </a:prstGeom>
          <a:noFill/>
        </p:spPr>
        <p:txBody>
          <a:bodyPr wrap="square" lIns="0" tIns="0" rIns="0" bIns="0" anchor="t">
            <a:spAutoFit/>
          </a:bodyPr>
          <a:lstStyle/>
          <a:p>
            <a:pPr algn="l"/>
            <a:r>
              <a:rPr sz="1800" b="1">
                <a:solidFill>
                  <a:schemeClr val="tx1"/>
                </a:solidFill>
              </a:rPr>
              <a:t>How we manage them</a:t>
            </a:r>
          </a:p>
        </p:txBody>
      </p:sp>
      <p:sp>
        <p:nvSpPr>
          <p:cNvPr id="15" name="Step Identify"/>
          <p:cNvSpPr/>
          <p:nvPr/>
        </p:nvSpPr>
        <p:spPr>
          <a:xfrm>
            <a:off x="841248" y="5227320"/>
            <a:ext cx="1371600" cy="566928"/>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rPr>
              <a:t>Identify</a:t>
            </a:r>
          </a:p>
        </p:txBody>
      </p:sp>
      <p:sp>
        <p:nvSpPr>
          <p:cNvPr id="17" name="Step Rate"/>
          <p:cNvSpPr/>
          <p:nvPr/>
        </p:nvSpPr>
        <p:spPr>
          <a:xfrm>
            <a:off x="2139696" y="5227320"/>
            <a:ext cx="1371600" cy="566928"/>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rPr>
              <a:t>Rate</a:t>
            </a:r>
          </a:p>
        </p:txBody>
      </p:sp>
      <p:sp>
        <p:nvSpPr>
          <p:cNvPr id="19" name="Step Mitigate"/>
          <p:cNvSpPr/>
          <p:nvPr/>
        </p:nvSpPr>
        <p:spPr>
          <a:xfrm>
            <a:off x="3438144" y="5227320"/>
            <a:ext cx="1371600" cy="566928"/>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rPr>
              <a:t>Mitigate</a:t>
            </a:r>
          </a:p>
        </p:txBody>
      </p:sp>
      <p:sp>
        <p:nvSpPr>
          <p:cNvPr id="21" name="Step Monitor"/>
          <p:cNvSpPr/>
          <p:nvPr/>
        </p:nvSpPr>
        <p:spPr>
          <a:xfrm>
            <a:off x="4736592" y="5227320"/>
            <a:ext cx="1371600" cy="566928"/>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rPr>
              <a:t>Monitor</a:t>
            </a:r>
          </a:p>
        </p:txBody>
      </p:sp>
      <p:sp>
        <p:nvSpPr>
          <p:cNvPr id="23" name="Heading matrix"/>
          <p:cNvSpPr txBox="1"/>
          <p:nvPr/>
        </p:nvSpPr>
        <p:spPr>
          <a:xfrm>
            <a:off x="7081520" y="1041400"/>
            <a:ext cx="4754880" cy="276999"/>
          </a:xfrm>
          <a:prstGeom prst="rect">
            <a:avLst/>
          </a:prstGeom>
          <a:noFill/>
        </p:spPr>
        <p:txBody>
          <a:bodyPr wrap="square" lIns="0" tIns="0" rIns="0" bIns="0" anchor="t">
            <a:spAutoFit/>
          </a:bodyPr>
          <a:lstStyle/>
          <a:p>
            <a:pPr algn="ctr"/>
            <a:r>
              <a:rPr sz="1800" b="1">
                <a:solidFill>
                  <a:schemeClr val="tx1"/>
                </a:solidFill>
              </a:rPr>
              <a:t>Risk matrix (proposed ratings)</a:t>
            </a:r>
            <a:endParaRPr lang="en-US"/>
          </a:p>
        </p:txBody>
      </p:sp>
      <p:sp>
        <p:nvSpPr>
          <p:cNvPr id="24" name="Cell L1 S1"/>
          <p:cNvSpPr/>
          <p:nvPr/>
        </p:nvSpPr>
        <p:spPr>
          <a:xfrm>
            <a:off x="7655560" y="4305808"/>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ell L1 S2"/>
          <p:cNvSpPr/>
          <p:nvPr/>
        </p:nvSpPr>
        <p:spPr>
          <a:xfrm>
            <a:off x="7655560" y="3592576"/>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ell L1 S3"/>
          <p:cNvSpPr/>
          <p:nvPr/>
        </p:nvSpPr>
        <p:spPr>
          <a:xfrm>
            <a:off x="7655560" y="2879344"/>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ell L1 S4"/>
          <p:cNvSpPr/>
          <p:nvPr/>
        </p:nvSpPr>
        <p:spPr>
          <a:xfrm>
            <a:off x="7655560" y="2166111"/>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ell L1 S5"/>
          <p:cNvSpPr/>
          <p:nvPr/>
        </p:nvSpPr>
        <p:spPr>
          <a:xfrm>
            <a:off x="7655560" y="1452880"/>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ell L2 S1"/>
          <p:cNvSpPr/>
          <p:nvPr/>
        </p:nvSpPr>
        <p:spPr>
          <a:xfrm>
            <a:off x="8368791" y="4305808"/>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ell L2 S2"/>
          <p:cNvSpPr/>
          <p:nvPr/>
        </p:nvSpPr>
        <p:spPr>
          <a:xfrm>
            <a:off x="8368791" y="3592576"/>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ell L2 S3"/>
          <p:cNvSpPr/>
          <p:nvPr/>
        </p:nvSpPr>
        <p:spPr>
          <a:xfrm>
            <a:off x="8368791" y="2879344"/>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ell L2 S4"/>
          <p:cNvSpPr/>
          <p:nvPr/>
        </p:nvSpPr>
        <p:spPr>
          <a:xfrm>
            <a:off x="8368791" y="2166111"/>
            <a:ext cx="713232" cy="713232"/>
          </a:xfrm>
          <a:prstGeom prst="rect">
            <a:avLst/>
          </a:prstGeom>
          <a:solidFill>
            <a:srgbClr val="FCE7B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ell L2 S5"/>
          <p:cNvSpPr/>
          <p:nvPr/>
        </p:nvSpPr>
        <p:spPr>
          <a:xfrm>
            <a:off x="8368791" y="1452880"/>
            <a:ext cx="713232" cy="713232"/>
          </a:xfrm>
          <a:prstGeom prst="rect">
            <a:avLst/>
          </a:prstGeom>
          <a:solidFill>
            <a:srgbClr val="FCE7B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ell L3 S1"/>
          <p:cNvSpPr/>
          <p:nvPr/>
        </p:nvSpPr>
        <p:spPr>
          <a:xfrm>
            <a:off x="9082024" y="4305808"/>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ell L3 S2"/>
          <p:cNvSpPr/>
          <p:nvPr/>
        </p:nvSpPr>
        <p:spPr>
          <a:xfrm>
            <a:off x="9082024" y="3592576"/>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ell L3 S3"/>
          <p:cNvSpPr/>
          <p:nvPr/>
        </p:nvSpPr>
        <p:spPr>
          <a:xfrm>
            <a:off x="9082024" y="2879344"/>
            <a:ext cx="713232" cy="713232"/>
          </a:xfrm>
          <a:prstGeom prst="rect">
            <a:avLst/>
          </a:prstGeom>
          <a:solidFill>
            <a:srgbClr val="FCE7B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ell L3 S4"/>
          <p:cNvSpPr/>
          <p:nvPr/>
        </p:nvSpPr>
        <p:spPr>
          <a:xfrm>
            <a:off x="9082024" y="2166111"/>
            <a:ext cx="713232" cy="713232"/>
          </a:xfrm>
          <a:prstGeom prst="rect">
            <a:avLst/>
          </a:prstGeom>
          <a:solidFill>
            <a:srgbClr val="FCE7B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ell L3 S5"/>
          <p:cNvSpPr/>
          <p:nvPr/>
        </p:nvSpPr>
        <p:spPr>
          <a:xfrm>
            <a:off x="9082024" y="1452880"/>
            <a:ext cx="713232" cy="713232"/>
          </a:xfrm>
          <a:prstGeom prst="rect">
            <a:avLst/>
          </a:prstGeom>
          <a:solidFill>
            <a:srgbClr val="F6C9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Cell L4 S1"/>
          <p:cNvSpPr/>
          <p:nvPr/>
        </p:nvSpPr>
        <p:spPr>
          <a:xfrm>
            <a:off x="9795256" y="4305808"/>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Cell L4 S2"/>
          <p:cNvSpPr/>
          <p:nvPr/>
        </p:nvSpPr>
        <p:spPr>
          <a:xfrm>
            <a:off x="9795256" y="3592576"/>
            <a:ext cx="713232" cy="713232"/>
          </a:xfrm>
          <a:prstGeom prst="rect">
            <a:avLst/>
          </a:prstGeom>
          <a:solidFill>
            <a:srgbClr val="FCE7B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Cell L4 S3"/>
          <p:cNvSpPr/>
          <p:nvPr/>
        </p:nvSpPr>
        <p:spPr>
          <a:xfrm>
            <a:off x="9795256" y="2879344"/>
            <a:ext cx="713232" cy="713232"/>
          </a:xfrm>
          <a:prstGeom prst="rect">
            <a:avLst/>
          </a:prstGeom>
          <a:solidFill>
            <a:srgbClr val="FCE7B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Cell L4 S4"/>
          <p:cNvSpPr/>
          <p:nvPr/>
        </p:nvSpPr>
        <p:spPr>
          <a:xfrm>
            <a:off x="9795256" y="2166111"/>
            <a:ext cx="713232" cy="713232"/>
          </a:xfrm>
          <a:prstGeom prst="rect">
            <a:avLst/>
          </a:prstGeom>
          <a:solidFill>
            <a:srgbClr val="F6C9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Cell L4 S5"/>
          <p:cNvSpPr/>
          <p:nvPr/>
        </p:nvSpPr>
        <p:spPr>
          <a:xfrm>
            <a:off x="9795256" y="1452880"/>
            <a:ext cx="713232" cy="713232"/>
          </a:xfrm>
          <a:prstGeom prst="rect">
            <a:avLst/>
          </a:prstGeom>
          <a:solidFill>
            <a:srgbClr val="F6C9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Cell L5 S1"/>
          <p:cNvSpPr/>
          <p:nvPr/>
        </p:nvSpPr>
        <p:spPr>
          <a:xfrm>
            <a:off x="10508487" y="4305808"/>
            <a:ext cx="713232" cy="713232"/>
          </a:xfrm>
          <a:prstGeom prst="rect">
            <a:avLst/>
          </a:prstGeom>
          <a:solidFill>
            <a:srgbClr val="CFE8D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Cell L5 S2"/>
          <p:cNvSpPr/>
          <p:nvPr/>
        </p:nvSpPr>
        <p:spPr>
          <a:xfrm>
            <a:off x="10508487" y="3592576"/>
            <a:ext cx="713232" cy="713232"/>
          </a:xfrm>
          <a:prstGeom prst="rect">
            <a:avLst/>
          </a:prstGeom>
          <a:solidFill>
            <a:srgbClr val="FCE7B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Cell L5 S3"/>
          <p:cNvSpPr/>
          <p:nvPr/>
        </p:nvSpPr>
        <p:spPr>
          <a:xfrm>
            <a:off x="10508487" y="2879344"/>
            <a:ext cx="713232" cy="713232"/>
          </a:xfrm>
          <a:prstGeom prst="rect">
            <a:avLst/>
          </a:prstGeom>
          <a:solidFill>
            <a:srgbClr val="F6C9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Cell L5 S4"/>
          <p:cNvSpPr/>
          <p:nvPr/>
        </p:nvSpPr>
        <p:spPr>
          <a:xfrm>
            <a:off x="10508487" y="2166111"/>
            <a:ext cx="713232" cy="713232"/>
          </a:xfrm>
          <a:prstGeom prst="rect">
            <a:avLst/>
          </a:prstGeom>
          <a:solidFill>
            <a:srgbClr val="F6C9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Cell L5 S5"/>
          <p:cNvSpPr/>
          <p:nvPr/>
        </p:nvSpPr>
        <p:spPr>
          <a:xfrm>
            <a:off x="10508487" y="1452880"/>
            <a:ext cx="713232" cy="713232"/>
          </a:xfrm>
          <a:prstGeom prst="rect">
            <a:avLst/>
          </a:prstGeom>
          <a:solidFill>
            <a:srgbClr val="F6C9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X1"/>
          <p:cNvSpPr txBox="1"/>
          <p:nvPr/>
        </p:nvSpPr>
        <p:spPr>
          <a:xfrm>
            <a:off x="7655560" y="5064760"/>
            <a:ext cx="713232" cy="228600"/>
          </a:xfrm>
          <a:prstGeom prst="rect">
            <a:avLst/>
          </a:prstGeom>
          <a:noFill/>
        </p:spPr>
        <p:txBody>
          <a:bodyPr wrap="square" lIns="0" tIns="0" rIns="0" bIns="0" anchor="t">
            <a:spAutoFit/>
          </a:bodyPr>
          <a:lstStyle/>
          <a:p>
            <a:pPr algn="ctr"/>
            <a:r>
              <a:rPr sz="1200" b="0">
                <a:solidFill>
                  <a:schemeClr val="tx1"/>
                </a:solidFill>
              </a:rPr>
              <a:t>1</a:t>
            </a:r>
          </a:p>
        </p:txBody>
      </p:sp>
      <p:sp>
        <p:nvSpPr>
          <p:cNvPr id="50" name="Y1"/>
          <p:cNvSpPr txBox="1"/>
          <p:nvPr/>
        </p:nvSpPr>
        <p:spPr>
          <a:xfrm>
            <a:off x="7381240" y="4305808"/>
            <a:ext cx="201168" cy="713232"/>
          </a:xfrm>
          <a:prstGeom prst="rect">
            <a:avLst/>
          </a:prstGeom>
          <a:noFill/>
        </p:spPr>
        <p:txBody>
          <a:bodyPr wrap="square" lIns="0" tIns="0" rIns="0" bIns="0" anchor="ctr">
            <a:spAutoFit/>
          </a:bodyPr>
          <a:lstStyle/>
          <a:p>
            <a:pPr algn="ctr"/>
            <a:r>
              <a:rPr sz="1200" b="0">
                <a:solidFill>
                  <a:schemeClr val="tx1"/>
                </a:solidFill>
              </a:rPr>
              <a:t>1</a:t>
            </a:r>
          </a:p>
        </p:txBody>
      </p:sp>
      <p:sp>
        <p:nvSpPr>
          <p:cNvPr id="51" name="X2"/>
          <p:cNvSpPr txBox="1"/>
          <p:nvPr/>
        </p:nvSpPr>
        <p:spPr>
          <a:xfrm>
            <a:off x="8368791" y="5064760"/>
            <a:ext cx="713232" cy="228600"/>
          </a:xfrm>
          <a:prstGeom prst="rect">
            <a:avLst/>
          </a:prstGeom>
          <a:noFill/>
        </p:spPr>
        <p:txBody>
          <a:bodyPr wrap="square" lIns="0" tIns="0" rIns="0" bIns="0" anchor="t">
            <a:spAutoFit/>
          </a:bodyPr>
          <a:lstStyle/>
          <a:p>
            <a:pPr algn="ctr"/>
            <a:r>
              <a:rPr sz="1200" b="0">
                <a:solidFill>
                  <a:schemeClr val="tx1"/>
                </a:solidFill>
              </a:rPr>
              <a:t>2</a:t>
            </a:r>
          </a:p>
        </p:txBody>
      </p:sp>
      <p:sp>
        <p:nvSpPr>
          <p:cNvPr id="52" name="Y2"/>
          <p:cNvSpPr txBox="1"/>
          <p:nvPr/>
        </p:nvSpPr>
        <p:spPr>
          <a:xfrm>
            <a:off x="7381240" y="3592576"/>
            <a:ext cx="201168" cy="713232"/>
          </a:xfrm>
          <a:prstGeom prst="rect">
            <a:avLst/>
          </a:prstGeom>
          <a:noFill/>
        </p:spPr>
        <p:txBody>
          <a:bodyPr wrap="square" lIns="0" tIns="0" rIns="0" bIns="0" anchor="ctr">
            <a:spAutoFit/>
          </a:bodyPr>
          <a:lstStyle/>
          <a:p>
            <a:pPr algn="ctr"/>
            <a:r>
              <a:rPr sz="1200" b="0">
                <a:solidFill>
                  <a:schemeClr val="tx1"/>
                </a:solidFill>
              </a:rPr>
              <a:t>2</a:t>
            </a:r>
          </a:p>
        </p:txBody>
      </p:sp>
      <p:sp>
        <p:nvSpPr>
          <p:cNvPr id="53" name="X3"/>
          <p:cNvSpPr txBox="1"/>
          <p:nvPr/>
        </p:nvSpPr>
        <p:spPr>
          <a:xfrm>
            <a:off x="9082024" y="5064760"/>
            <a:ext cx="713232" cy="228600"/>
          </a:xfrm>
          <a:prstGeom prst="rect">
            <a:avLst/>
          </a:prstGeom>
          <a:noFill/>
        </p:spPr>
        <p:txBody>
          <a:bodyPr wrap="square" lIns="0" tIns="0" rIns="0" bIns="0" anchor="t">
            <a:spAutoFit/>
          </a:bodyPr>
          <a:lstStyle/>
          <a:p>
            <a:pPr algn="ctr"/>
            <a:r>
              <a:rPr sz="1200" b="0">
                <a:solidFill>
                  <a:schemeClr val="tx1"/>
                </a:solidFill>
              </a:rPr>
              <a:t>3</a:t>
            </a:r>
          </a:p>
        </p:txBody>
      </p:sp>
      <p:sp>
        <p:nvSpPr>
          <p:cNvPr id="54" name="Y3"/>
          <p:cNvSpPr txBox="1"/>
          <p:nvPr/>
        </p:nvSpPr>
        <p:spPr>
          <a:xfrm>
            <a:off x="7381240" y="2879344"/>
            <a:ext cx="201168" cy="713232"/>
          </a:xfrm>
          <a:prstGeom prst="rect">
            <a:avLst/>
          </a:prstGeom>
          <a:noFill/>
        </p:spPr>
        <p:txBody>
          <a:bodyPr wrap="square" lIns="0" tIns="0" rIns="0" bIns="0" anchor="ctr">
            <a:spAutoFit/>
          </a:bodyPr>
          <a:lstStyle/>
          <a:p>
            <a:pPr algn="ctr"/>
            <a:r>
              <a:rPr sz="1200" b="0">
                <a:solidFill>
                  <a:schemeClr val="tx1"/>
                </a:solidFill>
              </a:rPr>
              <a:t>3</a:t>
            </a:r>
          </a:p>
        </p:txBody>
      </p:sp>
      <p:sp>
        <p:nvSpPr>
          <p:cNvPr id="55" name="X4"/>
          <p:cNvSpPr txBox="1"/>
          <p:nvPr/>
        </p:nvSpPr>
        <p:spPr>
          <a:xfrm>
            <a:off x="9795256" y="5064760"/>
            <a:ext cx="713232" cy="228600"/>
          </a:xfrm>
          <a:prstGeom prst="rect">
            <a:avLst/>
          </a:prstGeom>
          <a:noFill/>
        </p:spPr>
        <p:txBody>
          <a:bodyPr wrap="square" lIns="0" tIns="0" rIns="0" bIns="0" anchor="t">
            <a:spAutoFit/>
          </a:bodyPr>
          <a:lstStyle/>
          <a:p>
            <a:pPr algn="ctr"/>
            <a:r>
              <a:rPr sz="1200" b="0">
                <a:solidFill>
                  <a:schemeClr val="tx1"/>
                </a:solidFill>
              </a:rPr>
              <a:t>4</a:t>
            </a:r>
          </a:p>
        </p:txBody>
      </p:sp>
      <p:sp>
        <p:nvSpPr>
          <p:cNvPr id="56" name="Y4"/>
          <p:cNvSpPr txBox="1"/>
          <p:nvPr/>
        </p:nvSpPr>
        <p:spPr>
          <a:xfrm>
            <a:off x="7381240" y="2166111"/>
            <a:ext cx="201168" cy="713232"/>
          </a:xfrm>
          <a:prstGeom prst="rect">
            <a:avLst/>
          </a:prstGeom>
          <a:noFill/>
        </p:spPr>
        <p:txBody>
          <a:bodyPr wrap="square" lIns="0" tIns="0" rIns="0" bIns="0" anchor="ctr">
            <a:spAutoFit/>
          </a:bodyPr>
          <a:lstStyle/>
          <a:p>
            <a:pPr algn="ctr"/>
            <a:r>
              <a:rPr sz="1200" b="0">
                <a:solidFill>
                  <a:schemeClr val="tx1"/>
                </a:solidFill>
              </a:rPr>
              <a:t>4</a:t>
            </a:r>
          </a:p>
        </p:txBody>
      </p:sp>
      <p:sp>
        <p:nvSpPr>
          <p:cNvPr id="57" name="X5"/>
          <p:cNvSpPr txBox="1"/>
          <p:nvPr/>
        </p:nvSpPr>
        <p:spPr>
          <a:xfrm>
            <a:off x="10508487" y="5064760"/>
            <a:ext cx="713232" cy="228600"/>
          </a:xfrm>
          <a:prstGeom prst="rect">
            <a:avLst/>
          </a:prstGeom>
          <a:noFill/>
        </p:spPr>
        <p:txBody>
          <a:bodyPr wrap="square" lIns="0" tIns="0" rIns="0" bIns="0" anchor="t">
            <a:spAutoFit/>
          </a:bodyPr>
          <a:lstStyle/>
          <a:p>
            <a:pPr algn="ctr"/>
            <a:r>
              <a:rPr sz="1200" b="0">
                <a:solidFill>
                  <a:schemeClr val="tx1"/>
                </a:solidFill>
              </a:rPr>
              <a:t>5</a:t>
            </a:r>
          </a:p>
        </p:txBody>
      </p:sp>
      <p:sp>
        <p:nvSpPr>
          <p:cNvPr id="58" name="Y5"/>
          <p:cNvSpPr txBox="1"/>
          <p:nvPr/>
        </p:nvSpPr>
        <p:spPr>
          <a:xfrm>
            <a:off x="7381240" y="1452880"/>
            <a:ext cx="201168" cy="713232"/>
          </a:xfrm>
          <a:prstGeom prst="rect">
            <a:avLst/>
          </a:prstGeom>
          <a:noFill/>
        </p:spPr>
        <p:txBody>
          <a:bodyPr wrap="square" lIns="0" tIns="0" rIns="0" bIns="0" anchor="ctr">
            <a:spAutoFit/>
          </a:bodyPr>
          <a:lstStyle/>
          <a:p>
            <a:pPr algn="ctr"/>
            <a:r>
              <a:rPr sz="1200" b="0">
                <a:solidFill>
                  <a:schemeClr val="tx1"/>
                </a:solidFill>
              </a:rPr>
              <a:t>5</a:t>
            </a:r>
          </a:p>
        </p:txBody>
      </p:sp>
      <p:sp>
        <p:nvSpPr>
          <p:cNvPr id="59" name="Likelihood label"/>
          <p:cNvSpPr txBox="1"/>
          <p:nvPr/>
        </p:nvSpPr>
        <p:spPr>
          <a:xfrm>
            <a:off x="7655560" y="5320792"/>
            <a:ext cx="3566160" cy="200055"/>
          </a:xfrm>
          <a:prstGeom prst="rect">
            <a:avLst/>
          </a:prstGeom>
          <a:noFill/>
        </p:spPr>
        <p:txBody>
          <a:bodyPr wrap="square" lIns="0" tIns="0" rIns="0" bIns="0" anchor="t">
            <a:spAutoFit/>
          </a:bodyPr>
          <a:lstStyle/>
          <a:p>
            <a:pPr algn="ctr"/>
            <a:r>
              <a:rPr lang="en-GB" sz="1300" b="1"/>
              <a:t>Consequence</a:t>
            </a:r>
            <a:r>
              <a:rPr sz="1300" b="1"/>
              <a:t>→</a:t>
            </a:r>
          </a:p>
        </p:txBody>
      </p:sp>
      <p:sp>
        <p:nvSpPr>
          <p:cNvPr id="60" name="Severity label"/>
          <p:cNvSpPr txBox="1"/>
          <p:nvPr/>
        </p:nvSpPr>
        <p:spPr>
          <a:xfrm rot="16200000">
            <a:off x="6375399" y="3135932"/>
            <a:ext cx="1371600" cy="200055"/>
          </a:xfrm>
          <a:prstGeom prst="rect">
            <a:avLst/>
          </a:prstGeom>
          <a:noFill/>
        </p:spPr>
        <p:txBody>
          <a:bodyPr wrap="square" lIns="0" tIns="0" rIns="0" bIns="0" anchor="t">
            <a:spAutoFit/>
          </a:bodyPr>
          <a:lstStyle/>
          <a:p>
            <a:pPr algn="ctr"/>
            <a:r>
              <a:rPr lang="en-GB" sz="1300" b="1"/>
              <a:t>Likelihood</a:t>
            </a:r>
            <a:r>
              <a:rPr sz="1300" b="1"/>
              <a:t>→</a:t>
            </a:r>
          </a:p>
        </p:txBody>
      </p:sp>
      <p:sp>
        <p:nvSpPr>
          <p:cNvPr id="61" name="Marker R1"/>
          <p:cNvSpPr/>
          <p:nvPr/>
        </p:nvSpPr>
        <p:spPr>
          <a:xfrm>
            <a:off x="9977120" y="2358135"/>
            <a:ext cx="329184" cy="32918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rPr>
              <a:t>R1</a:t>
            </a:r>
          </a:p>
        </p:txBody>
      </p:sp>
      <p:sp>
        <p:nvSpPr>
          <p:cNvPr id="62" name="Marker R2"/>
          <p:cNvSpPr/>
          <p:nvPr/>
        </p:nvSpPr>
        <p:spPr>
          <a:xfrm>
            <a:off x="9276080" y="3079495"/>
            <a:ext cx="329184" cy="32918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rPr>
              <a:t>R2</a:t>
            </a:r>
          </a:p>
        </p:txBody>
      </p:sp>
      <p:sp>
        <p:nvSpPr>
          <p:cNvPr id="63" name="Marker R3"/>
          <p:cNvSpPr/>
          <p:nvPr/>
        </p:nvSpPr>
        <p:spPr>
          <a:xfrm>
            <a:off x="10696448" y="3107944"/>
            <a:ext cx="329184" cy="32918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rPr>
              <a:t>R3</a:t>
            </a:r>
          </a:p>
        </p:txBody>
      </p:sp>
      <p:sp>
        <p:nvSpPr>
          <p:cNvPr id="64" name="Marker R4"/>
          <p:cNvSpPr/>
          <p:nvPr/>
        </p:nvSpPr>
        <p:spPr>
          <a:xfrm>
            <a:off x="9975088" y="3079495"/>
            <a:ext cx="329184" cy="32918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rPr>
              <a:t>R4</a:t>
            </a:r>
          </a:p>
        </p:txBody>
      </p:sp>
      <p:sp>
        <p:nvSpPr>
          <p:cNvPr id="65" name="Marker R5"/>
          <p:cNvSpPr/>
          <p:nvPr/>
        </p:nvSpPr>
        <p:spPr>
          <a:xfrm>
            <a:off x="9977120" y="3782568"/>
            <a:ext cx="329184" cy="32918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rPr>
              <a:t>R5</a:t>
            </a:r>
          </a:p>
        </p:txBody>
      </p:sp>
      <p:sp>
        <p:nvSpPr>
          <p:cNvPr id="66" name="Marker R6"/>
          <p:cNvSpPr/>
          <p:nvPr/>
        </p:nvSpPr>
        <p:spPr>
          <a:xfrm>
            <a:off x="8014208" y="4493768"/>
            <a:ext cx="329184" cy="32918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rPr>
              <a:t>R6</a:t>
            </a:r>
          </a:p>
        </p:txBody>
      </p:sp>
      <p:sp>
        <p:nvSpPr>
          <p:cNvPr id="67" name="Marker R7"/>
          <p:cNvSpPr/>
          <p:nvPr/>
        </p:nvSpPr>
        <p:spPr>
          <a:xfrm>
            <a:off x="7658608" y="4493768"/>
            <a:ext cx="329184" cy="32918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rPr>
              <a:t>R7</a:t>
            </a:r>
          </a:p>
        </p:txBody>
      </p:sp>
      <p:sp>
        <p:nvSpPr>
          <p:cNvPr id="68" name="Marker R8"/>
          <p:cNvSpPr/>
          <p:nvPr/>
        </p:nvSpPr>
        <p:spPr>
          <a:xfrm>
            <a:off x="7687056" y="4146295"/>
            <a:ext cx="329184" cy="32918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rPr>
              <a:t>R8</a:t>
            </a:r>
          </a:p>
        </p:txBody>
      </p:sp>
      <p:sp>
        <p:nvSpPr>
          <p:cNvPr id="3" name="TextBox 2">
            <a:extLst>
              <a:ext uri="{FF2B5EF4-FFF2-40B4-BE49-F238E27FC236}">
                <a16:creationId xmlns:a16="http://schemas.microsoft.com/office/drawing/2014/main" id="{4A841844-E585-E970-BC22-EF710274A6E6}"/>
              </a:ext>
            </a:extLst>
          </p:cNvPr>
          <p:cNvSpPr txBox="1"/>
          <p:nvPr/>
        </p:nvSpPr>
        <p:spPr>
          <a:xfrm>
            <a:off x="7131366" y="5796433"/>
            <a:ext cx="4561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Risk Score = </a:t>
            </a:r>
            <a:r>
              <a:rPr lang="en-GB" err="1"/>
              <a:t>Likeli</a:t>
            </a:r>
            <a:r>
              <a:rPr lang="en-GB"/>
              <a:t>hood x Consequence</a:t>
            </a:r>
          </a:p>
        </p:txBody>
      </p:sp>
    </p:spTree>
    <p:extLst>
      <p:ext uri="{BB962C8B-B14F-4D97-AF65-F5344CB8AC3E}">
        <p14:creationId xmlns:p14="http://schemas.microsoft.com/office/powerpoint/2010/main" val="213817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F06B4-6F40-26BF-656D-AE969DFF5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79224-D8B0-6D87-C34F-664C70957962}"/>
              </a:ext>
            </a:extLst>
          </p:cNvPr>
          <p:cNvSpPr>
            <a:spLocks noGrp="1"/>
          </p:cNvSpPr>
          <p:nvPr>
            <p:ph type="title"/>
          </p:nvPr>
        </p:nvSpPr>
        <p:spPr>
          <a:xfrm>
            <a:off x="452120" y="-635"/>
            <a:ext cx="1788160" cy="1325563"/>
          </a:xfrm>
        </p:spPr>
        <p:txBody>
          <a:bodyPr/>
          <a:lstStyle/>
          <a:p>
            <a:r>
              <a:rPr lang="en-US"/>
              <a:t>Risks</a:t>
            </a:r>
          </a:p>
        </p:txBody>
      </p:sp>
      <p:sp>
        <p:nvSpPr>
          <p:cNvPr id="4" name="Slide Number Placeholder 3">
            <a:extLst>
              <a:ext uri="{FF2B5EF4-FFF2-40B4-BE49-F238E27FC236}">
                <a16:creationId xmlns:a16="http://schemas.microsoft.com/office/drawing/2014/main" id="{71D08FDA-A534-A375-4952-8108D2581ECC}"/>
              </a:ext>
            </a:extLst>
          </p:cNvPr>
          <p:cNvSpPr>
            <a:spLocks noGrp="1"/>
          </p:cNvSpPr>
          <p:nvPr>
            <p:ph type="sldNum" sz="quarter" idx="12"/>
          </p:nvPr>
        </p:nvSpPr>
        <p:spPr/>
        <p:txBody>
          <a:bodyPr/>
          <a:lstStyle/>
          <a:p>
            <a:fld id="{330EA680-D336-4FF7-8B7A-9848BB0A1C32}" type="slidenum">
              <a:rPr lang="en-GB" smtClean="0"/>
              <a:t>12</a:t>
            </a:fld>
            <a:endParaRPr lang="en-GB"/>
          </a:p>
        </p:txBody>
      </p:sp>
      <p:graphicFrame>
        <p:nvGraphicFramePr>
          <p:cNvPr id="6" name="Risk table"/>
          <p:cNvGraphicFramePr>
            <a:graphicFrameLocks noGrp="1"/>
          </p:cNvGraphicFramePr>
          <p:nvPr>
            <p:extLst>
              <p:ext uri="{D42A27DB-BD31-4B8C-83A1-F6EECF244321}">
                <p14:modId xmlns:p14="http://schemas.microsoft.com/office/powerpoint/2010/main" val="2553967544"/>
              </p:ext>
            </p:extLst>
          </p:nvPr>
        </p:nvGraphicFramePr>
        <p:xfrm>
          <a:off x="577088" y="1087120"/>
          <a:ext cx="11035588" cy="3989835"/>
        </p:xfrm>
        <a:graphic>
          <a:graphicData uri="http://schemas.openxmlformats.org/drawingml/2006/table">
            <a:tbl>
              <a:tblPr firstRow="1" bandRow="1">
                <a:tableStyleId>{5C22544A-7EE6-4342-B048-85BDC9FD1C3A}</a:tableStyleId>
              </a:tblPr>
              <a:tblGrid>
                <a:gridCol w="546805">
                  <a:extLst>
                    <a:ext uri="{9D8B030D-6E8A-4147-A177-3AD203B41FA5}">
                      <a16:colId xmlns:a16="http://schemas.microsoft.com/office/drawing/2014/main" val="20000"/>
                    </a:ext>
                  </a:extLst>
                </a:gridCol>
                <a:gridCol w="2680583">
                  <a:extLst>
                    <a:ext uri="{9D8B030D-6E8A-4147-A177-3AD203B41FA5}">
                      <a16:colId xmlns:a16="http://schemas.microsoft.com/office/drawing/2014/main" val="20001"/>
                    </a:ext>
                  </a:extLst>
                </a:gridCol>
                <a:gridCol w="3123282">
                  <a:extLst>
                    <a:ext uri="{9D8B030D-6E8A-4147-A177-3AD203B41FA5}">
                      <a16:colId xmlns:a16="http://schemas.microsoft.com/office/drawing/2014/main" val="20002"/>
                    </a:ext>
                  </a:extLst>
                </a:gridCol>
                <a:gridCol w="832872">
                  <a:extLst>
                    <a:ext uri="{9D8B030D-6E8A-4147-A177-3AD203B41FA5}">
                      <a16:colId xmlns:a16="http://schemas.microsoft.com/office/drawing/2014/main" val="20005"/>
                    </a:ext>
                  </a:extLst>
                </a:gridCol>
                <a:gridCol w="3852046">
                  <a:extLst>
                    <a:ext uri="{9D8B030D-6E8A-4147-A177-3AD203B41FA5}">
                      <a16:colId xmlns:a16="http://schemas.microsoft.com/office/drawing/2014/main" val="20006"/>
                    </a:ext>
                  </a:extLst>
                </a:gridCol>
              </a:tblGrid>
              <a:tr h="402337">
                <a:tc>
                  <a:txBody>
                    <a:bodyPr/>
                    <a:lstStyle/>
                    <a:p>
                      <a:pPr algn="l"/>
                      <a:r>
                        <a:rPr sz="1300" b="1">
                          <a:solidFill>
                            <a:srgbClr val="FFFFFF"/>
                          </a:solidFill>
                        </a:rPr>
                        <a:t>ID</a:t>
                      </a:r>
                    </a:p>
                  </a:txBody>
                  <a:tcPr marL="73152" marR="73152" marT="27432" marB="27432" anchor="ctr">
                    <a:solidFill>
                      <a:schemeClr val="tx2"/>
                    </a:solidFill>
                  </a:tcPr>
                </a:tc>
                <a:tc>
                  <a:txBody>
                    <a:bodyPr/>
                    <a:lstStyle/>
                    <a:p>
                      <a:pPr algn="l"/>
                      <a:r>
                        <a:rPr sz="1300" b="1">
                          <a:solidFill>
                            <a:srgbClr val="FFFFFF"/>
                          </a:solidFill>
                        </a:rPr>
                        <a:t>Risk</a:t>
                      </a:r>
                    </a:p>
                  </a:txBody>
                  <a:tcPr marL="73152" marR="73152" marT="27432" marB="27432" anchor="ctr">
                    <a:solidFill>
                      <a:schemeClr val="tx2"/>
                    </a:solidFill>
                  </a:tcPr>
                </a:tc>
                <a:tc>
                  <a:txBody>
                    <a:bodyPr/>
                    <a:lstStyle/>
                    <a:p>
                      <a:pPr lvl="0" algn="l">
                        <a:buNone/>
                      </a:pPr>
                      <a:r>
                        <a:rPr lang="en-GB" sz="1300" b="1">
                          <a:solidFill>
                            <a:srgbClr val="FFFFFF"/>
                          </a:solidFill>
                        </a:rPr>
                        <a:t>Origin</a:t>
                      </a:r>
                      <a:endParaRPr sz="1300" b="1">
                        <a:solidFill>
                          <a:srgbClr val="FFFFFF"/>
                        </a:solidFill>
                      </a:endParaRPr>
                    </a:p>
                  </a:txBody>
                  <a:tcPr marL="73152" marR="73152" marT="27432" marB="27432" anchor="ctr">
                    <a:solidFill>
                      <a:schemeClr val="tx2"/>
                    </a:solidFill>
                  </a:tcPr>
                </a:tc>
                <a:tc>
                  <a:txBody>
                    <a:bodyPr/>
                    <a:lstStyle/>
                    <a:p>
                      <a:pPr lvl="0" algn="ctr">
                        <a:buNone/>
                      </a:pPr>
                      <a:r>
                        <a:rPr lang="en-GB" sz="1300" b="1">
                          <a:solidFill>
                            <a:srgbClr val="FFFFFF"/>
                          </a:solidFill>
                        </a:rPr>
                        <a:t>Risk Score</a:t>
                      </a:r>
                    </a:p>
                  </a:txBody>
                  <a:tcPr marL="73152" marR="73152" marT="27432" marB="27432" anchor="ctr">
                    <a:solidFill>
                      <a:schemeClr val="tx2"/>
                    </a:solidFill>
                  </a:tcPr>
                </a:tc>
                <a:tc>
                  <a:txBody>
                    <a:bodyPr/>
                    <a:lstStyle/>
                    <a:p>
                      <a:pPr algn="l"/>
                      <a:r>
                        <a:rPr sz="1300" b="1">
                          <a:solidFill>
                            <a:srgbClr val="FFFFFF"/>
                          </a:solidFill>
                        </a:rPr>
                        <a:t>Mitigation</a:t>
                      </a:r>
                    </a:p>
                  </a:txBody>
                  <a:tcPr marL="73152" marR="73152" marT="27432" marB="27432" anchor="ctr">
                    <a:solidFill>
                      <a:schemeClr val="tx2"/>
                    </a:solidFill>
                  </a:tcPr>
                </a:tc>
                <a:extLst>
                  <a:ext uri="{0D108BD9-81ED-4DB2-BD59-A6C34878D82A}">
                    <a16:rowId xmlns:a16="http://schemas.microsoft.com/office/drawing/2014/main" val="10000"/>
                  </a:ext>
                </a:extLst>
              </a:tr>
              <a:tr h="530353">
                <a:tc>
                  <a:txBody>
                    <a:bodyPr/>
                    <a:lstStyle/>
                    <a:p>
                      <a:pPr algn="l"/>
                      <a:r>
                        <a:rPr sz="1300" b="1">
                          <a:solidFill>
                            <a:schemeClr val="tx2"/>
                          </a:solidFill>
                        </a:rPr>
                        <a:t>R1</a:t>
                      </a:r>
                    </a:p>
                  </a:txBody>
                  <a:tcPr marL="73152" marR="73152" marT="27432" marB="27432" anchor="ctr">
                    <a:solidFill>
                      <a:srgbClr val="F2F4F8"/>
                    </a:solidFill>
                  </a:tcPr>
                </a:tc>
                <a:tc>
                  <a:txBody>
                    <a:bodyPr/>
                    <a:lstStyle/>
                    <a:p>
                      <a:pPr algn="l"/>
                      <a:r>
                        <a:rPr lang="en-US" sz="1300" b="1">
                          <a:solidFill>
                            <a:schemeClr val="tx1"/>
                          </a:solidFill>
                        </a:rPr>
                        <a:t>Aerodynamics and </a:t>
                      </a:r>
                      <a:r>
                        <a:rPr sz="1300" b="1">
                          <a:solidFill>
                            <a:schemeClr val="tx1"/>
                          </a:solidFill>
                        </a:rPr>
                        <a:t>Performance shortfall</a:t>
                      </a:r>
                    </a:p>
                  </a:txBody>
                  <a:tcPr marL="73152" marR="73152" marT="27432" marB="27432" anchor="ctr">
                    <a:solidFill>
                      <a:srgbClr val="F2F4F8"/>
                    </a:solidFill>
                  </a:tcPr>
                </a:tc>
                <a:tc>
                  <a:txBody>
                    <a:bodyPr/>
                    <a:lstStyle/>
                    <a:p>
                      <a:pPr algn="l"/>
                      <a:r>
                        <a:rPr lang="en-US" sz="1300" b="0">
                          <a:solidFill>
                            <a:schemeClr val="tx1"/>
                          </a:solidFill>
                        </a:rPr>
                        <a:t>Fuel burn goal, </a:t>
                      </a:r>
                      <a:r>
                        <a:rPr sz="1300" b="0">
                          <a:solidFill>
                            <a:schemeClr val="tx1"/>
                          </a:solidFill>
                        </a:rPr>
                        <a:t>5,000 NM range</a:t>
                      </a:r>
                      <a:r>
                        <a:rPr lang="en-US" sz="1300" b="0">
                          <a:solidFill>
                            <a:schemeClr val="tx1"/>
                          </a:solidFill>
                        </a:rPr>
                        <a:t>,</a:t>
                      </a:r>
                      <a:r>
                        <a:rPr sz="1300" b="0">
                          <a:solidFill>
                            <a:schemeClr val="tx1"/>
                          </a:solidFill>
                        </a:rPr>
                        <a:t> take</a:t>
                      </a:r>
                      <a:r>
                        <a:rPr lang="en-US" sz="1300" b="0">
                          <a:solidFill>
                            <a:schemeClr val="tx1"/>
                          </a:solidFill>
                        </a:rPr>
                        <a:t> </a:t>
                      </a:r>
                      <a:r>
                        <a:rPr sz="1300" b="0">
                          <a:solidFill>
                            <a:schemeClr val="tx1"/>
                          </a:solidFill>
                        </a:rPr>
                        <a:t>off</a:t>
                      </a:r>
                      <a:r>
                        <a:rPr lang="en-US" sz="1300" b="0">
                          <a:solidFill>
                            <a:schemeClr val="tx1"/>
                          </a:solidFill>
                        </a:rPr>
                        <a:t> &lt;</a:t>
                      </a:r>
                      <a:r>
                        <a:rPr sz="1300" b="0">
                          <a:solidFill>
                            <a:schemeClr val="tx1"/>
                          </a:solidFill>
                        </a:rPr>
                        <a:t> 3,000 m</a:t>
                      </a:r>
                      <a:r>
                        <a:rPr lang="en-US" sz="1300" b="0">
                          <a:solidFill>
                            <a:schemeClr val="tx1"/>
                          </a:solidFill>
                        </a:rPr>
                        <a:t>,</a:t>
                      </a:r>
                      <a:r>
                        <a:rPr sz="1300" b="0">
                          <a:solidFill>
                            <a:schemeClr val="tx1"/>
                          </a:solidFill>
                        </a:rPr>
                        <a:t> landing </a:t>
                      </a:r>
                      <a:r>
                        <a:rPr lang="en-US" sz="1300" b="0">
                          <a:solidFill>
                            <a:schemeClr val="tx1"/>
                          </a:solidFill>
                        </a:rPr>
                        <a:t>&lt; </a:t>
                      </a:r>
                      <a:r>
                        <a:rPr sz="1300" b="0">
                          <a:solidFill>
                            <a:schemeClr val="tx1"/>
                          </a:solidFill>
                        </a:rPr>
                        <a:t>2,700 m</a:t>
                      </a:r>
                    </a:p>
                  </a:txBody>
                  <a:tcPr marL="73152" marR="73152" marT="27432" marB="27432" anchor="ctr">
                    <a:solidFill>
                      <a:srgbClr val="F2F4F8"/>
                    </a:solidFill>
                  </a:tcPr>
                </a:tc>
                <a:tc>
                  <a:txBody>
                    <a:bodyPr/>
                    <a:lstStyle/>
                    <a:p>
                      <a:pPr algn="ctr"/>
                      <a:r>
                        <a:rPr sz="1300" b="1">
                          <a:solidFill>
                            <a:schemeClr val="tx1"/>
                          </a:solidFill>
                        </a:rPr>
                        <a:t>16</a:t>
                      </a:r>
                    </a:p>
                  </a:txBody>
                  <a:tcPr marL="73152" marR="73152" marT="27432" marB="27432" anchor="ctr">
                    <a:solidFill>
                      <a:srgbClr val="F6C9CF"/>
                    </a:solidFill>
                  </a:tcPr>
                </a:tc>
                <a:tc>
                  <a:txBody>
                    <a:bodyPr/>
                    <a:lstStyle/>
                    <a:p>
                      <a:pPr algn="l"/>
                      <a:r>
                        <a:rPr lang="en-US" sz="1300" b="0">
                          <a:solidFill>
                            <a:schemeClr val="tx1"/>
                          </a:solidFill>
                        </a:rPr>
                        <a:t>Early aerodynamic performance and analysis.</a:t>
                      </a:r>
                      <a:br>
                        <a:rPr lang="en-US" sz="1300" b="0">
                          <a:solidFill>
                            <a:srgbClr val="000000"/>
                          </a:solidFill>
                        </a:rPr>
                      </a:br>
                      <a:r>
                        <a:rPr lang="en-US" sz="1300" b="0">
                          <a:solidFill>
                            <a:schemeClr val="tx1"/>
                          </a:solidFill>
                        </a:rPr>
                        <a:t>Apply Airbus uncertainty margins  and iterative optimizing of wing and engine sizing.</a:t>
                      </a:r>
                      <a:endParaRPr lang="en-US" sz="1300" b="0">
                        <a:solidFill>
                          <a:srgbClr val="000000"/>
                        </a:solidFill>
                      </a:endParaRPr>
                    </a:p>
                  </a:txBody>
                  <a:tcPr marL="73152" marR="73152" marT="27432" marB="27432" anchor="ctr">
                    <a:solidFill>
                      <a:srgbClr val="F2F4F8"/>
                    </a:solidFill>
                  </a:tcPr>
                </a:tc>
                <a:extLst>
                  <a:ext uri="{0D108BD9-81ED-4DB2-BD59-A6C34878D82A}">
                    <a16:rowId xmlns:a16="http://schemas.microsoft.com/office/drawing/2014/main" val="10001"/>
                  </a:ext>
                </a:extLst>
              </a:tr>
              <a:tr h="530353">
                <a:tc>
                  <a:txBody>
                    <a:bodyPr/>
                    <a:lstStyle/>
                    <a:p>
                      <a:pPr algn="l"/>
                      <a:r>
                        <a:rPr sz="1300" b="1">
                          <a:solidFill>
                            <a:schemeClr val="tx2"/>
                          </a:solidFill>
                        </a:rPr>
                        <a:t>R2</a:t>
                      </a:r>
                    </a:p>
                  </a:txBody>
                  <a:tcPr marL="73152" marR="73152" marT="27432" marB="27432" anchor="ctr">
                    <a:solidFill>
                      <a:srgbClr val="FFFFFF"/>
                    </a:solidFill>
                  </a:tcPr>
                </a:tc>
                <a:tc>
                  <a:txBody>
                    <a:bodyPr/>
                    <a:lstStyle/>
                    <a:p>
                      <a:pPr lvl="0" algn="l">
                        <a:buNone/>
                      </a:pPr>
                      <a:r>
                        <a:rPr lang="en-GB" sz="1300" b="1">
                          <a:solidFill>
                            <a:schemeClr val="tx1"/>
                          </a:solidFill>
                        </a:rPr>
                        <a:t>Poor Maintainability and Reliability</a:t>
                      </a:r>
                    </a:p>
                  </a:txBody>
                  <a:tcPr marL="73152" marR="73152" marT="27432" marB="27432" anchor="ctr">
                    <a:solidFill>
                      <a:srgbClr val="FFFFFF"/>
                    </a:solidFill>
                  </a:tcPr>
                </a:tc>
                <a:tc>
                  <a:txBody>
                    <a:bodyPr/>
                    <a:lstStyle/>
                    <a:p>
                      <a:pPr lvl="0" algn="l">
                        <a:buNone/>
                      </a:pPr>
                      <a:r>
                        <a:rPr lang="en-GB" sz="1300" b="0">
                          <a:solidFill>
                            <a:schemeClr val="tx1"/>
                          </a:solidFill>
                        </a:rPr>
                        <a:t>High operational availability</a:t>
                      </a:r>
                    </a:p>
                    <a:p>
                      <a:pPr lvl="0" algn="l">
                        <a:buNone/>
                      </a:pPr>
                      <a:r>
                        <a:rPr lang="en-GB" sz="1300" b="0">
                          <a:solidFill>
                            <a:schemeClr val="tx1"/>
                          </a:solidFill>
                        </a:rPr>
                        <a:t>Rapid fault resolution and efficient aircraft utilisation</a:t>
                      </a:r>
                    </a:p>
                  </a:txBody>
                  <a:tcPr marL="73152" marR="73152" marT="27432" marB="27432" anchor="ctr">
                    <a:solidFill>
                      <a:srgbClr val="FFFFFF"/>
                    </a:solidFill>
                  </a:tcPr>
                </a:tc>
                <a:tc>
                  <a:txBody>
                    <a:bodyPr/>
                    <a:lstStyle/>
                    <a:p>
                      <a:pPr algn="ctr"/>
                      <a:r>
                        <a:rPr lang="en-US" sz="1300" b="1">
                          <a:solidFill>
                            <a:schemeClr val="tx1"/>
                          </a:solidFill>
                        </a:rPr>
                        <a:t>9</a:t>
                      </a:r>
                      <a:endParaRPr sz="1300" b="1">
                        <a:solidFill>
                          <a:schemeClr val="tx1"/>
                        </a:solidFill>
                      </a:endParaRPr>
                    </a:p>
                  </a:txBody>
                  <a:tcPr marL="73152" marR="73152" marT="27432" marB="27432" anchor="ctr">
                    <a:solidFill>
                      <a:srgbClr val="F6C9CF"/>
                    </a:solidFill>
                  </a:tcPr>
                </a:tc>
                <a:tc>
                  <a:txBody>
                    <a:bodyPr/>
                    <a:lstStyle/>
                    <a:p>
                      <a:pPr lvl="0" algn="l">
                        <a:buNone/>
                      </a:pPr>
                      <a:r>
                        <a:rPr lang="en-US" sz="1300" b="0" err="1">
                          <a:solidFill>
                            <a:schemeClr val="tx1"/>
                          </a:solidFill>
                        </a:rPr>
                        <a:t>Prioritise</a:t>
                      </a:r>
                      <a:r>
                        <a:rPr lang="en-US" sz="1300" b="0">
                          <a:solidFill>
                            <a:schemeClr val="tx1"/>
                          </a:solidFill>
                        </a:rPr>
                        <a:t> component accessibility, system reliability and efficient maintenance procedures.</a:t>
                      </a:r>
                    </a:p>
                  </a:txBody>
                  <a:tcPr marL="73152" marR="73152" marT="27432" marB="27432" anchor="ctr">
                    <a:solidFill>
                      <a:srgbClr val="FFFFFF"/>
                    </a:solidFill>
                  </a:tcPr>
                </a:tc>
                <a:extLst>
                  <a:ext uri="{0D108BD9-81ED-4DB2-BD59-A6C34878D82A}">
                    <a16:rowId xmlns:a16="http://schemas.microsoft.com/office/drawing/2014/main" val="10002"/>
                  </a:ext>
                </a:extLst>
              </a:tr>
              <a:tr h="530353">
                <a:tc>
                  <a:txBody>
                    <a:bodyPr/>
                    <a:lstStyle/>
                    <a:p>
                      <a:pPr algn="l"/>
                      <a:r>
                        <a:rPr sz="1300" b="1">
                          <a:solidFill>
                            <a:schemeClr val="tx2"/>
                          </a:solidFill>
                        </a:rPr>
                        <a:t>R3</a:t>
                      </a:r>
                    </a:p>
                  </a:txBody>
                  <a:tcPr marL="73152" marR="73152" marT="27432" marB="27432" anchor="ctr">
                    <a:solidFill>
                      <a:srgbClr val="F2F4F8"/>
                    </a:solidFill>
                  </a:tcPr>
                </a:tc>
                <a:tc>
                  <a:txBody>
                    <a:bodyPr/>
                    <a:lstStyle/>
                    <a:p>
                      <a:pPr algn="l"/>
                      <a:r>
                        <a:rPr sz="1300" b="1">
                          <a:solidFill>
                            <a:schemeClr val="tx1"/>
                          </a:solidFill>
                        </a:rPr>
                        <a:t>CS-25 non-compliance</a:t>
                      </a:r>
                    </a:p>
                  </a:txBody>
                  <a:tcPr marL="73152" marR="73152" marT="27432" marB="27432" anchor="ctr">
                    <a:solidFill>
                      <a:srgbClr val="F2F4F8"/>
                    </a:solidFill>
                  </a:tcPr>
                </a:tc>
                <a:tc>
                  <a:txBody>
                    <a:bodyPr/>
                    <a:lstStyle/>
                    <a:p>
                      <a:pPr lvl="0" algn="l">
                        <a:buNone/>
                      </a:pPr>
                      <a:r>
                        <a:rPr lang="en-GB" sz="1300" b="0">
                          <a:solidFill>
                            <a:schemeClr val="tx1"/>
                          </a:solidFill>
                        </a:rPr>
                        <a:t>Structural safety, system integration and emergency evacuation.</a:t>
                      </a:r>
                    </a:p>
                  </a:txBody>
                  <a:tcPr marL="73152" marR="73152" marT="27432" marB="27432" anchor="ctr">
                    <a:solidFill>
                      <a:srgbClr val="F2F4F8"/>
                    </a:solidFill>
                  </a:tcPr>
                </a:tc>
                <a:tc>
                  <a:txBody>
                    <a:bodyPr/>
                    <a:lstStyle/>
                    <a:p>
                      <a:pPr algn="ctr"/>
                      <a:r>
                        <a:rPr sz="1300" b="1">
                          <a:solidFill>
                            <a:schemeClr val="tx1"/>
                          </a:solidFill>
                        </a:rPr>
                        <a:t>15</a:t>
                      </a:r>
                    </a:p>
                  </a:txBody>
                  <a:tcPr marL="73152" marR="73152" marT="27432" marB="27432" anchor="ctr">
                    <a:solidFill>
                      <a:srgbClr val="F6C9CF"/>
                    </a:solidFill>
                  </a:tcPr>
                </a:tc>
                <a:tc>
                  <a:txBody>
                    <a:bodyPr/>
                    <a:lstStyle/>
                    <a:p>
                      <a:pPr algn="l"/>
                      <a:r>
                        <a:rPr sz="1300" b="0">
                          <a:solidFill>
                            <a:schemeClr val="tx1"/>
                          </a:solidFill>
                        </a:rPr>
                        <a:t>CS-25 compliance matrix and early verification checks</a:t>
                      </a:r>
                    </a:p>
                  </a:txBody>
                  <a:tcPr marL="73152" marR="73152" marT="27432" marB="27432" anchor="ctr">
                    <a:solidFill>
                      <a:srgbClr val="F2F4F8"/>
                    </a:solidFill>
                  </a:tcPr>
                </a:tc>
                <a:extLst>
                  <a:ext uri="{0D108BD9-81ED-4DB2-BD59-A6C34878D82A}">
                    <a16:rowId xmlns:a16="http://schemas.microsoft.com/office/drawing/2014/main" val="10003"/>
                  </a:ext>
                </a:extLst>
              </a:tr>
              <a:tr h="530353">
                <a:tc>
                  <a:txBody>
                    <a:bodyPr/>
                    <a:lstStyle/>
                    <a:p>
                      <a:pPr algn="l"/>
                      <a:r>
                        <a:rPr sz="1300" b="1">
                          <a:solidFill>
                            <a:schemeClr val="tx2"/>
                          </a:solidFill>
                        </a:rPr>
                        <a:t>R4</a:t>
                      </a:r>
                    </a:p>
                  </a:txBody>
                  <a:tcPr marL="73152" marR="73152" marT="27432" marB="27432" anchor="ctr">
                    <a:solidFill>
                      <a:srgbClr val="FFFFFF"/>
                    </a:solidFill>
                  </a:tcPr>
                </a:tc>
                <a:tc>
                  <a:txBody>
                    <a:bodyPr/>
                    <a:lstStyle/>
                    <a:p>
                      <a:pPr lvl="0" algn="l">
                        <a:buNone/>
                      </a:pPr>
                      <a:r>
                        <a:rPr lang="en-GB" sz="1300" b="1">
                          <a:solidFill>
                            <a:schemeClr val="tx1"/>
                          </a:solidFill>
                        </a:rPr>
                        <a:t>Noise &amp; emissions non compliance</a:t>
                      </a:r>
                    </a:p>
                  </a:txBody>
                  <a:tcPr marL="73152" marR="73152" marT="27432" marB="27432" anchor="ctr">
                    <a:solidFill>
                      <a:srgbClr val="FFFFFF"/>
                    </a:solidFill>
                  </a:tcPr>
                </a:tc>
                <a:tc>
                  <a:txBody>
                    <a:bodyPr/>
                    <a:lstStyle/>
                    <a:p>
                      <a:pPr lvl="0" algn="l">
                        <a:buNone/>
                      </a:pPr>
                      <a:r>
                        <a:rPr lang="en-GB" sz="1300" b="0">
                          <a:solidFill>
                            <a:schemeClr val="tx1"/>
                          </a:solidFill>
                        </a:rPr>
                        <a:t>Stage 3-25 </a:t>
                      </a:r>
                      <a:r>
                        <a:rPr lang="en-GB" sz="1300" b="0" err="1">
                          <a:solidFill>
                            <a:schemeClr val="tx1"/>
                          </a:solidFill>
                        </a:rPr>
                        <a:t>EPNdB</a:t>
                      </a:r>
                      <a:r>
                        <a:rPr lang="en-GB" sz="1300" b="0">
                          <a:solidFill>
                            <a:schemeClr val="tx1"/>
                          </a:solidFill>
                        </a:rPr>
                        <a:t> noise target</a:t>
                      </a:r>
                      <a:br>
                        <a:rPr lang="en-GB" sz="1300" b="0">
                          <a:solidFill>
                            <a:srgbClr val="000000"/>
                          </a:solidFill>
                        </a:rPr>
                      </a:br>
                      <a:r>
                        <a:rPr lang="en-GB" sz="1300" b="0">
                          <a:solidFill>
                            <a:schemeClr val="tx1"/>
                          </a:solidFill>
                        </a:rPr>
                        <a:t>CAEP6 emissions with 40% margin</a:t>
                      </a:r>
                    </a:p>
                  </a:txBody>
                  <a:tcPr marL="73152" marR="73152" marT="27432" marB="27432" anchor="ctr">
                    <a:solidFill>
                      <a:srgbClr val="FFFFFF"/>
                    </a:solidFill>
                  </a:tcPr>
                </a:tc>
                <a:tc>
                  <a:txBody>
                    <a:bodyPr/>
                    <a:lstStyle/>
                    <a:p>
                      <a:pPr algn="ctr"/>
                      <a:r>
                        <a:rPr sz="1300" b="1">
                          <a:solidFill>
                            <a:schemeClr val="tx1"/>
                          </a:solidFill>
                        </a:rPr>
                        <a:t>12</a:t>
                      </a:r>
                    </a:p>
                  </a:txBody>
                  <a:tcPr marL="73152" marR="73152" marT="27432" marB="27432" anchor="ctr">
                    <a:solidFill>
                      <a:srgbClr val="FCE7B5"/>
                    </a:solidFill>
                  </a:tcPr>
                </a:tc>
                <a:tc>
                  <a:txBody>
                    <a:bodyPr/>
                    <a:lstStyle/>
                    <a:p>
                      <a:pPr lvl="0" algn="l">
                        <a:buNone/>
                      </a:pPr>
                      <a:r>
                        <a:rPr lang="en-GB" sz="1300" b="0">
                          <a:solidFill>
                            <a:schemeClr val="tx1"/>
                          </a:solidFill>
                        </a:rPr>
                        <a:t>Early qualitative assessment.</a:t>
                      </a:r>
                      <a:br>
                        <a:rPr lang="en-GB" sz="1300" b="0">
                          <a:solidFill>
                            <a:srgbClr val="000000"/>
                          </a:solidFill>
                        </a:rPr>
                      </a:br>
                      <a:r>
                        <a:rPr lang="en-GB" sz="1300" b="0">
                          <a:solidFill>
                            <a:schemeClr val="tx1"/>
                          </a:solidFill>
                        </a:rPr>
                        <a:t>Favor a low noise, low NOx engine choice</a:t>
                      </a:r>
                    </a:p>
                  </a:txBody>
                  <a:tcPr marL="73152" marR="73152" marT="27432" marB="27432" anchor="ctr">
                    <a:solidFill>
                      <a:srgbClr val="FFFFFF"/>
                    </a:solidFill>
                  </a:tcPr>
                </a:tc>
                <a:extLst>
                  <a:ext uri="{0D108BD9-81ED-4DB2-BD59-A6C34878D82A}">
                    <a16:rowId xmlns:a16="http://schemas.microsoft.com/office/drawing/2014/main" val="10004"/>
                  </a:ext>
                </a:extLst>
              </a:tr>
              <a:tr h="530353">
                <a:tc>
                  <a:txBody>
                    <a:bodyPr/>
                    <a:lstStyle/>
                    <a:p>
                      <a:pPr algn="l"/>
                      <a:r>
                        <a:rPr sz="1300" b="1">
                          <a:solidFill>
                            <a:schemeClr val="tx2"/>
                          </a:solidFill>
                        </a:rPr>
                        <a:t>R5</a:t>
                      </a:r>
                    </a:p>
                  </a:txBody>
                  <a:tcPr marL="73152" marR="73152" marT="27432" marB="27432" anchor="ctr">
                    <a:solidFill>
                      <a:srgbClr val="F2F4F8"/>
                    </a:solidFill>
                  </a:tcPr>
                </a:tc>
                <a:tc>
                  <a:txBody>
                    <a:bodyPr/>
                    <a:lstStyle/>
                    <a:p>
                      <a:pPr lvl="0" algn="l">
                        <a:buNone/>
                      </a:pPr>
                      <a:r>
                        <a:rPr lang="en-US" sz="1300" b="1">
                          <a:solidFill>
                            <a:schemeClr val="tx1"/>
                          </a:solidFill>
                        </a:rPr>
                        <a:t>100% SAF Fuel Systems Incompatibility</a:t>
                      </a:r>
                    </a:p>
                  </a:txBody>
                  <a:tcPr marL="73152" marR="73152" marT="27432" marB="27432" anchor="ctr">
                    <a:solidFill>
                      <a:srgbClr val="F2F4F8"/>
                    </a:solidFill>
                  </a:tcPr>
                </a:tc>
                <a:tc>
                  <a:txBody>
                    <a:bodyPr/>
                    <a:lstStyle/>
                    <a:p>
                      <a:pPr lvl="0" algn="l">
                        <a:buNone/>
                      </a:pPr>
                      <a:r>
                        <a:rPr lang="en-GB" sz="1300" b="0">
                          <a:solidFill>
                            <a:schemeClr val="tx1"/>
                          </a:solidFill>
                        </a:rPr>
                        <a:t>Engines and fuel systems must operate on 100% SAF.</a:t>
                      </a:r>
                    </a:p>
                  </a:txBody>
                  <a:tcPr marL="73152" marR="73152" marT="27432" marB="27432" anchor="ctr">
                    <a:solidFill>
                      <a:srgbClr val="F2F4F8"/>
                    </a:solidFill>
                  </a:tcPr>
                </a:tc>
                <a:tc>
                  <a:txBody>
                    <a:bodyPr/>
                    <a:lstStyle/>
                    <a:p>
                      <a:pPr algn="ctr"/>
                      <a:r>
                        <a:rPr lang="en-US" sz="1300" b="1">
                          <a:solidFill>
                            <a:schemeClr val="tx1"/>
                          </a:solidFill>
                        </a:rPr>
                        <a:t>8</a:t>
                      </a:r>
                      <a:endParaRPr sz="1300" b="1">
                        <a:solidFill>
                          <a:schemeClr val="tx1"/>
                        </a:solidFill>
                      </a:endParaRPr>
                    </a:p>
                  </a:txBody>
                  <a:tcPr marL="73152" marR="73152" marT="27432" marB="27432" anchor="ctr">
                    <a:solidFill>
                      <a:srgbClr val="FCE7B5"/>
                    </a:solidFill>
                  </a:tcPr>
                </a:tc>
                <a:tc>
                  <a:txBody>
                    <a:bodyPr/>
                    <a:lstStyle/>
                    <a:p>
                      <a:pPr algn="l"/>
                      <a:r>
                        <a:rPr lang="en-GB" sz="1300" b="0">
                          <a:solidFill>
                            <a:schemeClr val="tx1"/>
                          </a:solidFill>
                        </a:rPr>
                        <a:t>Verify 100% SAF compatibility of engines, fuel system components and materials using manufacturer data.</a:t>
                      </a:r>
                    </a:p>
                  </a:txBody>
                  <a:tcPr marL="73152" marR="73152" marT="27432" marB="27432" anchor="ctr">
                    <a:solidFill>
                      <a:srgbClr val="F2F4F8"/>
                    </a:solidFill>
                  </a:tcPr>
                </a:tc>
                <a:extLst>
                  <a:ext uri="{0D108BD9-81ED-4DB2-BD59-A6C34878D82A}">
                    <a16:rowId xmlns:a16="http://schemas.microsoft.com/office/drawing/2014/main" val="10005"/>
                  </a:ext>
                </a:extLst>
              </a:tr>
              <a:tr h="530353">
                <a:tc>
                  <a:txBody>
                    <a:bodyPr/>
                    <a:lstStyle/>
                    <a:p>
                      <a:pPr algn="l"/>
                      <a:r>
                        <a:rPr sz="1300" b="1">
                          <a:solidFill>
                            <a:schemeClr val="tx2"/>
                          </a:solidFill>
                        </a:rPr>
                        <a:t>R6</a:t>
                      </a:r>
                    </a:p>
                  </a:txBody>
                  <a:tcPr marL="73152" marR="73152" marT="27432" marB="27432" anchor="ctr">
                    <a:solidFill>
                      <a:srgbClr val="FFFFFF"/>
                    </a:solidFill>
                  </a:tcPr>
                </a:tc>
                <a:tc>
                  <a:txBody>
                    <a:bodyPr/>
                    <a:lstStyle/>
                    <a:p>
                      <a:pPr algn="l"/>
                      <a:endParaRPr lang="en-GB" sz="1300" b="1">
                        <a:solidFill>
                          <a:schemeClr val="tx1"/>
                        </a:solidFill>
                      </a:endParaRPr>
                    </a:p>
                  </a:txBody>
                  <a:tcPr marL="73152" marR="73152" marT="27432" marB="27432" anchor="ctr">
                    <a:solidFill>
                      <a:srgbClr val="FFFFFF"/>
                    </a:solidFill>
                  </a:tcPr>
                </a:tc>
                <a:tc>
                  <a:txBody>
                    <a:bodyPr/>
                    <a:lstStyle/>
                    <a:p>
                      <a:pPr algn="l"/>
                      <a:endParaRPr lang="en-GB" sz="1300" b="0">
                        <a:solidFill>
                          <a:schemeClr val="tx1"/>
                        </a:solidFill>
                      </a:endParaRPr>
                    </a:p>
                  </a:txBody>
                  <a:tcPr marL="73152" marR="73152" marT="27432" marB="27432" anchor="ctr">
                    <a:solidFill>
                      <a:srgbClr val="FFFFFF"/>
                    </a:solidFill>
                  </a:tcPr>
                </a:tc>
                <a:tc>
                  <a:txBody>
                    <a:bodyPr/>
                    <a:lstStyle/>
                    <a:p>
                      <a:pPr algn="ctr"/>
                      <a:endParaRPr lang="en-GB" sz="1300" b="1">
                        <a:solidFill>
                          <a:schemeClr val="tx1"/>
                        </a:solidFill>
                      </a:endParaRPr>
                    </a:p>
                  </a:txBody>
                  <a:tcPr marL="73152" marR="73152" marT="27432" marB="27432" anchor="ctr">
                    <a:solidFill>
                      <a:srgbClr val="FCE7B5"/>
                    </a:solidFill>
                  </a:tcPr>
                </a:tc>
                <a:tc>
                  <a:txBody>
                    <a:bodyPr/>
                    <a:lstStyle/>
                    <a:p>
                      <a:pPr algn="l"/>
                      <a:endParaRPr lang="en-GB" sz="1300" b="0">
                        <a:solidFill>
                          <a:schemeClr val="tx1"/>
                        </a:solidFill>
                      </a:endParaRPr>
                    </a:p>
                  </a:txBody>
                  <a:tcPr marL="73152" marR="73152"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7" name="Limitations box"/>
          <p:cNvSpPr/>
          <p:nvPr/>
        </p:nvSpPr>
        <p:spPr>
          <a:xfrm>
            <a:off x="845820" y="6166330"/>
            <a:ext cx="10515600" cy="640080"/>
          </a:xfrm>
          <a:prstGeom prst="roundRect">
            <a:avLst>
              <a:gd name="adj" fmla="val 15000"/>
            </a:avLst>
          </a:prstGeom>
          <a:solidFill>
            <a:srgbClr val="CD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Limitations text"/>
          <p:cNvSpPr txBox="1"/>
          <p:nvPr/>
        </p:nvSpPr>
        <p:spPr>
          <a:xfrm>
            <a:off x="1043940" y="6255537"/>
            <a:ext cx="10104120" cy="461665"/>
          </a:xfrm>
          <a:prstGeom prst="rect">
            <a:avLst/>
          </a:prstGeom>
          <a:noFill/>
        </p:spPr>
        <p:txBody>
          <a:bodyPr wrap="square" lIns="0" tIns="0" rIns="0" bIns="0" anchor="ctr">
            <a:spAutoFit/>
          </a:bodyPr>
          <a:lstStyle/>
          <a:p>
            <a:pPr algn="ctr"/>
            <a:r>
              <a:rPr lang="en-US" sz="1500" b="1"/>
              <a:t>Not all risks can be eliminated at SRR, remaining uncertainties will be monitored and progressively mitigated through PDR and CDR</a:t>
            </a:r>
            <a:endParaRPr lang="en-US"/>
          </a:p>
        </p:txBody>
      </p:sp>
    </p:spTree>
    <p:extLst>
      <p:ext uri="{BB962C8B-B14F-4D97-AF65-F5344CB8AC3E}">
        <p14:creationId xmlns:p14="http://schemas.microsoft.com/office/powerpoint/2010/main" val="245302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F06B4-6F40-26BF-656D-AE969DFF5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79224-D8B0-6D87-C34F-664C70957962}"/>
              </a:ext>
            </a:extLst>
          </p:cNvPr>
          <p:cNvSpPr>
            <a:spLocks noGrp="1"/>
          </p:cNvSpPr>
          <p:nvPr>
            <p:ph type="title"/>
          </p:nvPr>
        </p:nvSpPr>
        <p:spPr/>
        <p:txBody>
          <a:bodyPr/>
          <a:lstStyle/>
          <a:p>
            <a:r>
              <a:rPr lang="en-US"/>
              <a:t>Risks</a:t>
            </a:r>
          </a:p>
        </p:txBody>
      </p:sp>
      <p:sp>
        <p:nvSpPr>
          <p:cNvPr id="3" name="Content Placeholder 2">
            <a:extLst>
              <a:ext uri="{FF2B5EF4-FFF2-40B4-BE49-F238E27FC236}">
                <a16:creationId xmlns:a16="http://schemas.microsoft.com/office/drawing/2014/main" id="{ADD9CD57-F9B6-8C91-4022-31C3F5BDE7F0}"/>
              </a:ext>
            </a:extLst>
          </p:cNvPr>
          <p:cNvSpPr>
            <a:spLocks noGrp="1"/>
          </p:cNvSpPr>
          <p:nvPr>
            <p:ph idx="1"/>
          </p:nvPr>
        </p:nvSpPr>
        <p:spPr/>
        <p:txBody>
          <a:bodyPr vert="horz" lIns="91440" tIns="45720" rIns="91440" bIns="45720" rtlCol="0" anchor="t">
            <a:normAutofit/>
          </a:bodyPr>
          <a:lstStyle/>
          <a:p>
            <a:r>
              <a:rPr lang="en-US"/>
              <a:t>Examples of risks (maybe pic of example from some kind of risk table)</a:t>
            </a:r>
          </a:p>
          <a:p>
            <a:r>
              <a:rPr lang="en-US"/>
              <a:t>Also acknowledge that we have limitations, can't plan for/resolve everything but recap what we've done to try to avoid:</a:t>
            </a:r>
          </a:p>
          <a:p>
            <a:pPr lvl="1">
              <a:buFont typeface="Courier New" panose="020B0604020202020204" pitchFamily="34" charset="0"/>
              <a:buChar char="o"/>
            </a:pPr>
            <a:r>
              <a:rPr lang="en-US" err="1"/>
              <a:t>Reqs</a:t>
            </a:r>
            <a:r>
              <a:rPr lang="en-US"/>
              <a:t> from CS-25</a:t>
            </a:r>
          </a:p>
          <a:p>
            <a:pPr lvl="1">
              <a:buFont typeface="Courier New" panose="020B0604020202020204" pitchFamily="34" charset="0"/>
              <a:buChar char="o"/>
            </a:pPr>
            <a:r>
              <a:rPr lang="en-US"/>
              <a:t>Project breakdown and </a:t>
            </a:r>
            <a:r>
              <a:rPr lang="en-US" err="1"/>
              <a:t>organisation</a:t>
            </a:r>
            <a:r>
              <a:rPr lang="en-US"/>
              <a:t> to make manageable</a:t>
            </a:r>
          </a:p>
          <a:p>
            <a:r>
              <a:rPr lang="en-US"/>
              <a:t>Acknowledged it, now how are we going to make it a reality? How will be bring to life what we introduced in intro on a practical level?</a:t>
            </a:r>
          </a:p>
          <a:p>
            <a:r>
              <a:rPr lang="en-US"/>
              <a:t>Risk of not fulfilling brief - costs</a:t>
            </a:r>
          </a:p>
        </p:txBody>
      </p:sp>
      <p:sp>
        <p:nvSpPr>
          <p:cNvPr id="4" name="Slide Number Placeholder 3">
            <a:extLst>
              <a:ext uri="{FF2B5EF4-FFF2-40B4-BE49-F238E27FC236}">
                <a16:creationId xmlns:a16="http://schemas.microsoft.com/office/drawing/2014/main" id="{71D08FDA-A534-A375-4952-8108D2581ECC}"/>
              </a:ext>
            </a:extLst>
          </p:cNvPr>
          <p:cNvSpPr>
            <a:spLocks noGrp="1"/>
          </p:cNvSpPr>
          <p:nvPr>
            <p:ph type="sldNum" sz="quarter" idx="12"/>
          </p:nvPr>
        </p:nvSpPr>
        <p:spPr/>
        <p:txBody>
          <a:bodyPr/>
          <a:lstStyle/>
          <a:p>
            <a:fld id="{330EA680-D336-4FF7-8B7A-9848BB0A1C32}" type="slidenum">
              <a:rPr lang="en-GB" smtClean="0"/>
              <a:t>13</a:t>
            </a:fld>
            <a:endParaRPr lang="en-GB"/>
          </a:p>
        </p:txBody>
      </p:sp>
    </p:spTree>
    <p:extLst>
      <p:ext uri="{BB962C8B-B14F-4D97-AF65-F5344CB8AC3E}">
        <p14:creationId xmlns:p14="http://schemas.microsoft.com/office/powerpoint/2010/main" val="368050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EFB7F4-1924-1288-57A5-E97A50C92EF5}"/>
              </a:ext>
            </a:extLst>
          </p:cNvPr>
          <p:cNvSpPr>
            <a:spLocks noGrp="1"/>
          </p:cNvSpPr>
          <p:nvPr>
            <p:ph type="sldNum" sz="quarter" idx="12"/>
          </p:nvPr>
        </p:nvSpPr>
        <p:spPr/>
        <p:txBody>
          <a:bodyPr/>
          <a:lstStyle/>
          <a:p>
            <a:fld id="{330EA680-D336-4FF7-8B7A-9848BB0A1C32}" type="slidenum">
              <a:rPr lang="en-GB" smtClean="0"/>
              <a:t>14</a:t>
            </a:fld>
            <a:endParaRPr lang="en-GB"/>
          </a:p>
        </p:txBody>
      </p:sp>
      <p:sp>
        <p:nvSpPr>
          <p:cNvPr id="4" name="TextBox 3">
            <a:extLst>
              <a:ext uri="{FF2B5EF4-FFF2-40B4-BE49-F238E27FC236}">
                <a16:creationId xmlns:a16="http://schemas.microsoft.com/office/drawing/2014/main" id="{D7523BF3-3BFF-8C21-96DE-52D217ECCB91}"/>
              </a:ext>
            </a:extLst>
          </p:cNvPr>
          <p:cNvSpPr txBox="1"/>
          <p:nvPr/>
        </p:nvSpPr>
        <p:spPr>
          <a:xfrm>
            <a:off x="164592" y="1691640"/>
            <a:ext cx="5120640" cy="1554480"/>
          </a:xfrm>
          <a:prstGeom prst="rect">
            <a:avLst/>
          </a:prstGeom>
          <a:noFill/>
          <a:ln w="12700">
            <a:noFill/>
          </a:ln>
        </p:spPr>
        <p:txBody>
          <a:bodyPr wrap="square" lIns="109728" tIns="54864" rIns="109728" bIns="45720" anchor="t">
            <a:noAutofit/>
          </a:bodyPr>
          <a:lstStyle/>
          <a:p>
            <a:pPr algn="l">
              <a:spcAft>
                <a:spcPts val="400"/>
              </a:spcAft>
              <a:buNone/>
            </a:pPr>
            <a:r>
              <a:rPr sz="1600" b="1"/>
              <a:t>Typical airline operating-cost split</a:t>
            </a:r>
          </a:p>
          <a:p>
            <a:pPr marL="171450" indent="-171450">
              <a:spcAft>
                <a:spcPts val="300"/>
              </a:spcAft>
              <a:buFont typeface="Arial"/>
              <a:buChar char="•"/>
            </a:pPr>
            <a:r>
              <a:rPr lang="en-US" sz="1400" b="1"/>
              <a:t>Fuel: </a:t>
            </a:r>
            <a:r>
              <a:rPr lang="en-US" sz="1400" b="0"/>
              <a:t>≈</a:t>
            </a:r>
            <a:r>
              <a:rPr lang="en-US" sz="1400"/>
              <a:t> 25 - 40</a:t>
            </a:r>
            <a:r>
              <a:rPr lang="en-US" sz="1400" b="0"/>
              <a:t> %</a:t>
            </a:r>
            <a:r>
              <a:rPr lang="en-US" sz="1400"/>
              <a:t> of DOC</a:t>
            </a:r>
            <a:r>
              <a:rPr lang="en-GB" sz="1200" b="0" i="1">
                <a:solidFill>
                  <a:srgbClr val="595959"/>
                </a:solidFill>
              </a:rPr>
              <a:t> (× 41 % SAF premium = +10-17 %)</a:t>
            </a:r>
            <a:endParaRPr lang="en-US" sz="1400" b="0"/>
          </a:p>
          <a:p>
            <a:pPr marL="171450" indent="-171450">
              <a:spcAft>
                <a:spcPts val="300"/>
              </a:spcAft>
              <a:buFont typeface="Arial"/>
              <a:buChar char="•"/>
            </a:pPr>
            <a:r>
              <a:rPr lang="en-US" sz="1400" b="1"/>
              <a:t>Maintenance: </a:t>
            </a:r>
            <a:r>
              <a:rPr lang="en-US" sz="1400" b="0"/>
              <a:t>≈ </a:t>
            </a:r>
            <a:r>
              <a:rPr lang="en-US" sz="1400"/>
              <a:t>20 - 30</a:t>
            </a:r>
            <a:r>
              <a:rPr lang="en-US" sz="1400" b="0"/>
              <a:t> %</a:t>
            </a:r>
            <a:r>
              <a:rPr lang="en-US" sz="1400"/>
              <a:t> of DOC</a:t>
            </a:r>
            <a:endParaRPr lang="en-US" sz="1400" b="0"/>
          </a:p>
          <a:p>
            <a:pPr marL="171450" indent="-171450">
              <a:spcAft>
                <a:spcPts val="300"/>
              </a:spcAft>
              <a:buFont typeface="Arial"/>
              <a:buChar char="•"/>
            </a:pPr>
            <a:r>
              <a:rPr lang="en-US" sz="1400" b="1"/>
              <a:t>Crew: </a:t>
            </a:r>
            <a:r>
              <a:rPr lang="en-US" sz="1400" b="0"/>
              <a:t>≈ </a:t>
            </a:r>
            <a:r>
              <a:rPr lang="en-US" sz="1400"/>
              <a:t>10 – 20 % of DOC</a:t>
            </a:r>
            <a:endParaRPr lang="en-US" sz="1400" b="0"/>
          </a:p>
          <a:p>
            <a:pPr marL="171450" indent="-171450">
              <a:spcAft>
                <a:spcPts val="300"/>
              </a:spcAft>
              <a:buFont typeface="Arial"/>
              <a:buChar char="•"/>
            </a:pPr>
            <a:r>
              <a:rPr lang="en-US" sz="1400" b="1"/>
              <a:t>Ownership: </a:t>
            </a:r>
            <a:r>
              <a:rPr lang="en-US" sz="1400" b="0"/>
              <a:t>≈ </a:t>
            </a:r>
            <a:r>
              <a:rPr lang="en-US" sz="1400"/>
              <a:t>10 - 20</a:t>
            </a:r>
            <a:r>
              <a:rPr lang="en-US" sz="1400" b="0"/>
              <a:t> %</a:t>
            </a:r>
            <a:r>
              <a:rPr lang="en-US" sz="1400"/>
              <a:t> of DOC</a:t>
            </a:r>
            <a:endParaRPr lang="en-US" sz="1400" b="0"/>
          </a:p>
        </p:txBody>
      </p:sp>
      <p:sp>
        <p:nvSpPr>
          <p:cNvPr id="9" name="TextBox 8">
            <a:extLst>
              <a:ext uri="{FF2B5EF4-FFF2-40B4-BE49-F238E27FC236}">
                <a16:creationId xmlns:a16="http://schemas.microsoft.com/office/drawing/2014/main" id="{29F9EF32-E0F7-9C96-1E03-2DD575463935}"/>
              </a:ext>
            </a:extLst>
          </p:cNvPr>
          <p:cNvSpPr txBox="1"/>
          <p:nvPr/>
        </p:nvSpPr>
        <p:spPr>
          <a:xfrm>
            <a:off x="182880" y="299720"/>
            <a:ext cx="11247120" cy="685800"/>
          </a:xfrm>
          <a:prstGeom prst="rect">
            <a:avLst/>
          </a:prstGeom>
          <a:noFill/>
        </p:spPr>
        <p:txBody>
          <a:bodyPr wrap="square" lIns="91440" tIns="45720" rIns="91440" bIns="45720" rtlCol="0" anchor="ctr">
            <a:noAutofit/>
          </a:bodyPr>
          <a:lstStyle/>
          <a:p>
            <a:pPr algn="l"/>
            <a:r>
              <a:rPr lang="en-GB" sz="4400" b="0">
                <a:solidFill>
                  <a:srgbClr val="000000"/>
                </a:solidFill>
                <a:latin typeface="+mj-lt"/>
              </a:rPr>
              <a:t>Costs: DOC</a:t>
            </a:r>
          </a:p>
        </p:txBody>
      </p:sp>
      <p:graphicFrame>
        <p:nvGraphicFramePr>
          <p:cNvPr id="12" name="Table 11">
            <a:extLst>
              <a:ext uri="{FF2B5EF4-FFF2-40B4-BE49-F238E27FC236}">
                <a16:creationId xmlns:a16="http://schemas.microsoft.com/office/drawing/2014/main" id="{F244A9A1-4939-32FB-36D8-A473C0EF8266}"/>
              </a:ext>
            </a:extLst>
          </p:cNvPr>
          <p:cNvGraphicFramePr>
            <a:graphicFrameLocks noGrp="1"/>
          </p:cNvGraphicFramePr>
          <p:nvPr>
            <p:extLst>
              <p:ext uri="{D42A27DB-BD31-4B8C-83A1-F6EECF244321}">
                <p14:modId xmlns:p14="http://schemas.microsoft.com/office/powerpoint/2010/main" val="2191329860"/>
              </p:ext>
            </p:extLst>
          </p:nvPr>
        </p:nvGraphicFramePr>
        <p:xfrm>
          <a:off x="5326078" y="552156"/>
          <a:ext cx="6686550" cy="1600200"/>
        </p:xfrm>
        <a:graphic>
          <a:graphicData uri="http://schemas.openxmlformats.org/drawingml/2006/table">
            <a:tbl>
              <a:tblPr firstRow="1" bandRow="1">
                <a:tableStyleId>{5C22544A-7EE6-4342-B048-85BDC9FD1C3A}</a:tableStyleId>
              </a:tblPr>
              <a:tblGrid>
                <a:gridCol w="969804">
                  <a:extLst>
                    <a:ext uri="{9D8B030D-6E8A-4147-A177-3AD203B41FA5}">
                      <a16:colId xmlns:a16="http://schemas.microsoft.com/office/drawing/2014/main" val="3366927619"/>
                    </a:ext>
                  </a:extLst>
                </a:gridCol>
                <a:gridCol w="1684398">
                  <a:extLst>
                    <a:ext uri="{9D8B030D-6E8A-4147-A177-3AD203B41FA5}">
                      <a16:colId xmlns:a16="http://schemas.microsoft.com/office/drawing/2014/main" val="98679632"/>
                    </a:ext>
                  </a:extLst>
                </a:gridCol>
                <a:gridCol w="1327102">
                  <a:extLst>
                    <a:ext uri="{9D8B030D-6E8A-4147-A177-3AD203B41FA5}">
                      <a16:colId xmlns:a16="http://schemas.microsoft.com/office/drawing/2014/main" val="2301712890"/>
                    </a:ext>
                  </a:extLst>
                </a:gridCol>
                <a:gridCol w="2705246">
                  <a:extLst>
                    <a:ext uri="{9D8B030D-6E8A-4147-A177-3AD203B41FA5}">
                      <a16:colId xmlns:a16="http://schemas.microsoft.com/office/drawing/2014/main" val="313121392"/>
                    </a:ext>
                  </a:extLst>
                </a:gridCol>
              </a:tblGrid>
              <a:tr h="320040">
                <a:tc>
                  <a:txBody>
                    <a:bodyPr/>
                    <a:lstStyle/>
                    <a:p>
                      <a:r>
                        <a:rPr sz="900" b="1"/>
                        <a:t>Check type</a:t>
                      </a:r>
                    </a:p>
                  </a:txBody>
                  <a:tcPr marL="54864" marR="54864" marT="27432" marB="27432" anchor="ctr"/>
                </a:tc>
                <a:tc>
                  <a:txBody>
                    <a:bodyPr/>
                    <a:lstStyle/>
                    <a:p>
                      <a:r>
                        <a:rPr sz="900" b="1"/>
                        <a:t>Typical interval (for long‑haul use)</a:t>
                      </a:r>
                    </a:p>
                  </a:txBody>
                  <a:tcPr marL="54864" marR="54864" marT="27432" marB="27432" anchor="ctr"/>
                </a:tc>
                <a:tc>
                  <a:txBody>
                    <a:bodyPr/>
                    <a:lstStyle/>
                    <a:p>
                      <a:r>
                        <a:rPr sz="900" b="1"/>
                        <a:t>Rough cost per event</a:t>
                      </a:r>
                    </a:p>
                  </a:txBody>
                  <a:tcPr marL="54864" marR="54864" marT="27432" marB="27432" anchor="ctr"/>
                </a:tc>
                <a:tc>
                  <a:txBody>
                    <a:bodyPr/>
                    <a:lstStyle/>
                    <a:p>
                      <a:r>
                        <a:rPr sz="900" b="1"/>
                        <a:t>Notes</a:t>
                      </a:r>
                    </a:p>
                  </a:txBody>
                  <a:tcPr marL="54864" marR="54864" marT="27432" marB="27432" anchor="ctr"/>
                </a:tc>
                <a:extLst>
                  <a:ext uri="{0D108BD9-81ED-4DB2-BD59-A6C34878D82A}">
                    <a16:rowId xmlns:a16="http://schemas.microsoft.com/office/drawing/2014/main" val="1827683060"/>
                  </a:ext>
                </a:extLst>
              </a:tr>
              <a:tr h="320040">
                <a:tc>
                  <a:txBody>
                    <a:bodyPr/>
                    <a:lstStyle/>
                    <a:p>
                      <a:r>
                        <a:rPr sz="900" b="1"/>
                        <a:t>A‑check</a:t>
                      </a:r>
                    </a:p>
                  </a:txBody>
                  <a:tcPr marL="54864" marR="54864" marT="27432" marB="27432" anchor="ctr"/>
                </a:tc>
                <a:tc>
                  <a:txBody>
                    <a:bodyPr/>
                    <a:lstStyle/>
                    <a:p>
                      <a:r>
                        <a:rPr sz="900" b="0"/>
                        <a:t>~</a:t>
                      </a:r>
                      <a:r>
                        <a:rPr lang="en-GB" sz="900" b="0"/>
                        <a:t> 400 - 600</a:t>
                      </a:r>
                      <a:r>
                        <a:rPr sz="900" b="0"/>
                        <a:t> flight hours</a:t>
                      </a:r>
                    </a:p>
                  </a:txBody>
                  <a:tcPr marL="54864" marR="54864" marT="27432" marB="27432" anchor="ctr"/>
                </a:tc>
                <a:tc>
                  <a:txBody>
                    <a:bodyPr/>
                    <a:lstStyle/>
                    <a:p>
                      <a:r>
                        <a:rPr sz="900" b="0"/>
                        <a:t>£</a:t>
                      </a:r>
                      <a:r>
                        <a:rPr lang="en-GB" sz="900" b="0"/>
                        <a:t>16k - £</a:t>
                      </a:r>
                      <a:r>
                        <a:rPr sz="900" b="0"/>
                        <a:t>32k</a:t>
                      </a:r>
                    </a:p>
                  </a:txBody>
                  <a:tcPr marL="54864" marR="54864" marT="27432" marB="27432" anchor="ctr"/>
                </a:tc>
                <a:tc>
                  <a:txBody>
                    <a:bodyPr/>
                    <a:lstStyle/>
                    <a:p>
                      <a:r>
                        <a:rPr sz="900" b="0"/>
                        <a:t>Routine line maintenance, 1 day</a:t>
                      </a:r>
                    </a:p>
                  </a:txBody>
                  <a:tcPr marL="54864" marR="54864" marT="27432" marB="27432" anchor="ctr"/>
                </a:tc>
                <a:extLst>
                  <a:ext uri="{0D108BD9-81ED-4DB2-BD59-A6C34878D82A}">
                    <a16:rowId xmlns:a16="http://schemas.microsoft.com/office/drawing/2014/main" val="794183263"/>
                  </a:ext>
                </a:extLst>
              </a:tr>
              <a:tr h="320040">
                <a:tc>
                  <a:txBody>
                    <a:bodyPr/>
                    <a:lstStyle/>
                    <a:p>
                      <a:r>
                        <a:rPr sz="900" b="1"/>
                        <a:t>C‑check</a:t>
                      </a:r>
                    </a:p>
                  </a:txBody>
                  <a:tcPr marL="54864" marR="54864" marT="27432" marB="27432" anchor="ctr"/>
                </a:tc>
                <a:tc>
                  <a:txBody>
                    <a:bodyPr/>
                    <a:lstStyle/>
                    <a:p>
                      <a:r>
                        <a:rPr sz="900" b="0" dirty="0"/>
                        <a:t>~</a:t>
                      </a:r>
                      <a:r>
                        <a:rPr lang="en-GB" sz="900" b="0" dirty="0"/>
                        <a:t> 18 - 36</a:t>
                      </a:r>
                      <a:r>
                        <a:rPr sz="900" b="0" dirty="0"/>
                        <a:t> months</a:t>
                      </a:r>
                    </a:p>
                  </a:txBody>
                  <a:tcPr marL="54864" marR="54864" marT="27432" marB="27432" anchor="ctr"/>
                </a:tc>
                <a:tc>
                  <a:txBody>
                    <a:bodyPr/>
                    <a:lstStyle/>
                    <a:p>
                      <a:r>
                        <a:rPr sz="900" b="0"/>
                        <a:t>£</a:t>
                      </a:r>
                      <a:r>
                        <a:rPr lang="en-GB" sz="900" b="0"/>
                        <a:t>1.2M - £</a:t>
                      </a:r>
                      <a:r>
                        <a:rPr sz="900" b="0"/>
                        <a:t>3.2M</a:t>
                      </a:r>
                    </a:p>
                  </a:txBody>
                  <a:tcPr marL="54864" marR="54864" marT="27432" marB="27432" anchor="ctr"/>
                </a:tc>
                <a:tc>
                  <a:txBody>
                    <a:bodyPr/>
                    <a:lstStyle/>
                    <a:p>
                      <a:r>
                        <a:rPr sz="900" b="0"/>
                        <a:t>Major structural/systems inspection</a:t>
                      </a:r>
                    </a:p>
                  </a:txBody>
                  <a:tcPr marL="54864" marR="54864" marT="27432" marB="27432" anchor="ctr"/>
                </a:tc>
                <a:extLst>
                  <a:ext uri="{0D108BD9-81ED-4DB2-BD59-A6C34878D82A}">
                    <a16:rowId xmlns:a16="http://schemas.microsoft.com/office/drawing/2014/main" val="1770658263"/>
                  </a:ext>
                </a:extLst>
              </a:tr>
              <a:tr h="320040">
                <a:tc>
                  <a:txBody>
                    <a:bodyPr/>
                    <a:lstStyle/>
                    <a:p>
                      <a:r>
                        <a:rPr sz="900" b="1"/>
                        <a:t>D‑check</a:t>
                      </a:r>
                    </a:p>
                  </a:txBody>
                  <a:tcPr marL="54864" marR="54864" marT="27432" marB="27432" anchor="ctr"/>
                </a:tc>
                <a:tc>
                  <a:txBody>
                    <a:bodyPr/>
                    <a:lstStyle/>
                    <a:p>
                      <a:r>
                        <a:rPr sz="900" b="0"/>
                        <a:t>~</a:t>
                      </a:r>
                      <a:r>
                        <a:rPr lang="en-GB" sz="900" b="0"/>
                        <a:t> 6 - 10</a:t>
                      </a:r>
                      <a:r>
                        <a:rPr sz="900" b="0"/>
                        <a:t> years</a:t>
                      </a:r>
                    </a:p>
                  </a:txBody>
                  <a:tcPr marL="54864" marR="54864" marT="27432" marB="27432" anchor="ctr"/>
                </a:tc>
                <a:tc>
                  <a:txBody>
                    <a:bodyPr/>
                    <a:lstStyle/>
                    <a:p>
                      <a:r>
                        <a:rPr sz="900" b="0"/>
                        <a:t>£6.4M</a:t>
                      </a:r>
                      <a:r>
                        <a:rPr lang="en-GB" sz="900" b="0"/>
                        <a:t> - £</a:t>
                      </a:r>
                      <a:r>
                        <a:rPr sz="900" b="0"/>
                        <a:t>12M</a:t>
                      </a:r>
                    </a:p>
                  </a:txBody>
                  <a:tcPr marL="54864" marR="54864" marT="27432" marB="27432" anchor="ctr"/>
                </a:tc>
                <a:tc>
                  <a:txBody>
                    <a:bodyPr/>
                    <a:lstStyle/>
                    <a:p>
                      <a:r>
                        <a:rPr sz="900" b="0" dirty="0"/>
                        <a:t>Full heavy overhaul, months in hangar</a:t>
                      </a:r>
                    </a:p>
                  </a:txBody>
                  <a:tcPr marL="54864" marR="54864" marT="27432" marB="27432" anchor="ctr"/>
                </a:tc>
                <a:extLst>
                  <a:ext uri="{0D108BD9-81ED-4DB2-BD59-A6C34878D82A}">
                    <a16:rowId xmlns:a16="http://schemas.microsoft.com/office/drawing/2014/main" val="3445339907"/>
                  </a:ext>
                </a:extLst>
              </a:tr>
              <a:tr h="320040">
                <a:tc>
                  <a:txBody>
                    <a:bodyPr/>
                    <a:lstStyle/>
                    <a:p>
                      <a:r>
                        <a:rPr lang="en-GB" sz="900" b="1" dirty="0"/>
                        <a:t>25-year total</a:t>
                      </a:r>
                    </a:p>
                  </a:txBody>
                  <a:tcPr marL="54864" marR="54864" marT="27432" marB="27432" anchor="ctr">
                    <a:solidFill>
                      <a:srgbClr val="F2DCA9"/>
                    </a:solidFill>
                  </a:tcPr>
                </a:tc>
                <a:tc>
                  <a:txBody>
                    <a:bodyPr/>
                    <a:lstStyle/>
                    <a:p>
                      <a:r>
                        <a:rPr lang="en-GB" sz="900" b="0" dirty="0"/>
                        <a:t>4,500 FH/yr assumed</a:t>
                      </a:r>
                    </a:p>
                  </a:txBody>
                  <a:tcPr marL="54864" marR="54864" marT="27432" marB="27432" anchor="ctr">
                    <a:solidFill>
                      <a:srgbClr val="F2DCA9"/>
                    </a:solidFill>
                  </a:tcPr>
                </a:tc>
                <a:tc>
                  <a:txBody>
                    <a:bodyPr/>
                    <a:lstStyle/>
                    <a:p>
                      <a:r>
                        <a:rPr lang="en-GB" sz="900" b="1" dirty="0"/>
                        <a:t>≈ £25M - £110M</a:t>
                      </a:r>
                    </a:p>
                  </a:txBody>
                  <a:tcPr marL="54864" marR="54864" marT="27432" marB="27432" anchor="ctr">
                    <a:solidFill>
                      <a:srgbClr val="F2DCA9"/>
                    </a:solidFill>
                  </a:tcPr>
                </a:tc>
                <a:tc>
                  <a:txBody>
                    <a:bodyPr/>
                    <a:lstStyle/>
                    <a:p>
                      <a:r>
                        <a:rPr lang="en-GB" sz="900" b="1" dirty="0"/>
                        <a:t>Mid ≈ £60M per aircraft: ≈ 1/8 of fuel cost (£460M)</a:t>
                      </a:r>
                    </a:p>
                  </a:txBody>
                  <a:tcPr marL="54864" marR="54864" marT="27432" marB="27432" anchor="ctr">
                    <a:solidFill>
                      <a:srgbClr val="F2DCA9"/>
                    </a:solidFill>
                  </a:tcPr>
                </a:tc>
                <a:extLst>
                  <a:ext uri="{0D108BD9-81ED-4DB2-BD59-A6C34878D82A}">
                    <a16:rowId xmlns:a16="http://schemas.microsoft.com/office/drawing/2014/main" val="2864193071"/>
                  </a:ext>
                </a:extLst>
              </a:tr>
            </a:tbl>
          </a:graphicData>
        </a:graphic>
      </p:graphicFrame>
      <p:sp>
        <p:nvSpPr>
          <p:cNvPr id="13" name="Subtitle"/>
          <p:cNvSpPr txBox="1"/>
          <p:nvPr/>
        </p:nvSpPr>
        <p:spPr>
          <a:xfrm>
            <a:off x="274320" y="1005840"/>
            <a:ext cx="4846320" cy="640080"/>
          </a:xfrm>
          <a:prstGeom prst="rect">
            <a:avLst/>
          </a:prstGeom>
          <a:noFill/>
        </p:spPr>
        <p:txBody>
          <a:bodyPr wrap="square" lIns="0" tIns="45720" rIns="91440" bIns="45720" anchor="t">
            <a:noAutofit/>
          </a:bodyPr>
          <a:lstStyle/>
          <a:p>
            <a:r>
              <a:rPr sz="1800"/>
              <a:t>Fuel is the largest share of DOC; on SAF at brief prices DOC rises ≈ 10-17 %</a:t>
            </a:r>
          </a:p>
        </p:txBody>
      </p:sp>
      <p:sp>
        <p:nvSpPr>
          <p:cNvPr id="14" name="TextBox 13"/>
          <p:cNvSpPr txBox="1"/>
          <p:nvPr/>
        </p:nvSpPr>
        <p:spPr>
          <a:xfrm>
            <a:off x="6096000" y="176501"/>
            <a:ext cx="5943600" cy="320040"/>
          </a:xfrm>
          <a:prstGeom prst="rect">
            <a:avLst/>
          </a:prstGeom>
          <a:noFill/>
        </p:spPr>
        <p:txBody>
          <a:bodyPr wrap="square" lIns="0" tIns="45720" rIns="91440" bIns="45720" anchor="t">
            <a:noAutofit/>
          </a:bodyPr>
          <a:lstStyle/>
          <a:p>
            <a:pPr algn="r"/>
            <a:r>
              <a:rPr sz="1400" b="1"/>
              <a:t>Maintenance checks over the 25-year life</a:t>
            </a:r>
          </a:p>
        </p:txBody>
      </p:sp>
      <p:pic>
        <p:nvPicPr>
          <p:cNvPr id="15" name="Fuel share pie" descr="fuel_share_pie_transparent.png"/>
          <p:cNvPicPr>
            <a:picLocks noChangeAspect="1"/>
          </p:cNvPicPr>
          <p:nvPr/>
        </p:nvPicPr>
        <p:blipFill>
          <a:blip r:embed="rId3"/>
          <a:stretch>
            <a:fillRect/>
          </a:stretch>
        </p:blipFill>
        <p:spPr>
          <a:xfrm>
            <a:off x="380000" y="3749040"/>
            <a:ext cx="4206240" cy="2901733"/>
          </a:xfrm>
          <a:prstGeom prst="rect">
            <a:avLst/>
          </a:prstGeom>
        </p:spPr>
      </p:pic>
      <p:pic>
        <p:nvPicPr>
          <p:cNvPr id="18" name="Raymer life-cycle cost" descr="raymer_lcc_elements.png"/>
          <p:cNvPicPr>
            <a:picLocks noChangeAspect="1"/>
          </p:cNvPicPr>
          <p:nvPr/>
        </p:nvPicPr>
        <p:blipFill>
          <a:blip r:embed="rId4"/>
          <a:stretch>
            <a:fillRect/>
          </a:stretch>
        </p:blipFill>
        <p:spPr>
          <a:xfrm>
            <a:off x="4735112" y="2529228"/>
            <a:ext cx="7325754" cy="3871314"/>
          </a:xfrm>
          <a:prstGeom prst="rect">
            <a:avLst/>
          </a:prstGeom>
        </p:spPr>
      </p:pic>
      <p:sp>
        <p:nvSpPr>
          <p:cNvPr id="17" name="Sources badge"/>
          <p:cNvSpPr/>
          <p:nvPr/>
        </p:nvSpPr>
        <p:spPr>
          <a:xfrm>
            <a:off x="502920" y="3291840"/>
            <a:ext cx="4206240" cy="292608"/>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noAutofit/>
          </a:bodyPr>
          <a:lstStyle/>
          <a:p>
            <a:pPr algn="ctr"/>
            <a:r>
              <a:rPr lang="en-GB" sz="1100" b="1">
                <a:solidFill>
                  <a:srgbClr val="FFFFFF"/>
                </a:solidFill>
              </a:rPr>
              <a:t>Sources: Raymer [3], ICAO [5], AEA [6], Airbus [7]</a:t>
            </a:r>
            <a:endParaRPr lang="en-US" sz="1100" b="1">
              <a:solidFill>
                <a:srgbClr val="FFFFFF"/>
              </a:solidFill>
            </a:endParaRPr>
          </a:p>
        </p:txBody>
      </p:sp>
    </p:spTree>
    <p:extLst>
      <p:ext uri="{BB962C8B-B14F-4D97-AF65-F5344CB8AC3E}">
        <p14:creationId xmlns:p14="http://schemas.microsoft.com/office/powerpoint/2010/main" val="2006447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F536A-0C46-9BFF-9509-4DDEF9449B6D}"/>
            </a:ext>
          </a:extLst>
        </p:cNvPr>
        <p:cNvGrpSpPr/>
        <p:nvPr/>
      </p:nvGrpSpPr>
      <p:grpSpPr>
        <a:xfrm>
          <a:off x="0" y="0"/>
          <a:ext cx="0" cy="0"/>
          <a:chOff x="0" y="0"/>
          <a:chExt cx="0" cy="0"/>
        </a:xfrm>
      </p:grpSpPr>
      <p:sp>
        <p:nvSpPr>
          <p:cNvPr id="13" name="RR card">
            <a:extLst>
              <a:ext uri="{FF2B5EF4-FFF2-40B4-BE49-F238E27FC236}">
                <a16:creationId xmlns:a16="http://schemas.microsoft.com/office/drawing/2014/main" id="{03D9D33F-1D9B-4CEF-79FB-49C71597213A}"/>
              </a:ext>
            </a:extLst>
          </p:cNvPr>
          <p:cNvSpPr/>
          <p:nvPr/>
        </p:nvSpPr>
        <p:spPr>
          <a:xfrm>
            <a:off x="9982112" y="3893312"/>
            <a:ext cx="1851025" cy="2401155"/>
          </a:xfrm>
          <a:prstGeom prst="roundRect">
            <a:avLst>
              <a:gd name="adj" fmla="val 5000"/>
            </a:avLst>
          </a:prstGeom>
          <a:solidFill>
            <a:srgbClr val="FFFFFF"/>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97191FE4-F10C-BFE4-D6CB-B8721A1B14BF}"/>
              </a:ext>
            </a:extLst>
          </p:cNvPr>
          <p:cNvSpPr/>
          <p:nvPr/>
        </p:nvSpPr>
        <p:spPr>
          <a:xfrm>
            <a:off x="314960" y="3749040"/>
            <a:ext cx="9228650" cy="256032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B08B93E8-54F1-8D4C-DB97-69D645155FFE}"/>
              </a:ext>
            </a:extLst>
          </p:cNvPr>
          <p:cNvSpPr>
            <a:spLocks noGrp="1"/>
          </p:cNvSpPr>
          <p:nvPr>
            <p:ph type="sldNum" sz="quarter" idx="12"/>
          </p:nvPr>
        </p:nvSpPr>
        <p:spPr/>
        <p:txBody>
          <a:bodyPr/>
          <a:lstStyle/>
          <a:p>
            <a:fld id="{330EA680-D336-4FF7-8B7A-9848BB0A1C32}" type="slidenum">
              <a:rPr lang="en-GB" smtClean="0"/>
              <a:t>15</a:t>
            </a:fld>
            <a:endParaRPr lang="en-GB"/>
          </a:p>
        </p:txBody>
      </p:sp>
      <p:sp>
        <p:nvSpPr>
          <p:cNvPr id="22" name="Title 1">
            <a:extLst>
              <a:ext uri="{FF2B5EF4-FFF2-40B4-BE49-F238E27FC236}">
                <a16:creationId xmlns:a16="http://schemas.microsoft.com/office/drawing/2014/main" id="{B4CD47B9-99D8-1B7D-80AB-B04D432B5C38}"/>
              </a:ext>
            </a:extLst>
          </p:cNvPr>
          <p:cNvSpPr txBox="1">
            <a:spLocks/>
          </p:cNvSpPr>
          <p:nvPr/>
        </p:nvSpPr>
        <p:spPr>
          <a:xfrm>
            <a:off x="182880" y="299720"/>
            <a:ext cx="4846320" cy="6858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a:t>Costs: SAF Fuels</a:t>
            </a:r>
          </a:p>
        </p:txBody>
      </p:sp>
      <p:sp>
        <p:nvSpPr>
          <p:cNvPr id="26" name="TextBox 25">
            <a:extLst>
              <a:ext uri="{FF2B5EF4-FFF2-40B4-BE49-F238E27FC236}">
                <a16:creationId xmlns:a16="http://schemas.microsoft.com/office/drawing/2014/main" id="{A255D92E-CE36-62CB-398D-7E71742410B0}"/>
              </a:ext>
            </a:extLst>
          </p:cNvPr>
          <p:cNvSpPr txBox="1"/>
          <p:nvPr/>
        </p:nvSpPr>
        <p:spPr>
          <a:xfrm>
            <a:off x="182880" y="1051560"/>
            <a:ext cx="4389120" cy="2743200"/>
          </a:xfrm>
          <a:prstGeom prst="rect">
            <a:avLst/>
          </a:prstGeom>
          <a:noFill/>
        </p:spPr>
        <p:txBody>
          <a:bodyPr wrap="square" lIns="91440" tIns="45720" rIns="91440" bIns="45720">
            <a:spAutoFit/>
          </a:bodyPr>
          <a:lstStyle/>
          <a:p>
            <a:r>
              <a:rPr lang="en-GB" sz="1200" b="1"/>
              <a:t>How is SAF made?</a:t>
            </a:r>
          </a:p>
          <a:p>
            <a:pPr marL="285750" indent="-285750">
              <a:spcBef>
                <a:spcPts val="300"/>
              </a:spcBef>
              <a:buFont typeface="Arial" panose="020B0604020202020204" pitchFamily="34" charset="0"/>
              <a:buChar char="•"/>
            </a:pPr>
            <a:r>
              <a:rPr lang="en-GB" sz="1100"/>
              <a:t>Hydro processed Esters and Fatty Acids </a:t>
            </a:r>
            <a:r>
              <a:rPr lang="en-GB" sz="1100" b="1"/>
              <a:t>(HEFA) </a:t>
            </a:r>
            <a:r>
              <a:rPr lang="en-GB" sz="1100"/>
              <a:t>(dominant method today)</a:t>
            </a:r>
          </a:p>
          <a:p>
            <a:pPr marL="285750" indent="-285750">
              <a:spcBef>
                <a:spcPts val="300"/>
              </a:spcBef>
              <a:buFont typeface="Arial" panose="020B0604020202020204" pitchFamily="34" charset="0"/>
              <a:buChar char="•"/>
            </a:pPr>
            <a:r>
              <a:rPr lang="en-GB" sz="1100"/>
              <a:t>Alcohol-to-Jet </a:t>
            </a:r>
            <a:r>
              <a:rPr lang="en-GB" sz="1100" b="1"/>
              <a:t>(</a:t>
            </a:r>
            <a:r>
              <a:rPr lang="en-GB" sz="1100" b="1" err="1"/>
              <a:t>AtJ</a:t>
            </a:r>
            <a:r>
              <a:rPr lang="en-GB" sz="1100" b="1"/>
              <a:t>)</a:t>
            </a:r>
          </a:p>
          <a:p>
            <a:pPr marL="285750" indent="-285750">
              <a:spcBef>
                <a:spcPts val="300"/>
              </a:spcBef>
              <a:buFont typeface="Arial" panose="020B0604020202020204" pitchFamily="34" charset="0"/>
              <a:buChar char="•"/>
            </a:pPr>
            <a:r>
              <a:rPr lang="en-GB" sz="1100"/>
              <a:t>Gasification Fischer-</a:t>
            </a:r>
            <a:r>
              <a:rPr lang="en-GB" sz="1100" err="1"/>
              <a:t>Tropsch</a:t>
            </a:r>
            <a:r>
              <a:rPr lang="en-GB" sz="1100" b="1"/>
              <a:t> (GFT)</a:t>
            </a:r>
          </a:p>
          <a:p>
            <a:pPr marL="285750" indent="-285750">
              <a:spcBef>
                <a:spcPts val="300"/>
              </a:spcBef>
              <a:buFont typeface="Arial" panose="020B0604020202020204" pitchFamily="34" charset="0"/>
              <a:buChar char="•"/>
            </a:pPr>
            <a:r>
              <a:rPr lang="en-GB" sz="1100"/>
              <a:t>Power-to-Liquid </a:t>
            </a:r>
            <a:r>
              <a:rPr lang="en-GB" sz="1100" b="1"/>
              <a:t>(</a:t>
            </a:r>
            <a:r>
              <a:rPr lang="en-GB" sz="1100" b="1" err="1"/>
              <a:t>PtL</a:t>
            </a:r>
            <a:r>
              <a:rPr lang="en-GB" sz="1100" b="1"/>
              <a:t>/</a:t>
            </a:r>
            <a:r>
              <a:rPr lang="en-GB" sz="1100" b="1" err="1"/>
              <a:t>eSAF</a:t>
            </a:r>
            <a:r>
              <a:rPr lang="en-GB" sz="1100" b="1"/>
              <a:t>)</a:t>
            </a:r>
          </a:p>
          <a:p>
            <a:pPr>
              <a:spcBef>
                <a:spcPts val="300"/>
              </a:spcBef>
            </a:pPr>
            <a:r>
              <a:rPr lang="en-GB" sz="1100"/>
              <a:t>Waste oils must be </a:t>
            </a:r>
            <a:r>
              <a:rPr lang="en-GB" sz="1100" b="1"/>
              <a:t>chemically processed </a:t>
            </a:r>
            <a:r>
              <a:rPr lang="en-GB" sz="1100"/>
              <a:t>to remove oxygen and produce stable jet-grade hydrocarbons.</a:t>
            </a:r>
          </a:p>
          <a:p>
            <a:pPr>
              <a:spcBef>
                <a:spcPts val="300"/>
              </a:spcBef>
            </a:pPr>
            <a:r>
              <a:rPr lang="en-GB" sz="1100" b="1"/>
              <a:t>Drop-in </a:t>
            </a:r>
            <a:r>
              <a:rPr lang="en-GB" sz="1100" b="0"/>
              <a:t>only up to a 50 % blend </a:t>
            </a:r>
            <a:r>
              <a:rPr lang="en-GB" sz="1100"/>
              <a:t>(ASTM D7566 [11]), no tank, pipe or truck changes. The brief needs 100 % SAF: risk R5</a:t>
            </a:r>
          </a:p>
          <a:p>
            <a:pPr>
              <a:spcBef>
                <a:spcPts val="300"/>
              </a:spcBef>
            </a:pPr>
            <a:r>
              <a:rPr lang="en-GB" sz="1100" b="1"/>
              <a:t>≈ 6 % less energy per gallon </a:t>
            </a:r>
            <a:r>
              <a:rPr lang="en-GB" sz="1100"/>
              <a:t>(0.75 vs 0.81 kg/L), a range penalty if tanks limit range. Parity needs ≈ 29 % less fuel energy per seat (1 - 22.7/32.1)</a:t>
            </a:r>
          </a:p>
        </p:txBody>
      </p:sp>
      <p:pic>
        <p:nvPicPr>
          <p:cNvPr id="7" name="Picture 6">
            <a:extLst>
              <a:ext uri="{FF2B5EF4-FFF2-40B4-BE49-F238E27FC236}">
                <a16:creationId xmlns:a16="http://schemas.microsoft.com/office/drawing/2014/main" id="{F53AA27E-01EF-92A0-C721-7587C22AD683}"/>
              </a:ext>
            </a:extLst>
          </p:cNvPr>
          <p:cNvPicPr>
            <a:picLocks noChangeAspect="1"/>
          </p:cNvPicPr>
          <p:nvPr/>
        </p:nvPicPr>
        <p:blipFill>
          <a:blip r:embed="rId3"/>
          <a:stretch>
            <a:fillRect/>
          </a:stretch>
        </p:blipFill>
        <p:spPr>
          <a:xfrm>
            <a:off x="4617720" y="274320"/>
            <a:ext cx="7223760" cy="3146336"/>
          </a:xfrm>
          <a:prstGeom prst="rect">
            <a:avLst/>
          </a:prstGeom>
        </p:spPr>
      </p:pic>
      <p:sp>
        <p:nvSpPr>
          <p:cNvPr id="9" name="TextBox 8">
            <a:extLst>
              <a:ext uri="{FF2B5EF4-FFF2-40B4-BE49-F238E27FC236}">
                <a16:creationId xmlns:a16="http://schemas.microsoft.com/office/drawing/2014/main" id="{608BFB70-A40E-B291-C10F-862985CBED8D}"/>
              </a:ext>
            </a:extLst>
          </p:cNvPr>
          <p:cNvSpPr txBox="1"/>
          <p:nvPr/>
        </p:nvSpPr>
        <p:spPr>
          <a:xfrm>
            <a:off x="10117455" y="4600839"/>
            <a:ext cx="1653822" cy="1600438"/>
          </a:xfrm>
          <a:prstGeom prst="rect">
            <a:avLst/>
          </a:prstGeom>
          <a:noFill/>
        </p:spPr>
        <p:txBody>
          <a:bodyPr wrap="square" lIns="91440" tIns="45720" rIns="91440" bIns="45720">
            <a:spAutoFit/>
          </a:bodyPr>
          <a:lstStyle/>
          <a:p>
            <a:pPr>
              <a:buNone/>
            </a:pPr>
            <a:r>
              <a:rPr lang="en-US" sz="1200"/>
              <a:t>Every in-production Rolls-Royce engine ran on 100 % SAF with </a:t>
            </a:r>
            <a:r>
              <a:rPr lang="en-US" sz="1200" b="1"/>
              <a:t>no loss of performance: evidence for mitigating R5 [12]</a:t>
            </a:r>
            <a:endParaRPr lang="en-US"/>
          </a:p>
        </p:txBody>
      </p:sp>
      <p:sp>
        <p:nvSpPr>
          <p:cNvPr id="15" name="RR card head">
            <a:extLst>
              <a:ext uri="{FF2B5EF4-FFF2-40B4-BE49-F238E27FC236}">
                <a16:creationId xmlns:a16="http://schemas.microsoft.com/office/drawing/2014/main" id="{C69FC2F8-7F6D-DC9E-AE97-B4E6C018213B}"/>
              </a:ext>
            </a:extLst>
          </p:cNvPr>
          <p:cNvSpPr/>
          <p:nvPr/>
        </p:nvSpPr>
        <p:spPr>
          <a:xfrm>
            <a:off x="9982112" y="3862832"/>
            <a:ext cx="1851024" cy="585083"/>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l"/>
            <a:r>
              <a:rPr sz="1300" b="1">
                <a:solidFill>
                  <a:srgbClr val="FFFFFF"/>
                </a:solidFill>
              </a:rPr>
              <a:t>Rolls-Royce</a:t>
            </a:r>
            <a:r>
              <a:rPr sz="1300" b="1">
                <a:solidFill>
                  <a:srgbClr val="FFD38A"/>
                </a:solidFill>
              </a:rPr>
              <a:t>   100 % SAF (2023)</a:t>
            </a:r>
          </a:p>
        </p:txBody>
      </p:sp>
      <p:sp>
        <p:nvSpPr>
          <p:cNvPr id="27" name="EASA cost model"/>
          <p:cNvSpPr txBox="1"/>
          <p:nvPr/>
        </p:nvSpPr>
        <p:spPr>
          <a:xfrm>
            <a:off x="495653" y="3749040"/>
            <a:ext cx="8946356" cy="2725712"/>
          </a:xfrm>
          <a:prstGeom prst="rect">
            <a:avLst/>
          </a:prstGeom>
          <a:noFill/>
        </p:spPr>
        <p:txBody>
          <a:bodyPr wrap="square" lIns="109728" tIns="54864" rIns="109728">
            <a:spAutoFit/>
          </a:bodyPr>
          <a:lstStyle/>
          <a:p>
            <a:pPr>
              <a:spcAft>
                <a:spcPts val="400"/>
              </a:spcAft>
            </a:pPr>
            <a:r>
              <a:rPr sz="1250" b="1"/>
              <a:t>Total SAF production cost (EASA SAF production cost model):   C</a:t>
            </a:r>
            <a:r>
              <a:rPr sz="1250" b="1" baseline="-25000"/>
              <a:t>SAF</a:t>
            </a:r>
            <a:r>
              <a:rPr sz="1250" b="1"/>
              <a:t> = C</a:t>
            </a:r>
            <a:r>
              <a:rPr sz="1250" b="1" baseline="-25000"/>
              <a:t>CAPEX</a:t>
            </a:r>
            <a:r>
              <a:rPr sz="1250" b="1"/>
              <a:t> + C</a:t>
            </a:r>
            <a:r>
              <a:rPr sz="1250" b="1" baseline="-25000"/>
              <a:t>OPEX</a:t>
            </a:r>
            <a:r>
              <a:rPr sz="1250" b="1"/>
              <a:t> - C</a:t>
            </a:r>
            <a:r>
              <a:rPr sz="1250" b="1" baseline="-25000"/>
              <a:t>co-products</a:t>
            </a:r>
          </a:p>
          <a:p>
            <a:pPr marL="228600" indent="-228600">
              <a:spcAft>
                <a:spcPts val="200"/>
              </a:spcAft>
              <a:buFont typeface="Arial"/>
              <a:buChar char="•"/>
            </a:pPr>
            <a:r>
              <a:rPr sz="1200" b="1"/>
              <a:t>CAPEX </a:t>
            </a:r>
            <a:r>
              <a:rPr sz="1200" b="0"/>
              <a:t>plant construction: EPC, inside (ISBL) and outside (OSBL) battery limits</a:t>
            </a:r>
          </a:p>
          <a:p>
            <a:pPr marL="228600" indent="-228600">
              <a:spcAft>
                <a:spcPts val="200"/>
              </a:spcAft>
              <a:buFont typeface="Arial"/>
              <a:buChar char="•"/>
            </a:pPr>
            <a:r>
              <a:rPr sz="1200" b="1"/>
              <a:t>OPEX </a:t>
            </a:r>
            <a:r>
              <a:rPr sz="1200" b="0"/>
              <a:t>feedstock, utilities, labour, maintenance; co-product credits (naphtha, diesel) are subtracted</a:t>
            </a:r>
          </a:p>
          <a:p>
            <a:pPr marL="228600" indent="-228600">
              <a:spcAft>
                <a:spcPts val="200"/>
              </a:spcAft>
              <a:buFont typeface="Arial"/>
              <a:buChar char="•"/>
            </a:pPr>
            <a:r>
              <a:rPr sz="1200" b="1"/>
              <a:t>Conversion factors </a:t>
            </a:r>
            <a:r>
              <a:rPr sz="1200" b="0"/>
              <a:t>for each pathway (HEFA, FT, AtJ, PtL) set how much feedstock each tonne of SAF needs</a:t>
            </a:r>
          </a:p>
          <a:p>
            <a:pPr>
              <a:spcBef>
                <a:spcPts val="400"/>
              </a:spcBef>
            </a:pPr>
            <a:r>
              <a:rPr sz="1200" b="1"/>
              <a:t>For us: </a:t>
            </a:r>
            <a:r>
              <a:rPr sz="1200" b="0"/>
              <a:t>at brief prices SAF costs ≈ 41 % more per unit energy than kerosene. By 2040 only HEFA (≈ $1,300/t) is under the brief price, but waste-oil feedstock caps its volume, so AtJ (≈ 1.2×) and PtL (≈ 1.8×) set the marginal price [10]</a:t>
            </a:r>
          </a:p>
          <a:p>
            <a:pPr>
              <a:spcBef>
                <a:spcPts val="600"/>
              </a:spcBef>
              <a:spcAft>
                <a:spcPts val="200"/>
              </a:spcAft>
              <a:buNone/>
            </a:pPr>
            <a:r>
              <a:rPr lang="en-GB" sz="1250" b="1" i="0" dirty="0"/>
              <a:t>100 % SAF design implications (R5)</a:t>
            </a:r>
          </a:p>
          <a:p>
            <a:pPr marL="228600" indent="-228600">
              <a:spcAft>
                <a:spcPts val="200"/>
              </a:spcAft>
              <a:buFont typeface="Arial"/>
              <a:buChar char="•"/>
            </a:pPr>
            <a:r>
              <a:rPr lang="en-GB" sz="1200" b="1" i="0" dirty="0"/>
              <a:t>Seals: </a:t>
            </a:r>
            <a:r>
              <a:rPr lang="en-GB" sz="1200" b="0" i="0" dirty="0"/>
              <a:t>D7566 [11] needs ≥ 8 % aromatics in a blend; neat SPK has none, so nitrile seals shrink: use fluorosilicone</a:t>
            </a:r>
          </a:p>
          <a:p>
            <a:pPr marL="228600" indent="-228600">
              <a:spcAft>
                <a:spcPts val="200"/>
              </a:spcAft>
              <a:buFont typeface="Arial"/>
              <a:buChar char="•"/>
            </a:pPr>
            <a:r>
              <a:rPr lang="en-GB" sz="1200" b="1" i="0" dirty="0"/>
              <a:t>Tanks: </a:t>
            </a:r>
            <a:r>
              <a:rPr lang="en-GB" sz="1200" b="0" i="0" dirty="0"/>
              <a:t>0.75 vs 0.81 kg/L → ≈ 8 % more volume for the same fuel mass; recalibrate gauging</a:t>
            </a:r>
          </a:p>
          <a:p>
            <a:pPr marL="228600" indent="-228600">
              <a:spcAft>
                <a:spcPts val="0"/>
              </a:spcAft>
              <a:buFont typeface="Arial"/>
              <a:buChar char="•"/>
            </a:pPr>
            <a:r>
              <a:rPr lang="en-GB" sz="1200" b="1" i="0" dirty="0"/>
              <a:t>Cost: </a:t>
            </a:r>
            <a:r>
              <a:rPr lang="en-GB" sz="1200" b="0" i="0" dirty="0"/>
              <a:t>carry SAF price as a DOC sensitivity case into PDR</a:t>
            </a:r>
          </a:p>
        </p:txBody>
      </p:sp>
    </p:spTree>
    <p:extLst>
      <p:ext uri="{BB962C8B-B14F-4D97-AF65-F5344CB8AC3E}">
        <p14:creationId xmlns:p14="http://schemas.microsoft.com/office/powerpoint/2010/main" val="3089423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 y="299720"/>
            <a:ext cx="11247120" cy="685800"/>
          </a:xfrm>
        </p:spPr>
        <p:txBody>
          <a:bodyPr vert="horz" lIns="91440" tIns="45720" rIns="91440" bIns="45720" rtlCol="0" anchor="ctr">
            <a:noAutofit/>
          </a:bodyPr>
          <a:lstStyle/>
          <a:p>
            <a:r>
              <a:rPr lang="en-US"/>
              <a:t>Costs: Manufacturing &amp; Materials</a:t>
            </a:r>
          </a:p>
        </p:txBody>
      </p:sp>
      <p:sp>
        <p:nvSpPr>
          <p:cNvPr id="3" name="Subtitle"/>
          <p:cNvSpPr txBox="1"/>
          <p:nvPr/>
        </p:nvSpPr>
        <p:spPr>
          <a:xfrm>
            <a:off x="457200" y="1028192"/>
            <a:ext cx="11247120" cy="387798"/>
          </a:xfrm>
          <a:prstGeom prst="rect">
            <a:avLst/>
          </a:prstGeom>
          <a:noFill/>
        </p:spPr>
        <p:txBody>
          <a:bodyPr wrap="square" lIns="0" tIns="54864" rIns="109728" bIns="54864" anchor="t">
            <a:spAutoFit/>
          </a:bodyPr>
          <a:lstStyle/>
          <a:p>
            <a:r>
              <a:rPr sz="1800" b="0" i="0">
                <a:solidFill>
                  <a:srgbClr val="000000"/>
                </a:solidFill>
              </a:rPr>
              <a:t>Break-even ≈ 700 aircraft in Western Europe; each 10 % cut in labour cost lowers it by ≈ 100</a:t>
            </a:r>
          </a:p>
        </p:txBody>
      </p:sp>
      <p:sp>
        <p:nvSpPr>
          <p:cNvPr id="4" name="Materials box"/>
          <p:cNvSpPr txBox="1"/>
          <p:nvPr/>
        </p:nvSpPr>
        <p:spPr>
          <a:xfrm>
            <a:off x="457200" y="1417320"/>
            <a:ext cx="5760720" cy="2126736"/>
          </a:xfrm>
          <a:prstGeom prst="rect">
            <a:avLst/>
          </a:prstGeom>
          <a:noFill/>
          <a:ln w="12700">
            <a:noFill/>
          </a:ln>
        </p:spPr>
        <p:txBody>
          <a:bodyPr wrap="square" lIns="109728" tIns="54864" rIns="109728" bIns="54864" anchor="t">
            <a:spAutoFit/>
          </a:bodyPr>
          <a:lstStyle/>
          <a:p>
            <a:pPr>
              <a:spcAft>
                <a:spcPts val="400"/>
              </a:spcAft>
            </a:pPr>
            <a:r>
              <a:rPr sz="1600" b="1" i="0">
                <a:solidFill>
                  <a:srgbClr val="000000"/>
                </a:solidFill>
              </a:rPr>
              <a:t>Materials</a:t>
            </a:r>
          </a:p>
          <a:p>
            <a:pPr marL="228600" indent="-228600">
              <a:spcAft>
                <a:spcPts val="200"/>
              </a:spcAft>
              <a:buFont typeface="Arial"/>
              <a:buChar char="•"/>
            </a:pPr>
            <a:r>
              <a:rPr sz="1050" b="1" i="0">
                <a:solidFill>
                  <a:srgbClr val="000000"/>
                </a:solidFill>
              </a:rPr>
              <a:t>Composites over </a:t>
            </a:r>
            <a:r>
              <a:rPr sz="1050" b="1" i="0" err="1">
                <a:solidFill>
                  <a:srgbClr val="000000"/>
                </a:solidFill>
              </a:rPr>
              <a:t>aluminium</a:t>
            </a:r>
            <a:r>
              <a:rPr sz="1050" b="1" i="0">
                <a:solidFill>
                  <a:srgbClr val="000000"/>
                </a:solidFill>
              </a:rPr>
              <a:t>: </a:t>
            </a:r>
            <a:r>
              <a:rPr sz="1050" b="0" i="0">
                <a:solidFill>
                  <a:srgbClr val="000000"/>
                </a:solidFill>
              </a:rPr>
              <a:t>787 and A350 airframes ≈ 50 % composite by weight</a:t>
            </a:r>
            <a:r>
              <a:rPr lang="en-US" sz="1050">
                <a:solidFill>
                  <a:srgbClr val="000000"/>
                </a:solidFill>
              </a:rPr>
              <a:t> -</a:t>
            </a:r>
            <a:r>
              <a:rPr sz="1050" b="0" i="0">
                <a:solidFill>
                  <a:srgbClr val="000000"/>
                </a:solidFill>
              </a:rPr>
              <a:t> lighter, but dearer per kg to make</a:t>
            </a:r>
          </a:p>
          <a:p>
            <a:pPr marL="228600" indent="-228600">
              <a:spcAft>
                <a:spcPts val="200"/>
              </a:spcAft>
              <a:buFont typeface="Arial"/>
              <a:buChar char="•"/>
            </a:pPr>
            <a:r>
              <a:rPr sz="1050" b="1" i="0">
                <a:solidFill>
                  <a:srgbClr val="000000"/>
                </a:solidFill>
              </a:rPr>
              <a:t>Thermoplastic composites: </a:t>
            </a:r>
            <a:r>
              <a:rPr sz="1050" b="0" i="1">
                <a:solidFill>
                  <a:srgbClr val="000000"/>
                </a:solidFill>
              </a:rPr>
              <a:t>Clean Sky 2</a:t>
            </a:r>
            <a:r>
              <a:rPr sz="1050" b="0" i="0">
                <a:solidFill>
                  <a:srgbClr val="000000"/>
                </a:solidFill>
              </a:rPr>
              <a:t> fuselage demonstrator (2024</a:t>
            </a:r>
            <a:r>
              <a:rPr lang="en-GB" sz="1050" b="0" i="0">
                <a:solidFill>
                  <a:srgbClr val="000000"/>
                </a:solidFill>
              </a:rPr>
              <a:t>): ≈ 10 % lighter, </a:t>
            </a:r>
            <a:r>
              <a:rPr sz="1050" b="0" i="0">
                <a:solidFill>
                  <a:srgbClr val="000000"/>
                </a:solidFill>
              </a:rPr>
              <a:t>up to </a:t>
            </a:r>
            <a:r>
              <a:rPr lang="en-GB" sz="1050" b="0" i="0">
                <a:solidFill>
                  <a:srgbClr val="000000"/>
                </a:solidFill>
              </a:rPr>
              <a:t>10 </a:t>
            </a:r>
            <a:r>
              <a:rPr sz="1050" b="0" i="0">
                <a:solidFill>
                  <a:srgbClr val="000000"/>
                </a:solidFill>
              </a:rPr>
              <a:t>% </a:t>
            </a:r>
            <a:r>
              <a:rPr lang="en-US" sz="1050" b="0" i="0">
                <a:solidFill>
                  <a:srgbClr val="000000"/>
                </a:solidFill>
              </a:rPr>
              <a:t>cheaper in high-rate production [13]; </a:t>
            </a:r>
            <a:r>
              <a:rPr sz="1050" b="0" i="0">
                <a:solidFill>
                  <a:srgbClr val="000000"/>
                </a:solidFill>
              </a:rPr>
              <a:t>welded, not riveted; recyclable</a:t>
            </a:r>
          </a:p>
          <a:p>
            <a:pPr marL="228600" indent="-228600">
              <a:spcAft>
                <a:spcPts val="200"/>
              </a:spcAft>
              <a:buFont typeface="Arial"/>
              <a:buChar char="•"/>
            </a:pPr>
            <a:r>
              <a:rPr sz="1050" b="1" i="0">
                <a:solidFill>
                  <a:srgbClr val="000000"/>
                </a:solidFill>
              </a:rPr>
              <a:t>Why weight matters: </a:t>
            </a:r>
            <a:r>
              <a:rPr sz="1050" b="0" i="0">
                <a:solidFill>
                  <a:srgbClr val="000000"/>
                </a:solidFill>
              </a:rPr>
              <a:t>every </a:t>
            </a:r>
            <a:r>
              <a:rPr sz="1050" b="0" i="0" err="1">
                <a:solidFill>
                  <a:srgbClr val="000000"/>
                </a:solidFill>
              </a:rPr>
              <a:t>tonne</a:t>
            </a:r>
            <a:r>
              <a:rPr sz="1050" b="0" i="0">
                <a:solidFill>
                  <a:srgbClr val="000000"/>
                </a:solidFill>
              </a:rPr>
              <a:t> saved cuts fuel by ≈ </a:t>
            </a:r>
            <a:r>
              <a:rPr lang="en-US" sz="1050">
                <a:solidFill>
                  <a:srgbClr val="000000"/>
                </a:solidFill>
              </a:rPr>
              <a:t>0.5 - 0.7</a:t>
            </a:r>
            <a:r>
              <a:rPr sz="1050" b="0" i="0">
                <a:solidFill>
                  <a:srgbClr val="000000"/>
                </a:solidFill>
              </a:rPr>
              <a:t> % (</a:t>
            </a:r>
            <a:r>
              <a:rPr sz="1050" b="0" i="1">
                <a:solidFill>
                  <a:srgbClr val="000000"/>
                </a:solidFill>
              </a:rPr>
              <a:t>estimate</a:t>
            </a:r>
            <a:r>
              <a:rPr sz="1050" b="0" i="0">
                <a:solidFill>
                  <a:srgbClr val="000000"/>
                </a:solidFill>
              </a:rPr>
              <a:t>), easing the SAF cost gap</a:t>
            </a:r>
          </a:p>
          <a:p>
            <a:pPr marL="228600" indent="-228600">
              <a:spcAft>
                <a:spcPts val="200"/>
              </a:spcAft>
              <a:buFont typeface="Arial"/>
              <a:buChar char="•"/>
            </a:pPr>
            <a:r>
              <a:rPr sz="1050" b="1" i="0">
                <a:solidFill>
                  <a:srgbClr val="000000"/>
                </a:solidFill>
              </a:rPr>
              <a:t>End of life: </a:t>
            </a:r>
            <a:r>
              <a:rPr sz="1050" b="0" i="0">
                <a:solidFill>
                  <a:srgbClr val="000000"/>
                </a:solidFill>
              </a:rPr>
              <a:t>life extension and freighter conversion sold as Airbus services, then part-out and recycling</a:t>
            </a:r>
          </a:p>
          <a:p>
            <a:pPr marL="228600" indent="-228600">
              <a:spcAft>
                <a:spcPts val="200"/>
              </a:spcAft>
              <a:buFont typeface="Arial"/>
              <a:buChar char="•"/>
            </a:pPr>
            <a:r>
              <a:rPr sz="1050" b="1" i="0">
                <a:solidFill>
                  <a:srgbClr val="000000"/>
                </a:solidFill>
              </a:rPr>
              <a:t>Next step: </a:t>
            </a:r>
            <a:r>
              <a:rPr sz="1050" b="0" i="0">
                <a:solidFill>
                  <a:srgbClr val="000000"/>
                </a:solidFill>
              </a:rPr>
              <a:t>material choice is a </a:t>
            </a:r>
            <a:r>
              <a:rPr lang="en-GB" sz="1050">
                <a:solidFill>
                  <a:srgbClr val="000000"/>
                </a:solidFill>
              </a:rPr>
              <a:t>cost-vs-weight</a:t>
            </a:r>
            <a:r>
              <a:rPr sz="1050" b="0" i="0">
                <a:solidFill>
                  <a:srgbClr val="000000"/>
                </a:solidFill>
              </a:rPr>
              <a:t> trade study for PDR (DAPCA </a:t>
            </a:r>
            <a:r>
              <a:rPr lang="en-US" sz="1050" b="0" i="0">
                <a:solidFill>
                  <a:srgbClr val="000000"/>
                </a:solidFill>
              </a:rPr>
              <a:t>only scales </a:t>
            </a:r>
            <a:r>
              <a:rPr lang="en-US" sz="1050" b="0" i="0" err="1">
                <a:solidFill>
                  <a:srgbClr val="000000"/>
                </a:solidFill>
              </a:rPr>
              <a:t>labour</a:t>
            </a:r>
            <a:r>
              <a:rPr lang="en-US" sz="1050" b="0" i="0">
                <a:solidFill>
                  <a:srgbClr val="000000"/>
                </a:solidFill>
              </a:rPr>
              <a:t> hours by a </a:t>
            </a:r>
            <a:r>
              <a:rPr sz="1050" b="0" i="0">
                <a:solidFill>
                  <a:srgbClr val="000000"/>
                </a:solidFill>
              </a:rPr>
              <a:t>material </a:t>
            </a:r>
            <a:r>
              <a:rPr lang="en-GB" sz="1050" b="0" i="0">
                <a:solidFill>
                  <a:srgbClr val="000000"/>
                </a:solidFill>
              </a:rPr>
              <a:t>factor</a:t>
            </a:r>
            <a:r>
              <a:rPr sz="1050" b="0" i="0">
                <a:solidFill>
                  <a:srgbClr val="000000"/>
                </a:solidFill>
              </a:rPr>
              <a:t>)</a:t>
            </a:r>
          </a:p>
        </p:txBody>
      </p:sp>
      <p:sp>
        <p:nvSpPr>
          <p:cNvPr id="5" name="Location label"/>
          <p:cNvSpPr txBox="1"/>
          <p:nvPr/>
        </p:nvSpPr>
        <p:spPr>
          <a:xfrm>
            <a:off x="457200" y="3703531"/>
            <a:ext cx="5760720" cy="274320"/>
          </a:xfrm>
          <a:prstGeom prst="rect">
            <a:avLst/>
          </a:prstGeom>
          <a:noFill/>
        </p:spPr>
        <p:txBody>
          <a:bodyPr wrap="square" lIns="0" tIns="54864" rIns="109728" bIns="54864" anchor="t">
            <a:spAutoFit/>
          </a:bodyPr>
          <a:lstStyle/>
          <a:p>
            <a:r>
              <a:rPr sz="1400" b="1" i="0">
                <a:solidFill>
                  <a:srgbClr val="000000"/>
                </a:solidFill>
              </a:rPr>
              <a:t>Candidate sites (choice deferred to PDR)</a:t>
            </a:r>
          </a:p>
        </p:txBody>
      </p:sp>
      <p:graphicFrame>
        <p:nvGraphicFramePr>
          <p:cNvPr id="7" name="Break-even chart"/>
          <p:cNvGraphicFramePr>
            <a:graphicFrameLocks noGrp="1"/>
          </p:cNvGraphicFramePr>
          <p:nvPr/>
        </p:nvGraphicFramePr>
        <p:xfrm>
          <a:off x="6350000" y="1711960"/>
          <a:ext cx="534924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lide Number Placeholder 1">
            <a:extLst>
              <a:ext uri="{FF2B5EF4-FFF2-40B4-BE49-F238E27FC236}">
                <a16:creationId xmlns:a16="http://schemas.microsoft.com/office/drawing/2014/main" id="{3E1DD335-BD60-3B48-DD9B-A3206D35C16B}"/>
              </a:ext>
            </a:extLst>
          </p:cNvPr>
          <p:cNvSpPr>
            <a:spLocks noGrp="1"/>
          </p:cNvSpPr>
          <p:nvPr>
            <p:ph type="sldNum" sz="quarter" idx="12"/>
          </p:nvPr>
        </p:nvSpPr>
        <p:spPr>
          <a:xfrm>
            <a:off x="8610600" y="6356350"/>
            <a:ext cx="2743200" cy="365125"/>
          </a:xfrm>
        </p:spPr>
        <p:txBody>
          <a:bodyPr/>
          <a:lstStyle/>
          <a:p>
            <a:fld id="{330EA680-D336-4FF7-8B7A-9848BB0A1C32}" type="slidenum">
              <a:rPr lang="en-GB" smtClean="0"/>
              <a:t>16</a:t>
            </a:fld>
            <a:endParaRPr lang="en-GB"/>
          </a:p>
        </p:txBody>
      </p:sp>
      <p:graphicFrame>
        <p:nvGraphicFramePr>
          <p:cNvPr id="8" name="Sites table">
            <a:extLst>
              <a:ext uri="{FF2B5EF4-FFF2-40B4-BE49-F238E27FC236}">
                <a16:creationId xmlns:a16="http://schemas.microsoft.com/office/drawing/2014/main" id="{1984F992-CCC6-0727-A3E8-0000705C06ED}"/>
              </a:ext>
            </a:extLst>
          </p:cNvPr>
          <p:cNvGraphicFramePr>
            <a:graphicFrameLocks noGrp="1"/>
          </p:cNvGraphicFramePr>
          <p:nvPr>
            <p:extLst>
              <p:ext uri="{D42A27DB-BD31-4B8C-83A1-F6EECF244321}">
                <p14:modId xmlns:p14="http://schemas.microsoft.com/office/powerpoint/2010/main" val="4098847747"/>
              </p:ext>
            </p:extLst>
          </p:nvPr>
        </p:nvGraphicFramePr>
        <p:xfrm>
          <a:off x="457200" y="4105427"/>
          <a:ext cx="5760000" cy="1982388"/>
        </p:xfrm>
        <a:graphic>
          <a:graphicData uri="http://schemas.openxmlformats.org/drawingml/2006/table">
            <a:tbl>
              <a:tblPr firstRow="1" bandRow="1">
                <a:tableStyleId>{3B4B98B0-60AC-42C2-AFA5-B58CD77FA1E5}</a:tableStyleId>
              </a:tblPr>
              <a:tblGrid>
                <a:gridCol w="1250000">
                  <a:extLst>
                    <a:ext uri="{9D8B030D-6E8A-4147-A177-3AD203B41FA5}">
                      <a16:colId xmlns:a16="http://schemas.microsoft.com/office/drawing/2014/main" val="20000"/>
                    </a:ext>
                  </a:extLst>
                </a:gridCol>
                <a:gridCol w="2950000">
                  <a:extLst>
                    <a:ext uri="{9D8B030D-6E8A-4147-A177-3AD203B41FA5}">
                      <a16:colId xmlns:a16="http://schemas.microsoft.com/office/drawing/2014/main" val="20001"/>
                    </a:ext>
                  </a:extLst>
                </a:gridCol>
                <a:gridCol w="1560000">
                  <a:extLst>
                    <a:ext uri="{9D8B030D-6E8A-4147-A177-3AD203B41FA5}">
                      <a16:colId xmlns:a16="http://schemas.microsoft.com/office/drawing/2014/main" val="20002"/>
                    </a:ext>
                  </a:extLst>
                </a:gridCol>
              </a:tblGrid>
              <a:tr h="228600">
                <a:tc>
                  <a:txBody>
                    <a:bodyPr/>
                    <a:lstStyle/>
                    <a:p>
                      <a:r>
                        <a:rPr sz="950" b="1"/>
                        <a:t>Site</a:t>
                      </a:r>
                    </a:p>
                  </a:txBody>
                  <a:tcPr marL="45720" marR="45720" marT="18288" marB="18288">
                    <a:lnR w="9525">
                      <a:solidFill>
                        <a:srgbClr val="156082"/>
                      </a:solidFill>
                    </a:lnR>
                    <a:lnT w="0">
                      <a:noFill/>
                    </a:lnT>
                  </a:tcPr>
                </a:tc>
                <a:tc>
                  <a:txBody>
                    <a:bodyPr/>
                    <a:lstStyle/>
                    <a:p>
                      <a:r>
                        <a:rPr sz="950" b="1"/>
                        <a:t>For</a:t>
                      </a:r>
                    </a:p>
                  </a:txBody>
                  <a:tcPr marL="45720" marR="45720" marT="18288" marB="18288">
                    <a:lnL w="9525">
                      <a:solidFill>
                        <a:srgbClr val="156082"/>
                      </a:solidFill>
                    </a:lnL>
                    <a:lnR w="9525">
                      <a:solidFill>
                        <a:srgbClr val="156082"/>
                      </a:solidFill>
                    </a:lnR>
                    <a:lnT w="0">
                      <a:noFill/>
                    </a:lnT>
                  </a:tcPr>
                </a:tc>
                <a:tc>
                  <a:txBody>
                    <a:bodyPr/>
                    <a:lstStyle/>
                    <a:p>
                      <a:r>
                        <a:rPr sz="950" b="1"/>
                        <a:t>Against</a:t>
                      </a:r>
                    </a:p>
                  </a:txBody>
                  <a:tcPr marL="45720" marR="45720" marT="18288" marB="18288">
                    <a:lnL w="9525">
                      <a:solidFill>
                        <a:srgbClr val="156082"/>
                      </a:solidFill>
                    </a:lnL>
                    <a:lnT w="0">
                      <a:noFill/>
                    </a:lnT>
                  </a:tcPr>
                </a:tc>
                <a:extLst>
                  <a:ext uri="{0D108BD9-81ED-4DB2-BD59-A6C34878D82A}">
                    <a16:rowId xmlns:a16="http://schemas.microsoft.com/office/drawing/2014/main" val="10000"/>
                  </a:ext>
                </a:extLst>
              </a:tr>
              <a:tr h="301752">
                <a:tc>
                  <a:txBody>
                    <a:bodyPr/>
                    <a:lstStyle/>
                    <a:p>
                      <a:r>
                        <a:rPr sz="950" b="1"/>
                        <a:t>Toulouse (FR)</a:t>
                      </a:r>
                    </a:p>
                  </a:txBody>
                  <a:tcPr marL="45720" marR="45720" marT="18288" marB="18288">
                    <a:lnR w="9525">
                      <a:solidFill>
                        <a:srgbClr val="156082"/>
                      </a:solidFill>
                    </a:lnR>
                  </a:tcPr>
                </a:tc>
                <a:tc>
                  <a:txBody>
                    <a:bodyPr/>
                    <a:lstStyle/>
                    <a:p>
                      <a:r>
                        <a:rPr sz="950" b="0"/>
                        <a:t>Airbus's only widebody line (A330, A350); skilled workforce</a:t>
                      </a:r>
                    </a:p>
                  </a:txBody>
                  <a:tcPr marL="45720" marR="45720" marT="18288" marB="18288">
                    <a:lnL w="9525">
                      <a:solidFill>
                        <a:srgbClr val="156082"/>
                      </a:solidFill>
                    </a:lnL>
                    <a:lnR w="9525">
                      <a:solidFill>
                        <a:srgbClr val="156082"/>
                      </a:solidFill>
                    </a:lnR>
                  </a:tcPr>
                </a:tc>
                <a:tc>
                  <a:txBody>
                    <a:bodyPr/>
                    <a:lstStyle/>
                    <a:p>
                      <a:r>
                        <a:rPr sz="950" b="0"/>
                        <a:t>Highest </a:t>
                      </a:r>
                      <a:r>
                        <a:rPr sz="950" b="0" err="1"/>
                        <a:t>labour</a:t>
                      </a:r>
                      <a:r>
                        <a:rPr sz="950" b="0"/>
                        <a:t> cost</a:t>
                      </a:r>
                    </a:p>
                  </a:txBody>
                  <a:tcPr marL="45720" marR="45720" marT="18288" marB="18288">
                    <a:lnL w="9525">
                      <a:solidFill>
                        <a:srgbClr val="156082"/>
                      </a:solidFill>
                    </a:lnL>
                  </a:tcPr>
                </a:tc>
                <a:extLst>
                  <a:ext uri="{0D108BD9-81ED-4DB2-BD59-A6C34878D82A}">
                    <a16:rowId xmlns:a16="http://schemas.microsoft.com/office/drawing/2014/main" val="10001"/>
                  </a:ext>
                </a:extLst>
              </a:tr>
              <a:tr h="301752">
                <a:tc>
                  <a:txBody>
                    <a:bodyPr/>
                    <a:lstStyle/>
                    <a:p>
                      <a:r>
                        <a:rPr sz="950" b="1"/>
                        <a:t>Tianjin (CN)</a:t>
                      </a:r>
                    </a:p>
                  </a:txBody>
                  <a:tcPr marL="45720" marR="45720" marT="18288" marB="18288">
                    <a:lnR w="9525" cap="flat" cmpd="sng" algn="ctr">
                      <a:solidFill>
                        <a:srgbClr val="156082"/>
                      </a:solidFill>
                      <a:prstDash val="solid"/>
                      <a:round/>
                      <a:headEnd type="none" w="med" len="med"/>
                      <a:tailEnd type="none" w="med" len="med"/>
                    </a:lnR>
                  </a:tcPr>
                </a:tc>
                <a:tc>
                  <a:txBody>
                    <a:bodyPr/>
                    <a:lstStyle/>
                    <a:p>
                      <a:r>
                        <a:rPr sz="950" b="0"/>
                        <a:t>Wages ≈ 20 % of US [14]; A320 line there; near a major widebody market</a:t>
                      </a:r>
                    </a:p>
                  </a:txBody>
                  <a:tcPr marL="45720" marR="45720" marT="18288" marB="18288">
                    <a:lnL w="9525" cap="flat" cmpd="sng" algn="ctr">
                      <a:solidFill>
                        <a:srgbClr val="156082"/>
                      </a:solidFill>
                      <a:prstDash val="solid"/>
                      <a:round/>
                      <a:headEnd type="none" w="med" len="med"/>
                      <a:tailEnd type="none" w="med" len="med"/>
                    </a:lnL>
                    <a:lnR w="9525" cap="flat" cmpd="sng" algn="ctr">
                      <a:solidFill>
                        <a:srgbClr val="156082"/>
                      </a:solidFill>
                      <a:prstDash val="solid"/>
                      <a:round/>
                      <a:headEnd type="none" w="med" len="med"/>
                      <a:tailEnd type="none" w="med" len="med"/>
                    </a:lnR>
                  </a:tcPr>
                </a:tc>
                <a:tc>
                  <a:txBody>
                    <a:bodyPr/>
                    <a:lstStyle/>
                    <a:p>
                      <a:r>
                        <a:rPr sz="950" b="0"/>
                        <a:t>No widebody built there; tech transfer, export controls</a:t>
                      </a:r>
                    </a:p>
                  </a:txBody>
                  <a:tcPr marL="45720" marR="45720" marT="18288" marB="18288">
                    <a:lnL w="9525" cap="flat" cmpd="sng" algn="ctr">
                      <a:solidFill>
                        <a:srgbClr val="156082"/>
                      </a:solidFill>
                      <a:prstDash val="solid"/>
                      <a:round/>
                      <a:headEnd type="none" w="med" len="med"/>
                      <a:tailEnd type="none" w="med" len="med"/>
                    </a:lnL>
                  </a:tcPr>
                </a:tc>
                <a:extLst>
                  <a:ext uri="{0D108BD9-81ED-4DB2-BD59-A6C34878D82A}">
                    <a16:rowId xmlns:a16="http://schemas.microsoft.com/office/drawing/2014/main" val="10002"/>
                  </a:ext>
                </a:extLst>
              </a:tr>
              <a:tr h="301752">
                <a:tc>
                  <a:txBody>
                    <a:bodyPr/>
                    <a:lstStyle/>
                    <a:p>
                      <a:r>
                        <a:rPr sz="950" b="1"/>
                        <a:t>Mobile (US)</a:t>
                      </a:r>
                    </a:p>
                  </a:txBody>
                  <a:tcPr marL="45720" marR="45720" marT="18288" marB="18288">
                    <a:lnR w="9525">
                      <a:solidFill>
                        <a:srgbClr val="156082"/>
                      </a:solidFill>
                    </a:lnR>
                  </a:tcPr>
                </a:tc>
                <a:tc>
                  <a:txBody>
                    <a:bodyPr/>
                    <a:lstStyle/>
                    <a:p>
                      <a:r>
                        <a:rPr sz="950" b="0"/>
                        <a:t>Avoids US tariffs; near US airlines</a:t>
                      </a:r>
                    </a:p>
                  </a:txBody>
                  <a:tcPr marL="45720" marR="45720" marT="18288" marB="18288">
                    <a:lnL w="9525">
                      <a:solidFill>
                        <a:srgbClr val="156082"/>
                      </a:solidFill>
                    </a:lnL>
                    <a:lnR w="9525">
                      <a:solidFill>
                        <a:srgbClr val="156082"/>
                      </a:solidFill>
                    </a:lnR>
                  </a:tcPr>
                </a:tc>
                <a:tc>
                  <a:txBody>
                    <a:bodyPr/>
                    <a:lstStyle/>
                    <a:p>
                      <a:r>
                        <a:rPr sz="950" b="0" err="1"/>
                        <a:t>Labour</a:t>
                      </a:r>
                      <a:r>
                        <a:rPr sz="950" b="0"/>
                        <a:t> no cheaper than Europe</a:t>
                      </a:r>
                    </a:p>
                  </a:txBody>
                  <a:tcPr marL="45720" marR="45720" marT="18288" marB="18288">
                    <a:lnL w="9525">
                      <a:solidFill>
                        <a:srgbClr val="156082"/>
                      </a:solidFill>
                    </a:lnL>
                  </a:tcPr>
                </a:tc>
                <a:extLst>
                  <a:ext uri="{0D108BD9-81ED-4DB2-BD59-A6C34878D82A}">
                    <a16:rowId xmlns:a16="http://schemas.microsoft.com/office/drawing/2014/main" val="10003"/>
                  </a:ext>
                </a:extLst>
              </a:tr>
              <a:tr h="301752">
                <a:tc>
                  <a:txBody>
                    <a:bodyPr/>
                    <a:lstStyle/>
                    <a:p>
                      <a:r>
                        <a:rPr sz="950" b="1"/>
                        <a:t>Poland</a:t>
                      </a:r>
                    </a:p>
                  </a:txBody>
                  <a:tcPr marL="45720" marR="45720" marT="18288" marB="18288">
                    <a:lnR w="9525">
                      <a:solidFill>
                        <a:srgbClr val="156082"/>
                      </a:solidFill>
                    </a:lnR>
                  </a:tcPr>
                </a:tc>
                <a:tc>
                  <a:txBody>
                    <a:bodyPr/>
                    <a:lstStyle/>
                    <a:p>
                      <a:r>
                        <a:rPr sz="950" b="0"/>
                        <a:t>≈ €19/h vs EU average ≈ €35/h [14]; inside the EU</a:t>
                      </a:r>
                    </a:p>
                  </a:txBody>
                  <a:tcPr marL="45720" marR="45720" marT="18288" marB="18288">
                    <a:lnL w="9525">
                      <a:solidFill>
                        <a:srgbClr val="156082"/>
                      </a:solidFill>
                    </a:lnL>
                    <a:lnR w="9525">
                      <a:solidFill>
                        <a:srgbClr val="156082"/>
                      </a:solidFill>
                    </a:lnR>
                  </a:tcPr>
                </a:tc>
                <a:tc>
                  <a:txBody>
                    <a:bodyPr/>
                    <a:lstStyle/>
                    <a:p>
                      <a:r>
                        <a:rPr sz="950" b="0"/>
                        <a:t>No Airbus line yet</a:t>
                      </a:r>
                    </a:p>
                  </a:txBody>
                  <a:tcPr marL="45720" marR="45720" marT="18288" marB="18288">
                    <a:lnL w="9525">
                      <a:solidFill>
                        <a:srgbClr val="156082"/>
                      </a:solidFill>
                    </a:lnL>
                  </a:tcPr>
                </a:tc>
                <a:extLst>
                  <a:ext uri="{0D108BD9-81ED-4DB2-BD59-A6C34878D82A}">
                    <a16:rowId xmlns:a16="http://schemas.microsoft.com/office/drawing/2014/main" val="10004"/>
                  </a:ext>
                </a:extLst>
              </a:tr>
              <a:tr h="301752">
                <a:tc>
                  <a:txBody>
                    <a:bodyPr/>
                    <a:lstStyle/>
                    <a:p>
                      <a:r>
                        <a:rPr sz="950" b="1"/>
                        <a:t>Split sites (today)</a:t>
                      </a:r>
                    </a:p>
                  </a:txBody>
                  <a:tcPr marL="45720" marR="45720" marT="18288" marB="18288">
                    <a:lnR w="9525" cap="flat" cmpd="sng" algn="ctr">
                      <a:solidFill>
                        <a:srgbClr val="156082"/>
                      </a:solidFill>
                      <a:prstDash val="solid"/>
                      <a:round/>
                      <a:headEnd type="none" w="med" len="med"/>
                      <a:tailEnd type="none" w="med" len="med"/>
                    </a:lnR>
                  </a:tcPr>
                </a:tc>
                <a:tc>
                  <a:txBody>
                    <a:bodyPr/>
                    <a:lstStyle/>
                    <a:p>
                      <a:r>
                        <a:rPr sz="950" b="0" dirty="0"/>
                        <a:t>Wings UK, fuselage DE/FR/ES</a:t>
                      </a:r>
                    </a:p>
                  </a:txBody>
                  <a:tcPr marL="45720" marR="45720" marT="18288" marB="18288">
                    <a:lnL w="9525" cap="flat" cmpd="sng" algn="ctr">
                      <a:solidFill>
                        <a:srgbClr val="156082"/>
                      </a:solidFill>
                      <a:prstDash val="solid"/>
                      <a:round/>
                      <a:headEnd type="none" w="med" len="med"/>
                      <a:tailEnd type="none" w="med" len="med"/>
                    </a:lnL>
                    <a:lnR w="9525" cap="flat" cmpd="sng" algn="ctr">
                      <a:solidFill>
                        <a:srgbClr val="156082"/>
                      </a:solidFill>
                      <a:prstDash val="solid"/>
                      <a:round/>
                      <a:headEnd type="none" w="med" len="med"/>
                      <a:tailEnd type="none" w="med" len="med"/>
                    </a:lnR>
                  </a:tcPr>
                </a:tc>
                <a:tc>
                  <a:txBody>
                    <a:bodyPr/>
                    <a:lstStyle/>
                    <a:p>
                      <a:r>
                        <a:rPr sz="950" b="0" dirty="0"/>
                        <a:t>Transport cost; supply-chain risk</a:t>
                      </a:r>
                    </a:p>
                  </a:txBody>
                  <a:tcPr marL="45720" marR="45720" marT="18288" marB="18288">
                    <a:lnL w="9525" cap="flat" cmpd="sng" algn="ctr">
                      <a:solidFill>
                        <a:srgbClr val="156082"/>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
        <p:nvSpPr>
          <p:cNvPr id="40" name="Chart source"/>
          <p:cNvSpPr txBox="1"/>
          <p:nvPr/>
        </p:nvSpPr>
        <p:spPr>
          <a:xfrm>
            <a:off x="6400800" y="6126480"/>
            <a:ext cx="5303520" cy="228600"/>
          </a:xfrm>
          <a:prstGeom prst="rect">
            <a:avLst/>
          </a:prstGeom>
          <a:noFill/>
        </p:spPr>
        <p:txBody>
          <a:bodyPr wrap="square" lIns="0" tIns="0" rIns="0" bIns="0" anchor="t">
            <a:noAutofit/>
          </a:bodyPr>
          <a:lstStyle/>
          <a:p>
            <a:pPr algn="ctr"/>
            <a:r>
              <a:rPr lang="en-GB" sz="1000" b="0" i="1" dirty="0">
                <a:solidFill>
                  <a:srgbClr val="595959"/>
                </a:solidFill>
              </a:rPr>
              <a:t>DAPCA IV [4], 2025 £; price = 50 % of A330-900 list [8]; rate [9]</a:t>
            </a:r>
          </a:p>
        </p:txBody>
      </p:sp>
    </p:spTree>
    <p:extLst>
      <p:ext uri="{BB962C8B-B14F-4D97-AF65-F5344CB8AC3E}">
        <p14:creationId xmlns:p14="http://schemas.microsoft.com/office/powerpoint/2010/main" val="4194839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 y="299720"/>
            <a:ext cx="11247120" cy="685800"/>
          </a:xfrm>
        </p:spPr>
        <p:txBody>
          <a:bodyPr anchor="ctr">
            <a:noAutofit/>
          </a:bodyPr>
          <a:lstStyle/>
          <a:p>
            <a:r>
              <a:t>Costs: Innovation</a:t>
            </a:r>
          </a:p>
        </p:txBody>
      </p:sp>
      <p:grpSp>
        <p:nvGrpSpPr>
          <p:cNvPr id="34" name="Group 33">
            <a:extLst>
              <a:ext uri="{FF2B5EF4-FFF2-40B4-BE49-F238E27FC236}">
                <a16:creationId xmlns:a16="http://schemas.microsoft.com/office/drawing/2014/main" id="{D4557519-B41C-98AA-FC7C-8094BA9B3B6C}"/>
              </a:ext>
            </a:extLst>
          </p:cNvPr>
          <p:cNvGrpSpPr/>
          <p:nvPr/>
        </p:nvGrpSpPr>
        <p:grpSpPr>
          <a:xfrm>
            <a:off x="457200" y="1188720"/>
            <a:ext cx="3611880" cy="2500827"/>
            <a:chOff x="457200" y="1485392"/>
            <a:chExt cx="3611880" cy="2176272"/>
          </a:xfrm>
        </p:grpSpPr>
        <p:sp>
          <p:nvSpPr>
            <p:cNvPr id="4" name="Card Engine"/>
            <p:cNvSpPr/>
            <p:nvPr/>
          </p:nvSpPr>
          <p:spPr>
            <a:xfrm>
              <a:off x="457200" y="1485392"/>
              <a:ext cx="3611880" cy="2176272"/>
            </a:xfrm>
            <a:prstGeom prst="roundRect">
              <a:avLst>
                <a:gd name="adj" fmla="val 5000"/>
              </a:avLst>
            </a:prstGeom>
            <a:solidFill>
              <a:srgbClr val="FFFFFF"/>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4304"/>
              <a:ext cx="3520440" cy="1210588"/>
            </a:xfrm>
            <a:prstGeom prst="rect">
              <a:avLst/>
            </a:prstGeom>
            <a:noFill/>
          </p:spPr>
          <p:txBody>
            <a:bodyPr wrap="square" rIns="73152">
              <a:spAutoFit/>
            </a:bodyPr>
            <a:lstStyle/>
            <a:p>
              <a:pPr marL="171450" indent="-171450">
                <a:spcAft>
                  <a:spcPts val="400"/>
                </a:spcAft>
                <a:buFont typeface="Arial"/>
                <a:buChar char="•"/>
              </a:pPr>
              <a:r>
                <a:rPr sz="1100" b="1">
                  <a:solidFill>
                    <a:srgbClr val="202020"/>
                  </a:solidFill>
                </a:rPr>
                <a:t>Geared ultra-high-bypass fan (</a:t>
              </a:r>
              <a:r>
                <a:rPr sz="1100" b="1" err="1">
                  <a:solidFill>
                    <a:srgbClr val="202020"/>
                  </a:solidFill>
                </a:rPr>
                <a:t>UltraFan</a:t>
              </a:r>
              <a:r>
                <a:rPr sz="1100" b="1">
                  <a:solidFill>
                    <a:srgbClr val="202020"/>
                  </a:solidFill>
                </a:rPr>
                <a:t> type): </a:t>
              </a:r>
              <a:r>
                <a:rPr sz="1100" b="0">
                  <a:solidFill>
                    <a:srgbClr val="202020"/>
                  </a:solidFill>
                </a:rPr>
                <a:t>10 %</a:t>
              </a:r>
              <a:r>
                <a:rPr lang="en-GB" sz="1100" b="0">
                  <a:solidFill>
                    <a:srgbClr val="202020"/>
                  </a:solidFill>
                </a:rPr>
                <a:t> more fuel efficient than</a:t>
              </a:r>
              <a:r>
                <a:rPr sz="1100" b="0">
                  <a:solidFill>
                    <a:srgbClr val="202020"/>
                  </a:solidFill>
                </a:rPr>
                <a:t> Trent XWB [15]</a:t>
              </a:r>
            </a:p>
            <a:p>
              <a:pPr marL="171450" indent="-171450">
                <a:spcAft>
                  <a:spcPts val="400"/>
                </a:spcAft>
                <a:buFont typeface="Arial"/>
                <a:buChar char="•"/>
              </a:pPr>
              <a:r>
                <a:rPr sz="1100" b="0">
                  <a:solidFill>
                    <a:srgbClr val="202020"/>
                  </a:solidFill>
                </a:rPr>
                <a:t>Demonstrator ran to maximum power on 100 % SAF (2023)</a:t>
              </a:r>
            </a:p>
            <a:p>
              <a:pPr marL="171450" indent="-171450">
                <a:spcAft>
                  <a:spcPts val="400"/>
                </a:spcAft>
                <a:buFont typeface="Arial"/>
                <a:buChar char="•"/>
              </a:pPr>
              <a:r>
                <a:rPr sz="1100" b="0">
                  <a:solidFill>
                    <a:srgbClr val="202020"/>
                  </a:solidFill>
                </a:rPr>
                <a:t>Ceramic parts ≈ ⅓ the weight of metal, &lt; ½ the cooling air (GE9X) [16]</a:t>
              </a:r>
            </a:p>
            <a:p>
              <a:pPr marL="171450" indent="-171450">
                <a:spcAft>
                  <a:spcPts val="400"/>
                </a:spcAft>
                <a:buFont typeface="Arial"/>
                <a:buChar char="•"/>
              </a:pPr>
              <a:r>
                <a:rPr sz="1100" b="1" i="1"/>
                <a:t>Penalty: </a:t>
              </a:r>
              <a:r>
                <a:rPr sz="1100" b="0" i="1"/>
                <a:t>heavier nacelle; costly CMC repairs</a:t>
              </a:r>
            </a:p>
          </p:txBody>
        </p:sp>
      </p:grpSp>
      <p:sp>
        <p:nvSpPr>
          <p:cNvPr id="10" name="Card Take-off thrust"/>
          <p:cNvSpPr/>
          <p:nvPr/>
        </p:nvSpPr>
        <p:spPr>
          <a:xfrm>
            <a:off x="8083296" y="1188720"/>
            <a:ext cx="3611880" cy="2500827"/>
          </a:xfrm>
          <a:prstGeom prst="roundRect">
            <a:avLst>
              <a:gd name="adj" fmla="val 5000"/>
            </a:avLst>
          </a:prstGeom>
          <a:solidFill>
            <a:srgbClr val="FFFFFF"/>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83296" y="1188720"/>
            <a:ext cx="3611880" cy="384048"/>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l"/>
            <a:r>
              <a:rPr sz="1300" b="1">
                <a:solidFill>
                  <a:srgbClr val="FFFFFF"/>
                </a:solidFill>
              </a:rPr>
              <a:t>Take-off thrust</a:t>
            </a:r>
            <a:r>
              <a:rPr sz="1300" b="1">
                <a:solidFill>
                  <a:srgbClr val="FFD38A"/>
                </a:solidFill>
              </a:rPr>
              <a:t>   ≤ 8.2 % fuel</a:t>
            </a:r>
          </a:p>
        </p:txBody>
      </p:sp>
      <p:sp>
        <p:nvSpPr>
          <p:cNvPr id="12" name="TextBox 11"/>
          <p:cNvSpPr txBox="1"/>
          <p:nvPr/>
        </p:nvSpPr>
        <p:spPr>
          <a:xfrm>
            <a:off x="8129016" y="1585193"/>
            <a:ext cx="3520440" cy="1836400"/>
          </a:xfrm>
          <a:prstGeom prst="rect">
            <a:avLst/>
          </a:prstGeom>
          <a:noFill/>
        </p:spPr>
        <p:txBody>
          <a:bodyPr wrap="square" lIns="91440" tIns="45720" rIns="73152" bIns="45720">
            <a:spAutoFit/>
          </a:bodyPr>
          <a:lstStyle/>
          <a:p>
            <a:pPr>
              <a:spcBef>
                <a:spcPts val="0"/>
              </a:spcBef>
              <a:spcAft>
                <a:spcPts val="200"/>
              </a:spcAft>
              <a:buNone/>
            </a:pPr>
            <a:r>
              <a:rPr lang="en-GB" sz="1100" b="1" i="0" dirty="0">
                <a:solidFill>
                  <a:srgbClr val="202020"/>
                </a:solidFill>
              </a:rPr>
              <a:t>Hybrid-electric assist </a:t>
            </a:r>
            <a:r>
              <a:rPr lang="en-GB" sz="1100" b="0" i="0" dirty="0"/>
              <a:t>(NASA study [19]):</a:t>
            </a:r>
          </a:p>
          <a:p>
            <a:pPr marL="171450" indent="-171450">
              <a:spcAft>
                <a:spcPts val="400"/>
              </a:spcAft>
              <a:buFont typeface="Arial"/>
              <a:buChar char="•"/>
            </a:pPr>
            <a:r>
              <a:rPr lang="en-GB" sz="1100" b="1" i="0" dirty="0"/>
              <a:t>8.2 % block-fuel cut</a:t>
            </a:r>
            <a:r>
              <a:rPr lang="en-GB" sz="1100" b="0" i="0" dirty="0"/>
              <a:t>: electric climb assist and e-taxi, no APU; overlaps ground ops</a:t>
            </a:r>
          </a:p>
          <a:p>
            <a:pPr marL="171450" indent="-171450">
              <a:spcAft>
                <a:spcPts val="400"/>
              </a:spcAft>
              <a:buFont typeface="Arial"/>
              <a:buChar char="•"/>
            </a:pPr>
            <a:r>
              <a:rPr lang="en-GB" sz="1100" b="1" i="1" dirty="0"/>
              <a:t>Penalty: </a:t>
            </a:r>
            <a:r>
              <a:rPr lang="en-GB" sz="1100" b="0" i="1" dirty="0"/>
              <a:t>batteries ≈ 3.5 % of TOW; 154-seat single-aisle data, widebody unproven</a:t>
            </a:r>
          </a:p>
          <a:p>
            <a:pPr marL="171450" indent="-171450">
              <a:spcAft>
                <a:spcPts val="400"/>
              </a:spcAft>
              <a:buFont typeface="Arial"/>
              <a:buChar char="•"/>
            </a:pPr>
            <a:r>
              <a:rPr lang="en-GB" sz="1100" b="0" i="0" dirty="0">
                <a:solidFill>
                  <a:srgbClr val="202020"/>
                </a:solidFill>
              </a:rPr>
              <a:t>Less thrust → less hot-section wear, fewer shop visits</a:t>
            </a:r>
          </a:p>
        </p:txBody>
      </p:sp>
      <p:sp>
        <p:nvSpPr>
          <p:cNvPr id="13" name="Card AI flight optimisation"/>
          <p:cNvSpPr/>
          <p:nvPr/>
        </p:nvSpPr>
        <p:spPr>
          <a:xfrm>
            <a:off x="457200" y="3844544"/>
            <a:ext cx="3611880" cy="2500827"/>
          </a:xfrm>
          <a:prstGeom prst="roundRect">
            <a:avLst>
              <a:gd name="adj" fmla="val 5000"/>
            </a:avLst>
          </a:prstGeom>
          <a:solidFill>
            <a:srgbClr val="FFFFFF"/>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 y="3844544"/>
            <a:ext cx="3611880" cy="384048"/>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l"/>
            <a:r>
              <a:rPr sz="1300" b="1">
                <a:solidFill>
                  <a:srgbClr val="FFFFFF"/>
                </a:solidFill>
              </a:rPr>
              <a:t>AI flight </a:t>
            </a:r>
            <a:r>
              <a:rPr lang="en-GB" sz="1300" b="1" err="1">
                <a:solidFill>
                  <a:srgbClr val="FFFFFF"/>
                </a:solidFill>
              </a:rPr>
              <a:t>optimisation</a:t>
            </a:r>
            <a:r>
              <a:rPr sz="1300" b="1">
                <a:solidFill>
                  <a:srgbClr val="FFD38A"/>
                </a:solidFill>
              </a:rPr>
              <a:t>   </a:t>
            </a:r>
            <a:r>
              <a:rPr lang="en-GB" sz="1300" b="1">
                <a:solidFill>
                  <a:srgbClr val="FFD38A"/>
                </a:solidFill>
              </a:rPr>
              <a:t>≤ 5 %</a:t>
            </a:r>
            <a:r>
              <a:rPr sz="1300" b="1">
                <a:solidFill>
                  <a:srgbClr val="FFD38A"/>
                </a:solidFill>
              </a:rPr>
              <a:t> fuel</a:t>
            </a:r>
          </a:p>
        </p:txBody>
      </p:sp>
      <p:sp>
        <p:nvSpPr>
          <p:cNvPr id="15" name="TextBox 14"/>
          <p:cNvSpPr txBox="1"/>
          <p:nvPr/>
        </p:nvSpPr>
        <p:spPr>
          <a:xfrm>
            <a:off x="502920" y="4274312"/>
            <a:ext cx="3520440" cy="1785104"/>
          </a:xfrm>
          <a:prstGeom prst="rect">
            <a:avLst/>
          </a:prstGeom>
          <a:noFill/>
        </p:spPr>
        <p:txBody>
          <a:bodyPr wrap="square" rIns="73152">
            <a:spAutoFit/>
          </a:bodyPr>
          <a:lstStyle/>
          <a:p>
            <a:pPr marL="171450" indent="-171450">
              <a:buFont typeface="Arial"/>
              <a:buChar char="•"/>
            </a:pPr>
            <a:r>
              <a:rPr lang="en-GB" sz="1100"/>
              <a:t>480,000 gallons saved in a 6-month trial; </a:t>
            </a:r>
            <a:r>
              <a:rPr lang="en-GB" sz="1100" b="1"/>
              <a:t>3-5 % fuel on flights over 4 h </a:t>
            </a:r>
            <a:r>
              <a:rPr lang="en-GB" sz="1100"/>
              <a:t>(Alaska Airlines + Flyways AI) [20]</a:t>
            </a:r>
          </a:p>
          <a:p>
            <a:pPr marL="171450" indent="-171450">
              <a:buFont typeface="Arial"/>
              <a:buChar char="•"/>
            </a:pPr>
            <a:r>
              <a:rPr lang="en-GB" sz="1100"/>
              <a:t>AI climb profiles: </a:t>
            </a:r>
            <a:r>
              <a:rPr lang="en-GB" sz="1100" b="1"/>
              <a:t>≈ 73 kg saved per departure</a:t>
            </a:r>
            <a:r>
              <a:rPr lang="en-GB" sz="1100"/>
              <a:t> over 1.5 M A320-family flights [21]</a:t>
            </a:r>
          </a:p>
          <a:p>
            <a:pPr marL="171450" indent="-171450">
              <a:buFont typeface="Arial"/>
              <a:buChar char="•"/>
            </a:pPr>
            <a:r>
              <a:rPr sz="1100" b="1" i="1"/>
              <a:t>Penalty: </a:t>
            </a:r>
            <a:r>
              <a:rPr sz="1100" b="0" i="1"/>
              <a:t>airline/ATC deliver it; used on ≈ 30 % of flights, so ≈ 1-2 % fleet-wide</a:t>
            </a:r>
            <a:endParaRPr lang="en-GB" sz="1100" b="0">
              <a:solidFill>
                <a:srgbClr val="202020"/>
              </a:solidFill>
            </a:endParaRPr>
          </a:p>
        </p:txBody>
      </p:sp>
      <p:sp>
        <p:nvSpPr>
          <p:cNvPr id="16" name="Card Ground operations"/>
          <p:cNvSpPr/>
          <p:nvPr/>
        </p:nvSpPr>
        <p:spPr>
          <a:xfrm>
            <a:off x="4270248" y="3844544"/>
            <a:ext cx="3611880" cy="2500827"/>
          </a:xfrm>
          <a:prstGeom prst="roundRect">
            <a:avLst>
              <a:gd name="adj" fmla="val 5000"/>
            </a:avLst>
          </a:prstGeom>
          <a:solidFill>
            <a:srgbClr val="FFFFFF"/>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70248" y="3844544"/>
            <a:ext cx="3611880" cy="384048"/>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l"/>
            <a:r>
              <a:rPr sz="1300" b="1">
                <a:solidFill>
                  <a:srgbClr val="FFFFFF"/>
                </a:solidFill>
              </a:rPr>
              <a:t>Ground operations</a:t>
            </a:r>
            <a:r>
              <a:rPr sz="1300" b="1">
                <a:solidFill>
                  <a:srgbClr val="FFD38A"/>
                </a:solidFill>
              </a:rPr>
              <a:t>   &lt; 1 % fuel</a:t>
            </a:r>
          </a:p>
        </p:txBody>
      </p:sp>
      <p:sp>
        <p:nvSpPr>
          <p:cNvPr id="18" name="TextBox 17"/>
          <p:cNvSpPr txBox="1"/>
          <p:nvPr/>
        </p:nvSpPr>
        <p:spPr>
          <a:xfrm>
            <a:off x="4315968" y="4274312"/>
            <a:ext cx="3520440" cy="1673351"/>
          </a:xfrm>
          <a:prstGeom prst="rect">
            <a:avLst/>
          </a:prstGeom>
          <a:noFill/>
        </p:spPr>
        <p:txBody>
          <a:bodyPr wrap="square" rIns="73152">
            <a:spAutoFit/>
          </a:bodyPr>
          <a:lstStyle/>
          <a:p>
            <a:pPr marL="171450" indent="-171450">
              <a:spcAft>
                <a:spcPts val="400"/>
              </a:spcAft>
              <a:buFont typeface="Arial"/>
              <a:buChar char="•"/>
            </a:pPr>
            <a:r>
              <a:rPr sz="1100" b="1">
                <a:solidFill>
                  <a:srgbClr val="202020"/>
                </a:solidFill>
              </a:rPr>
              <a:t>Electric towing: </a:t>
            </a:r>
            <a:r>
              <a:rPr sz="1100" b="0">
                <a:solidFill>
                  <a:srgbClr val="202020"/>
                </a:solidFill>
              </a:rPr>
              <a:t>≈ 95 kg saved per departure (TaxiBot, narrowbodies) [22]</a:t>
            </a:r>
          </a:p>
          <a:p>
            <a:pPr marL="171450" indent="-171450">
              <a:spcAft>
                <a:spcPts val="400"/>
              </a:spcAft>
              <a:buFont typeface="Arial"/>
              <a:buChar char="•"/>
            </a:pPr>
            <a:r>
              <a:rPr sz="1100" b="1">
                <a:solidFill>
                  <a:srgbClr val="202020"/>
                </a:solidFill>
              </a:rPr>
              <a:t>Ground power instead of APU: </a:t>
            </a:r>
            <a:r>
              <a:rPr sz="1100" b="0">
                <a:solidFill>
                  <a:srgbClr val="202020"/>
                </a:solidFill>
              </a:rPr>
              <a:t>up to ≈ 210 kg/h saved at the gate (A330, IATA data)</a:t>
            </a:r>
          </a:p>
          <a:p>
            <a:pPr marL="171450" indent="-171450">
              <a:spcAft>
                <a:spcPts val="400"/>
              </a:spcAft>
              <a:buFont typeface="Arial"/>
              <a:buChar char="•"/>
            </a:pPr>
            <a:r>
              <a:rPr sz="1100" b="0">
                <a:solidFill>
                  <a:srgbClr val="202020"/>
                </a:solidFill>
              </a:rPr>
              <a:t>Requirement: nose gear rated for towing</a:t>
            </a:r>
          </a:p>
          <a:p>
            <a:pPr marL="171450" indent="-171450">
              <a:spcAft>
                <a:spcPts val="400"/>
              </a:spcAft>
              <a:buFont typeface="Arial"/>
              <a:buChar char="•"/>
            </a:pPr>
            <a:r>
              <a:rPr sz="1100" b="1" i="1"/>
              <a:t>Penalty: </a:t>
            </a:r>
            <a:r>
              <a:rPr sz="1100" b="0" i="1"/>
              <a:t>tug fleet; towing loads on the nose gear</a:t>
            </a:r>
          </a:p>
        </p:txBody>
      </p:sp>
      <p:sp>
        <p:nvSpPr>
          <p:cNvPr id="19" name="Card Bottom line"/>
          <p:cNvSpPr/>
          <p:nvPr/>
        </p:nvSpPr>
        <p:spPr>
          <a:xfrm>
            <a:off x="8083296" y="3844544"/>
            <a:ext cx="3611880" cy="2500827"/>
          </a:xfrm>
          <a:prstGeom prst="roundRect">
            <a:avLst>
              <a:gd name="adj" fmla="val 5000"/>
            </a:avLst>
          </a:prstGeom>
          <a:solidFill>
            <a:srgbClr val="E8F1F6"/>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83296" y="3844544"/>
            <a:ext cx="3611880" cy="384048"/>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09728" tIns="45720" rIns="109728" bIns="45720" rtlCol="0" anchor="ctr"/>
          <a:lstStyle/>
          <a:p>
            <a:r>
              <a:rPr sz="1300" b="1">
                <a:solidFill>
                  <a:srgbClr val="FFFFFF"/>
                </a:solidFill>
              </a:rPr>
              <a:t>Bottom line</a:t>
            </a:r>
            <a:r>
              <a:rPr sz="1300" b="1">
                <a:solidFill>
                  <a:srgbClr val="FFD38A"/>
                </a:solidFill>
              </a:rPr>
              <a:t>   ≈ </a:t>
            </a:r>
            <a:r>
              <a:rPr lang="en-GB" sz="1300" b="1">
                <a:solidFill>
                  <a:srgbClr val="FFD38A"/>
                </a:solidFill>
              </a:rPr>
              <a:t>20 - 22</a:t>
            </a:r>
            <a:r>
              <a:rPr sz="1300" b="1">
                <a:solidFill>
                  <a:srgbClr val="FFD38A"/>
                </a:solidFill>
              </a:rPr>
              <a:t> % of 29 % target</a:t>
            </a:r>
            <a:endParaRPr lang="en-US" sz="1300" b="1">
              <a:solidFill>
                <a:srgbClr val="FFD38A"/>
              </a:solidFill>
            </a:endParaRPr>
          </a:p>
        </p:txBody>
      </p:sp>
      <p:sp>
        <p:nvSpPr>
          <p:cNvPr id="21" name="TextBox 20"/>
          <p:cNvSpPr txBox="1"/>
          <p:nvPr/>
        </p:nvSpPr>
        <p:spPr>
          <a:xfrm>
            <a:off x="8129016" y="4274312"/>
            <a:ext cx="3520440" cy="1920240"/>
          </a:xfrm>
          <a:prstGeom prst="rect">
            <a:avLst/>
          </a:prstGeom>
          <a:noFill/>
        </p:spPr>
        <p:txBody>
          <a:bodyPr wrap="square" lIns="91440" tIns="45720" rIns="73152" bIns="45720">
            <a:spAutoFit/>
          </a:bodyPr>
          <a:lstStyle/>
          <a:p>
            <a:pPr marL="171450" indent="-171450">
              <a:spcAft>
                <a:spcPts val="400"/>
              </a:spcAft>
              <a:buFont typeface="Arial"/>
              <a:buChar char="•"/>
            </a:pPr>
            <a:r>
              <a:rPr lang="en-GB" sz="1100" b="1" i="0" dirty="0"/>
              <a:t>Target: </a:t>
            </a:r>
            <a:r>
              <a:rPr lang="en-GB" sz="1100" b="0" i="0" dirty="0"/>
              <a:t>29 % less fuel energy per seat gives SAF cost parity (slide 15)</a:t>
            </a:r>
          </a:p>
          <a:p>
            <a:pPr marL="171450" indent="-171450">
              <a:spcAft>
                <a:spcPts val="400"/>
              </a:spcAft>
              <a:buFont typeface="Arial"/>
              <a:buChar char="•"/>
            </a:pPr>
            <a:r>
              <a:rPr lang="en-GB" sz="1100" b="1" i="0" dirty="0"/>
              <a:t>Savings multiply: </a:t>
            </a:r>
            <a:r>
              <a:rPr lang="en-GB" sz="1100" b="0" i="0" dirty="0"/>
              <a:t>1 - (0.90 × 0.97 × 0.918) ≈ 20 % from design (wing at its 3 % end); + operations ≈ 21-22 %</a:t>
            </a:r>
          </a:p>
          <a:p>
            <a:pPr marL="171450" indent="-171450">
              <a:spcAft>
                <a:spcPts val="400"/>
              </a:spcAft>
              <a:buFont typeface="Arial"/>
              <a:buChar char="•"/>
            </a:pPr>
            <a:r>
              <a:rPr lang="en-GB" sz="1100" b="1" i="0" dirty="0"/>
              <a:t>Gap ≈ 7-9 points: </a:t>
            </a:r>
            <a:r>
              <a:rPr lang="en-GB" sz="1100" b="0" i="0" dirty="0"/>
              <a:t>PDR trade studies on cruise Mach (0.82 vs 0.85) and weight</a:t>
            </a:r>
          </a:p>
          <a:p>
            <a:pPr marL="171450" indent="-171450">
              <a:spcAft>
                <a:spcPts val="400"/>
              </a:spcAft>
              <a:buFont typeface="Arial"/>
              <a:buChar char="•"/>
            </a:pPr>
            <a:r>
              <a:rPr lang="en-GB" sz="1100" b="1" i="0" dirty="0"/>
              <a:t>Hits Raymer’s DOC drivers [4]: </a:t>
            </a:r>
            <a:r>
              <a:rPr lang="en-GB" sz="1100" b="0" i="0" dirty="0"/>
              <a:t>fuel burned and take-off thrust (maintenance)</a:t>
            </a:r>
          </a:p>
          <a:p>
            <a:pPr marL="171450" indent="-171450">
              <a:spcAft>
                <a:spcPts val="0"/>
              </a:spcAft>
              <a:buFont typeface="Arial"/>
              <a:buChar char="•"/>
            </a:pPr>
            <a:r>
              <a:rPr lang="en-GB" sz="1100" b="1" i="0" dirty="0"/>
              <a:t>Options for PDR - not yet selected</a:t>
            </a:r>
          </a:p>
        </p:txBody>
      </p:sp>
      <p:sp>
        <p:nvSpPr>
          <p:cNvPr id="7" name="Card Wing"/>
          <p:cNvSpPr/>
          <p:nvPr/>
        </p:nvSpPr>
        <p:spPr>
          <a:xfrm>
            <a:off x="4270248" y="1188720"/>
            <a:ext cx="3611880" cy="2500827"/>
          </a:xfrm>
          <a:prstGeom prst="roundRect">
            <a:avLst>
              <a:gd name="adj" fmla="val 5000"/>
            </a:avLst>
          </a:prstGeom>
          <a:solidFill>
            <a:srgbClr val="FFFFFF"/>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15968" y="1618996"/>
            <a:ext cx="3520440" cy="1673351"/>
          </a:xfrm>
          <a:prstGeom prst="rect">
            <a:avLst/>
          </a:prstGeom>
          <a:noFill/>
        </p:spPr>
        <p:txBody>
          <a:bodyPr wrap="square" rIns="73152">
            <a:spAutoFit/>
          </a:bodyPr>
          <a:lstStyle/>
          <a:p>
            <a:pPr marL="171450" indent="-171450">
              <a:spcAft>
                <a:spcPts val="400"/>
              </a:spcAft>
              <a:buFont typeface="Arial"/>
              <a:buChar char="•"/>
            </a:pPr>
            <a:r>
              <a:rPr sz="1100" b="1">
                <a:solidFill>
                  <a:srgbClr val="202020"/>
                </a:solidFill>
              </a:rPr>
              <a:t>Long wing + load alleviation: </a:t>
            </a:r>
            <a:r>
              <a:rPr sz="1100" b="0">
                <a:solidFill>
                  <a:srgbClr val="202020"/>
                </a:solidFill>
              </a:rPr>
              <a:t>up to 10 % fuel, 3.4 % cost [17]</a:t>
            </a:r>
          </a:p>
          <a:p>
            <a:pPr marL="171450" indent="-171450">
              <a:spcAft>
                <a:spcPts val="400"/>
              </a:spcAft>
              <a:buFont typeface="Arial"/>
              <a:buChar char="•"/>
            </a:pPr>
            <a:r>
              <a:rPr sz="1100" b="0">
                <a:solidFill>
                  <a:srgbClr val="202020"/>
                </a:solidFill>
              </a:rPr>
              <a:t>Folding tips keep Code E gates (≤ 65 m): 777X 71.8 → 64.8 m [18]</a:t>
            </a:r>
          </a:p>
          <a:p>
            <a:pPr marL="171450" indent="-171450">
              <a:spcAft>
                <a:spcPts val="400"/>
              </a:spcAft>
              <a:buFont typeface="Arial"/>
              <a:buChar char="•"/>
            </a:pPr>
            <a:r>
              <a:rPr sz="1100" b="0">
                <a:solidFill>
                  <a:srgbClr val="202020"/>
                </a:solidFill>
              </a:rPr>
              <a:t>Airbus extended-span wing flight tests from 2026 [18]</a:t>
            </a:r>
          </a:p>
          <a:p>
            <a:pPr marL="171450" indent="-171450">
              <a:spcAft>
                <a:spcPts val="400"/>
              </a:spcAft>
              <a:buFont typeface="Arial"/>
              <a:buChar char="•"/>
            </a:pPr>
            <a:r>
              <a:rPr sz="1100" b="1" i="1"/>
              <a:t>Penalty: </a:t>
            </a:r>
            <a:r>
              <a:rPr sz="1100" b="0" i="1"/>
              <a:t>fold mechanism mass and upkeep</a:t>
            </a:r>
          </a:p>
        </p:txBody>
      </p:sp>
      <p:sp>
        <p:nvSpPr>
          <p:cNvPr id="27" name="Rectangle: Rounded Corners 26">
            <a:extLst>
              <a:ext uri="{FF2B5EF4-FFF2-40B4-BE49-F238E27FC236}">
                <a16:creationId xmlns:a16="http://schemas.microsoft.com/office/drawing/2014/main" id="{8E235401-DEC3-F03C-6962-D2EAFB6CA604}"/>
              </a:ext>
            </a:extLst>
          </p:cNvPr>
          <p:cNvSpPr/>
          <p:nvPr/>
        </p:nvSpPr>
        <p:spPr>
          <a:xfrm>
            <a:off x="6419088" y="3369507"/>
            <a:ext cx="1371600" cy="24688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chemeClr val="tx1"/>
                </a:solidFill>
              </a:rPr>
              <a:t>Cruise · 87 % of fuel</a:t>
            </a:r>
          </a:p>
        </p:txBody>
      </p:sp>
      <p:sp>
        <p:nvSpPr>
          <p:cNvPr id="29" name="Rectangle: Rounded Corners 28">
            <a:extLst>
              <a:ext uri="{FF2B5EF4-FFF2-40B4-BE49-F238E27FC236}">
                <a16:creationId xmlns:a16="http://schemas.microsoft.com/office/drawing/2014/main" id="{F82AE323-54E0-134F-CEC6-81C0F760F61F}"/>
              </a:ext>
            </a:extLst>
          </p:cNvPr>
          <p:cNvSpPr/>
          <p:nvPr/>
        </p:nvSpPr>
        <p:spPr>
          <a:xfrm>
            <a:off x="2606040" y="6025331"/>
            <a:ext cx="1371600" cy="24688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chemeClr val="tx1"/>
                </a:solidFill>
              </a:rPr>
              <a:t>Climb and cruise</a:t>
            </a:r>
          </a:p>
        </p:txBody>
      </p:sp>
      <p:sp>
        <p:nvSpPr>
          <p:cNvPr id="31" name="Rectangle: Rounded Corners 30">
            <a:extLst>
              <a:ext uri="{FF2B5EF4-FFF2-40B4-BE49-F238E27FC236}">
                <a16:creationId xmlns:a16="http://schemas.microsoft.com/office/drawing/2014/main" id="{DB542CF4-32A9-941D-A9E5-35B0AA643F7D}"/>
              </a:ext>
            </a:extLst>
          </p:cNvPr>
          <p:cNvSpPr/>
          <p:nvPr/>
        </p:nvSpPr>
        <p:spPr>
          <a:xfrm>
            <a:off x="6419088" y="6025331"/>
            <a:ext cx="1371600" cy="24688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chemeClr val="tx1"/>
                </a:solidFill>
              </a:rPr>
              <a:t>Taxi and gate</a:t>
            </a:r>
          </a:p>
        </p:txBody>
      </p:sp>
      <p:sp>
        <p:nvSpPr>
          <p:cNvPr id="33" name="Rectangle: Rounded Corners 32">
            <a:extLst>
              <a:ext uri="{FF2B5EF4-FFF2-40B4-BE49-F238E27FC236}">
                <a16:creationId xmlns:a16="http://schemas.microsoft.com/office/drawing/2014/main" id="{4F4C36DC-358F-AAA8-5924-458B593409CE}"/>
              </a:ext>
            </a:extLst>
          </p:cNvPr>
          <p:cNvSpPr/>
          <p:nvPr/>
        </p:nvSpPr>
        <p:spPr>
          <a:xfrm>
            <a:off x="10232136" y="3369507"/>
            <a:ext cx="1371600" cy="24688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chemeClr val="tx1"/>
                </a:solidFill>
              </a:rPr>
              <a:t>Take-off and climb</a:t>
            </a:r>
          </a:p>
        </p:txBody>
      </p:sp>
      <p:sp>
        <p:nvSpPr>
          <p:cNvPr id="5" name="Rounded Rectangle 4"/>
          <p:cNvSpPr/>
          <p:nvPr/>
        </p:nvSpPr>
        <p:spPr>
          <a:xfrm>
            <a:off x="457200" y="1188720"/>
            <a:ext cx="3611880" cy="384048"/>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l"/>
            <a:r>
              <a:rPr sz="1300" b="1">
                <a:solidFill>
                  <a:srgbClr val="FFFFFF"/>
                </a:solidFill>
              </a:rPr>
              <a:t>Engine</a:t>
            </a:r>
            <a:r>
              <a:rPr sz="1300" b="1">
                <a:solidFill>
                  <a:srgbClr val="FFD38A"/>
                </a:solidFill>
              </a:rPr>
              <a:t>   ≈ 10 % fuel</a:t>
            </a:r>
          </a:p>
        </p:txBody>
      </p:sp>
      <p:sp>
        <p:nvSpPr>
          <p:cNvPr id="8" name="Rounded Rectangle 7"/>
          <p:cNvSpPr/>
          <p:nvPr/>
        </p:nvSpPr>
        <p:spPr>
          <a:xfrm>
            <a:off x="4270248" y="1188720"/>
            <a:ext cx="3611880" cy="384048"/>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09728" tIns="45720" rIns="109728" bIns="45720" rtlCol="0" anchor="ctr"/>
          <a:lstStyle/>
          <a:p>
            <a:r>
              <a:rPr sz="1300" b="1">
                <a:solidFill>
                  <a:srgbClr val="FFFFFF"/>
                </a:solidFill>
              </a:rPr>
              <a:t>Wing</a:t>
            </a:r>
            <a:r>
              <a:rPr sz="1300" b="1">
                <a:solidFill>
                  <a:srgbClr val="FFD38A"/>
                </a:solidFill>
              </a:rPr>
              <a:t>   </a:t>
            </a:r>
            <a:r>
              <a:rPr lang="en-GB" sz="1300" b="1">
                <a:solidFill>
                  <a:srgbClr val="FFD38A"/>
                </a:solidFill>
              </a:rPr>
              <a:t>3 - 10</a:t>
            </a:r>
            <a:r>
              <a:rPr sz="1300" b="1">
                <a:solidFill>
                  <a:srgbClr val="FFD38A"/>
                </a:solidFill>
              </a:rPr>
              <a:t> % fuel</a:t>
            </a:r>
            <a:endParaRPr lang="en-US" sz="1300" b="1">
              <a:solidFill>
                <a:srgbClr val="FFD38A"/>
              </a:solidFill>
            </a:endParaRPr>
          </a:p>
        </p:txBody>
      </p:sp>
      <p:sp>
        <p:nvSpPr>
          <p:cNvPr id="37" name="Rectangle: Rounded Corners 36">
            <a:extLst>
              <a:ext uri="{FF2B5EF4-FFF2-40B4-BE49-F238E27FC236}">
                <a16:creationId xmlns:a16="http://schemas.microsoft.com/office/drawing/2014/main" id="{4DD218DF-4B1A-7925-A878-CF8E09C5B59B}"/>
              </a:ext>
            </a:extLst>
          </p:cNvPr>
          <p:cNvSpPr/>
          <p:nvPr/>
        </p:nvSpPr>
        <p:spPr>
          <a:xfrm>
            <a:off x="2606040" y="3369507"/>
            <a:ext cx="1371600" cy="24688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chemeClr val="tx1"/>
                </a:solidFill>
              </a:rPr>
              <a:t>Cruise · 87 % of fuel</a:t>
            </a:r>
          </a:p>
        </p:txBody>
      </p:sp>
    </p:spTree>
    <p:extLst>
      <p:ext uri="{BB962C8B-B14F-4D97-AF65-F5344CB8AC3E}">
        <p14:creationId xmlns:p14="http://schemas.microsoft.com/office/powerpoint/2010/main" val="945732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89E62-6543-D034-E735-E4B8A0D1D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4BB55-7E69-61A9-F1F5-56BD0290F9C6}"/>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0B7E941C-CEEA-E058-2556-76F7ED2D8E0C}"/>
              </a:ext>
            </a:extLst>
          </p:cNvPr>
          <p:cNvSpPr>
            <a:spLocks noGrp="1"/>
          </p:cNvSpPr>
          <p:nvPr>
            <p:ph idx="1"/>
          </p:nvPr>
        </p:nvSpPr>
        <p:spPr>
          <a:xfrm>
            <a:off x="548640" y="1508760"/>
            <a:ext cx="5486400" cy="4754880"/>
          </a:xfrm>
        </p:spPr>
        <p:txBody>
          <a:bodyPr vert="horz" lIns="91440" tIns="45720" rIns="91440" bIns="45720" rtlCol="0" anchor="t">
            <a:normAutofit/>
          </a:bodyPr>
          <a:lstStyle/>
          <a:p>
            <a:pPr marL="0" indent="0">
              <a:spcBef>
                <a:spcPts val="0"/>
              </a:spcBef>
              <a:spcAft>
                <a:spcPts val="300"/>
              </a:spcAft>
              <a:buNone/>
            </a:pPr>
            <a:r>
              <a:rPr lang="en-US" sz="1000">
                <a:solidFill>
                  <a:srgbClr val="000000"/>
                </a:solidFill>
              </a:rPr>
              <a:t>[1] - </a:t>
            </a:r>
            <a:r>
              <a:rPr lang="en-US" sz="1000">
                <a:solidFill>
                  <a:srgbClr val="000000"/>
                </a:solidFill>
                <a:latin typeface="Aptos" panose="02110004020202020204"/>
                <a:ea typeface="Calibri"/>
                <a:cs typeface="Calibri"/>
              </a:rPr>
              <a:t>NASA (2016). </a:t>
            </a:r>
            <a:r>
              <a:rPr lang="en-US" sz="1000" i="1">
                <a:solidFill>
                  <a:srgbClr val="000000"/>
                </a:solidFill>
                <a:latin typeface="Aptos"/>
                <a:ea typeface="Calibri"/>
                <a:cs typeface="Calibri"/>
              </a:rPr>
              <a:t>Expanded Guidance for NASA Systems Engineering</a:t>
            </a:r>
            <a:r>
              <a:rPr lang="en-US" sz="1000">
                <a:solidFill>
                  <a:srgbClr val="000000"/>
                </a:solidFill>
                <a:latin typeface="Aptos"/>
                <a:ea typeface="Calibri"/>
                <a:cs typeface="Calibri"/>
              </a:rPr>
              <a:t>. Independently Published.</a:t>
            </a:r>
            <a:endParaRPr lang="en-US" sz="1800">
              <a:solidFill>
                <a:srgbClr val="000000"/>
              </a:solidFill>
              <a:latin typeface="Aptos"/>
            </a:endParaRPr>
          </a:p>
          <a:p>
            <a:pPr marL="0" indent="0">
              <a:spcBef>
                <a:spcPts val="0"/>
              </a:spcBef>
              <a:spcAft>
                <a:spcPts val="300"/>
              </a:spcAft>
              <a:buNone/>
            </a:pPr>
            <a:r>
              <a:rPr lang="en-US" sz="1000">
                <a:solidFill>
                  <a:srgbClr val="000000"/>
                </a:solidFill>
                <a:ea typeface="+mn-lt"/>
                <a:cs typeface="+mn-lt"/>
              </a:rPr>
              <a:t>[2] European Union Aviation Safety Agency (2023). </a:t>
            </a:r>
            <a:r>
              <a:rPr lang="en-US" sz="1000" i="1">
                <a:solidFill>
                  <a:srgbClr val="000000"/>
                </a:solidFill>
                <a:ea typeface="+mn-lt"/>
                <a:cs typeface="+mn-lt"/>
              </a:rPr>
              <a:t>CS-25: Certification Specifications and Acceptable Means of Compliance for Large Aeroplanes, Amendment 28</a:t>
            </a:r>
            <a:r>
              <a:rPr lang="en-US" sz="1000">
                <a:solidFill>
                  <a:srgbClr val="000000"/>
                </a:solidFill>
                <a:ea typeface="+mn-lt"/>
                <a:cs typeface="+mn-lt"/>
              </a:rPr>
              <a:t>. Cologne: EASA. Available at: https://www.easa.europa.eu/en/document-library/certification-specifications/cs-25-amendment-28 (Accessed: 19 October 2026).</a:t>
            </a:r>
            <a:endParaRPr lang="en-US" sz="1800"/>
          </a:p>
          <a:p>
            <a:pPr marL="0" indent="0">
              <a:spcBef>
                <a:spcPts val="0"/>
              </a:spcBef>
              <a:spcAft>
                <a:spcPts val="300"/>
              </a:spcAft>
              <a:buNone/>
            </a:pPr>
            <a:r>
              <a:rPr sz="1000" b="0" i="0"/>
              <a:t>[3] Raymer, D. P. (1992) </a:t>
            </a:r>
            <a:r>
              <a:rPr sz="1000" b="0" i="1"/>
              <a:t>Aircraft Design: A Conceptual Approach</a:t>
            </a:r>
            <a:r>
              <a:rPr sz="1000" b="0" i="0"/>
              <a:t>. 2nd edn. Washington, DC: AIAA.</a:t>
            </a:r>
            <a:endParaRPr lang="en-US" sz="1800"/>
          </a:p>
          <a:p>
            <a:pPr marL="0" indent="0">
              <a:spcBef>
                <a:spcPts val="0"/>
              </a:spcBef>
              <a:spcAft>
                <a:spcPts val="300"/>
              </a:spcAft>
              <a:buNone/>
            </a:pPr>
            <a:r>
              <a:rPr sz="1000" b="0" i="0"/>
              <a:t>[4] Raymer, D. P. (2018) </a:t>
            </a:r>
            <a:r>
              <a:rPr sz="1000" b="0" i="1"/>
              <a:t>Aircraft Design: A Conceptual Approach</a:t>
            </a:r>
            <a:r>
              <a:rPr sz="1000" b="0" i="0"/>
              <a:t>. 6th edn. Reston, VA: AIAA, Ch. 18.</a:t>
            </a:r>
            <a:endParaRPr lang="en-US" sz="1800"/>
          </a:p>
          <a:p>
            <a:pPr marL="0" indent="0">
              <a:spcBef>
                <a:spcPts val="0"/>
              </a:spcBef>
              <a:spcAft>
                <a:spcPts val="300"/>
              </a:spcAft>
              <a:buNone/>
            </a:pPr>
            <a:r>
              <a:rPr sz="1000" b="0" i="0"/>
              <a:t>[5] ICAO (2017) </a:t>
            </a:r>
            <a:r>
              <a:rPr sz="1000" b="0" i="1"/>
              <a:t>Airlines Operating Costs and Productivity</a:t>
            </a:r>
            <a:r>
              <a:rPr sz="1000" b="0" i="0"/>
              <a:t>. ICAO MID Aviation Data and Analysis Seminar, Tehran.</a:t>
            </a:r>
            <a:endParaRPr lang="en-US" sz="1800"/>
          </a:p>
          <a:p>
            <a:pPr marL="0" indent="0">
              <a:spcBef>
                <a:spcPts val="0"/>
              </a:spcBef>
              <a:spcAft>
                <a:spcPts val="300"/>
              </a:spcAft>
              <a:buNone/>
            </a:pPr>
            <a:r>
              <a:rPr sz="1000" b="0" i="0"/>
              <a:t>[6] AEA (1989) </a:t>
            </a:r>
            <a:r>
              <a:rPr sz="1000" b="0" i="1"/>
              <a:t>DOC Method for Long Range Aircraft</a:t>
            </a:r>
            <a:r>
              <a:rPr sz="1000" b="0" i="0"/>
              <a:t>, via Scholz, D., Aircraft Design lecture notes, Ch. 14.</a:t>
            </a:r>
            <a:endParaRPr lang="en-US" sz="1800"/>
          </a:p>
          <a:p>
            <a:pPr marL="0" indent="0">
              <a:spcBef>
                <a:spcPts val="0"/>
              </a:spcBef>
              <a:spcAft>
                <a:spcPts val="300"/>
              </a:spcAft>
              <a:buNone/>
            </a:pPr>
            <a:r>
              <a:rPr sz="1000" b="0" i="0"/>
              <a:t>[7] Airbus (2004) </a:t>
            </a:r>
            <a:r>
              <a:rPr sz="1000" b="0" i="1"/>
              <a:t>Getting to Grips with Fuel Economy</a:t>
            </a:r>
            <a:r>
              <a:rPr sz="1000" b="0" i="0"/>
              <a:t>, Issue 4. Blagnac: Airbus.</a:t>
            </a:r>
            <a:endParaRPr lang="en-US" sz="1800"/>
          </a:p>
          <a:p>
            <a:pPr marL="0" indent="0">
              <a:spcBef>
                <a:spcPts val="0"/>
              </a:spcBef>
              <a:spcAft>
                <a:spcPts val="300"/>
              </a:spcAft>
              <a:buNone/>
            </a:pPr>
            <a:r>
              <a:rPr sz="1000" b="0" i="0"/>
              <a:t>[8] Airbus (2018) </a:t>
            </a:r>
            <a:r>
              <a:rPr sz="1000" b="0" i="1"/>
              <a:t>Airbus aircraft 2018 average list prices</a:t>
            </a:r>
            <a:r>
              <a:rPr sz="1000" b="0" i="0"/>
              <a:t>.</a:t>
            </a:r>
            <a:endParaRPr lang="en-US" sz="1800"/>
          </a:p>
          <a:p>
            <a:pPr marL="0" indent="0">
              <a:spcBef>
                <a:spcPts val="0"/>
              </a:spcBef>
              <a:spcAft>
                <a:spcPts val="300"/>
              </a:spcAft>
              <a:buNone/>
            </a:pPr>
            <a:r>
              <a:rPr sz="1000" b="0" i="0"/>
              <a:t>[9] Airbus (2026) </a:t>
            </a:r>
            <a:r>
              <a:rPr sz="1000" b="0" i="1"/>
              <a:t>Airbus reports 793 commercial aircraft deliveries in 2025</a:t>
            </a:r>
            <a:r>
              <a:rPr sz="1000" b="0" i="0"/>
              <a:t>. Press release, 12 January.</a:t>
            </a:r>
            <a:endParaRPr lang="en-US" sz="1800"/>
          </a:p>
          <a:p>
            <a:pPr marL="0" indent="0">
              <a:spcBef>
                <a:spcPts val="0"/>
              </a:spcBef>
              <a:spcAft>
                <a:spcPts val="300"/>
              </a:spcAft>
              <a:buNone/>
            </a:pPr>
            <a:r>
              <a:rPr sz="1000" b="0" i="0"/>
              <a:t>[10] IATA (2024) </a:t>
            </a:r>
            <a:r>
              <a:rPr sz="1000" b="0" i="1"/>
              <a:t>SAF minimum selling price by production pathway, 2020-2045</a:t>
            </a:r>
            <a:r>
              <a:rPr sz="1000" b="0" i="0"/>
              <a:t>, Chart 1.</a:t>
            </a:r>
            <a:endParaRPr lang="en-US" sz="1800"/>
          </a:p>
          <a:p>
            <a:pPr marL="0" indent="0">
              <a:spcBef>
                <a:spcPts val="0"/>
              </a:spcBef>
              <a:spcAft>
                <a:spcPts val="300"/>
              </a:spcAft>
              <a:buNone/>
            </a:pPr>
            <a:r>
              <a:rPr sz="1000" b="0" i="0"/>
              <a:t>[11] ASTM International </a:t>
            </a:r>
            <a:r>
              <a:rPr sz="1000" b="0" i="1"/>
              <a:t>ASTM D7566: Aviation Turbine Fuel Containing Synthesized Hydrocarbons</a:t>
            </a:r>
            <a:r>
              <a:rPr sz="1000" b="0" i="0"/>
              <a:t>.</a:t>
            </a:r>
            <a:endParaRPr lang="en-US" sz="1800"/>
          </a:p>
        </p:txBody>
      </p:sp>
      <p:sp>
        <p:nvSpPr>
          <p:cNvPr id="4" name="Slide Number Placeholder 3">
            <a:extLst>
              <a:ext uri="{FF2B5EF4-FFF2-40B4-BE49-F238E27FC236}">
                <a16:creationId xmlns:a16="http://schemas.microsoft.com/office/drawing/2014/main" id="{A67615EE-7D57-C653-F3CB-A7052110BF2F}"/>
              </a:ext>
            </a:extLst>
          </p:cNvPr>
          <p:cNvSpPr>
            <a:spLocks noGrp="1"/>
          </p:cNvSpPr>
          <p:nvPr>
            <p:ph type="sldNum" sz="quarter" idx="12"/>
          </p:nvPr>
        </p:nvSpPr>
        <p:spPr/>
        <p:txBody>
          <a:bodyPr/>
          <a:lstStyle/>
          <a:p>
            <a:fld id="{330EA680-D336-4FF7-8B7A-9848BB0A1C32}" type="slidenum">
              <a:rPr lang="en-GB" smtClean="0"/>
              <a:t>18</a:t>
            </a:fld>
            <a:endParaRPr lang="en-GB"/>
          </a:p>
        </p:txBody>
      </p:sp>
      <p:sp>
        <p:nvSpPr>
          <p:cNvPr id="5" name="References col 2"/>
          <p:cNvSpPr txBox="1"/>
          <p:nvPr/>
        </p:nvSpPr>
        <p:spPr>
          <a:xfrm>
            <a:off x="6263640" y="1508760"/>
            <a:ext cx="5486400" cy="4754880"/>
          </a:xfrm>
          <a:prstGeom prst="rect">
            <a:avLst/>
          </a:prstGeom>
          <a:noFill/>
        </p:spPr>
        <p:txBody>
          <a:bodyPr wrap="square">
            <a:spAutoFit/>
          </a:bodyPr>
          <a:lstStyle/>
          <a:p>
            <a:pPr marL="0" indent="0">
              <a:spcBef>
                <a:spcPts val="0"/>
              </a:spcBef>
              <a:spcAft>
                <a:spcPts val="300"/>
              </a:spcAft>
              <a:buNone/>
            </a:pPr>
            <a:r>
              <a:rPr sz="1000" b="0" i="0"/>
              <a:t>[12] Rolls-Royce (2023) </a:t>
            </a:r>
            <a:r>
              <a:rPr sz="1000" b="0" i="1"/>
              <a:t>Rolls-Royce successfully completes 100% SAF test programme</a:t>
            </a:r>
            <a:r>
              <a:rPr sz="1000" b="0" i="0"/>
              <a:t>. Press release, 13 November.</a:t>
            </a:r>
            <a:endParaRPr lang="en-US" sz="1800"/>
          </a:p>
          <a:p>
            <a:pPr marL="0" indent="0">
              <a:spcBef>
                <a:spcPts val="0"/>
              </a:spcBef>
              <a:spcAft>
                <a:spcPts val="300"/>
              </a:spcAft>
              <a:buNone/>
            </a:pPr>
            <a:r>
              <a:rPr sz="1000" b="0" i="0"/>
              <a:t>[13] Fraunhofer IFAM (2024) </a:t>
            </a:r>
            <a:r>
              <a:rPr sz="1000" b="0" i="1"/>
              <a:t>Completion of the Clean Sky 2 Multifunctional Fuselage Demonstrator</a:t>
            </a:r>
            <a:r>
              <a:rPr sz="1000" b="0" i="0"/>
              <a:t>. Press release, 3 May.</a:t>
            </a:r>
            <a:endParaRPr lang="en-US" sz="1800"/>
          </a:p>
          <a:p>
            <a:pPr marL="0" indent="0">
              <a:spcBef>
                <a:spcPts val="0"/>
              </a:spcBef>
              <a:spcAft>
                <a:spcPts val="300"/>
              </a:spcAft>
              <a:buNone/>
            </a:pPr>
            <a:r>
              <a:rPr sz="1000" b="0" i="0"/>
              <a:t>[14] Eurostat (2025) </a:t>
            </a:r>
            <a:r>
              <a:rPr sz="1000" b="0" i="1"/>
              <a:t>Hourly labour costs</a:t>
            </a:r>
            <a:r>
              <a:rPr sz="1000" b="0" i="0"/>
              <a:t>; Apollo Academy (2023) </a:t>
            </a:r>
            <a:r>
              <a:rPr sz="1000" b="0" i="1"/>
              <a:t>US wages vs wages in China and India</a:t>
            </a:r>
            <a:r>
              <a:rPr sz="1000" b="0" i="0"/>
              <a:t>.</a:t>
            </a:r>
            <a:endParaRPr lang="en-US" sz="1800"/>
          </a:p>
          <a:p>
            <a:pPr marL="0" indent="0">
              <a:spcBef>
                <a:spcPts val="0"/>
              </a:spcBef>
              <a:spcAft>
                <a:spcPts val="300"/>
              </a:spcAft>
              <a:buNone/>
            </a:pPr>
            <a:r>
              <a:rPr sz="1000" b="0" i="0"/>
              <a:t>[15] Rolls-Royce (2023) </a:t>
            </a:r>
            <a:r>
              <a:rPr sz="1000" b="0" i="1"/>
              <a:t>UltraFan</a:t>
            </a:r>
            <a:r>
              <a:rPr sz="1000" b="0" i="0"/>
              <a:t>; FlightGlobal (2023) </a:t>
            </a:r>
            <a:r>
              <a:rPr sz="1000" b="0" i="1"/>
              <a:t>Rolls-Royce runs UltraFan at full power</a:t>
            </a:r>
            <a:r>
              <a:rPr sz="1000" b="0" i="0"/>
              <a:t>.</a:t>
            </a:r>
            <a:endParaRPr lang="en-US" sz="1800"/>
          </a:p>
          <a:p>
            <a:pPr marL="0" indent="0">
              <a:spcBef>
                <a:spcPts val="0"/>
              </a:spcBef>
              <a:spcAft>
                <a:spcPts val="300"/>
              </a:spcAft>
              <a:buNone/>
            </a:pPr>
            <a:r>
              <a:rPr sz="1000" b="0" i="0"/>
              <a:t>[16] GE Aerospace (n.d.) </a:t>
            </a:r>
            <a:r>
              <a:rPr sz="1000" b="0" i="1"/>
              <a:t>GE9X engine: ceramic matrix composites</a:t>
            </a:r>
            <a:r>
              <a:rPr sz="1000" b="0" i="0"/>
              <a:t>.</a:t>
            </a:r>
            <a:endParaRPr lang="en-US" sz="1800"/>
          </a:p>
          <a:p>
            <a:pPr marL="0" indent="0">
              <a:spcBef>
                <a:spcPts val="0"/>
              </a:spcBef>
              <a:spcAft>
                <a:spcPts val="300"/>
              </a:spcAft>
              <a:buNone/>
            </a:pPr>
            <a:r>
              <a:rPr sz="1000" b="0" i="0"/>
              <a:t>[17] Stanford University (n.d.) </a:t>
            </a:r>
            <a:r>
              <a:rPr sz="1000" b="0" i="1"/>
              <a:t>Long-span wing with active load alleviation</a:t>
            </a:r>
            <a:r>
              <a:rPr sz="1000" b="0" i="0"/>
              <a:t>. purl.stanford.edu/hz528zb1688.</a:t>
            </a:r>
            <a:endParaRPr lang="en-US" sz="1800"/>
          </a:p>
          <a:p>
            <a:pPr marL="0" indent="0">
              <a:spcBef>
                <a:spcPts val="0"/>
              </a:spcBef>
              <a:spcAft>
                <a:spcPts val="300"/>
              </a:spcAft>
              <a:buNone/>
            </a:pPr>
            <a:r>
              <a:rPr sz="1000" b="0" i="0"/>
              <a:t>[18] Boeing (n.d.) </a:t>
            </a:r>
            <a:r>
              <a:rPr sz="1000" b="0" i="1"/>
              <a:t>777X folding wingtip</a:t>
            </a:r>
            <a:r>
              <a:rPr sz="1000" b="0" i="0"/>
              <a:t>; Aviation Week (2026) </a:t>
            </a:r>
            <a:r>
              <a:rPr sz="1000" b="0" i="1"/>
              <a:t>Airbus launches extended-wingspan A321neo test program</a:t>
            </a:r>
            <a:r>
              <a:rPr sz="1000" b="0" i="0"/>
              <a:t>.</a:t>
            </a:r>
            <a:endParaRPr lang="en-US" sz="1800"/>
          </a:p>
          <a:p>
            <a:pPr marL="0" indent="0">
              <a:spcBef>
                <a:spcPts val="0"/>
              </a:spcBef>
              <a:spcAft>
                <a:spcPts val="300"/>
              </a:spcAft>
              <a:buNone/>
            </a:pPr>
            <a:r>
              <a:rPr sz="1000" b="0" i="0"/>
              <a:t>[19] NASA (2023) </a:t>
            </a:r>
            <a:r>
              <a:rPr sz="1000" b="0" i="1"/>
              <a:t>Mild-hybrid electric single-aisle aircraft study</a:t>
            </a:r>
            <a:r>
              <a:rPr sz="1000" b="0" i="0"/>
              <a:t>, NTRS 20230005865.</a:t>
            </a:r>
            <a:endParaRPr lang="en-US" sz="1800"/>
          </a:p>
          <a:p>
            <a:pPr marL="0" indent="0">
              <a:spcBef>
                <a:spcPts val="0"/>
              </a:spcBef>
              <a:spcAft>
                <a:spcPts val="300"/>
              </a:spcAft>
              <a:buNone/>
            </a:pPr>
            <a:r>
              <a:rPr sz="1000" b="0" i="0"/>
              <a:t>[20] Alaska Airlines (2021) </a:t>
            </a:r>
            <a:r>
              <a:rPr sz="1000" b="0" i="1"/>
              <a:t>Alaska Airlines and Airspace Intelligence announce partnership</a:t>
            </a:r>
            <a:r>
              <a:rPr sz="1000" b="0" i="0"/>
              <a:t>. Press release, 25 May.</a:t>
            </a:r>
            <a:endParaRPr lang="en-US" sz="1800"/>
          </a:p>
          <a:p>
            <a:pPr marL="0" indent="0">
              <a:spcBef>
                <a:spcPts val="0"/>
              </a:spcBef>
              <a:spcAft>
                <a:spcPts val="300"/>
              </a:spcAft>
              <a:buNone/>
            </a:pPr>
            <a:r>
              <a:rPr sz="1000" b="0" i="0"/>
              <a:t>[21] SITA (2026) </a:t>
            </a:r>
            <a:r>
              <a:rPr sz="1000" b="0" i="1"/>
              <a:t>Two million ways to climb: which one saves the most fuel?</a:t>
            </a:r>
            <a:r>
              <a:rPr sz="1000" b="0" i="0"/>
              <a:t>.</a:t>
            </a:r>
            <a:endParaRPr lang="en-US" sz="1800"/>
          </a:p>
          <a:p>
            <a:pPr marL="0" indent="0">
              <a:spcBef>
                <a:spcPts val="0"/>
              </a:spcBef>
              <a:spcAft>
                <a:spcPts val="300"/>
              </a:spcAft>
              <a:buNone/>
            </a:pPr>
            <a:r>
              <a:rPr sz="1000" b="0" i="0"/>
              <a:t>[22] Royal Schiphol Group (2026) </a:t>
            </a:r>
            <a:r>
              <a:rPr sz="1000" b="0" i="1"/>
              <a:t>Electric TaxiBot starts operating at Schiphol</a:t>
            </a:r>
            <a:r>
              <a:rPr sz="1000" b="0" i="0"/>
              <a:t>.</a:t>
            </a:r>
            <a:endParaRPr lang="en-US" sz="1800"/>
          </a:p>
        </p:txBody>
      </p:sp>
    </p:spTree>
    <p:extLst>
      <p:ext uri="{BB962C8B-B14F-4D97-AF65-F5344CB8AC3E}">
        <p14:creationId xmlns:p14="http://schemas.microsoft.com/office/powerpoint/2010/main" val="3935799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1910E-E2CB-FF3C-58BA-7A06A8D159B2}"/>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EC280027-4A6A-7C6F-A25D-5091B8F80B53}"/>
              </a:ext>
            </a:extLst>
          </p:cNvPr>
          <p:cNvGraphicFramePr>
            <a:graphicFrameLocks noGrp="1"/>
          </p:cNvGraphicFramePr>
          <p:nvPr>
            <p:ph idx="1"/>
            <p:extLst>
              <p:ext uri="{D42A27DB-BD31-4B8C-83A1-F6EECF244321}">
                <p14:modId xmlns:p14="http://schemas.microsoft.com/office/powerpoint/2010/main" val="1162978966"/>
              </p:ext>
            </p:extLst>
          </p:nvPr>
        </p:nvGraphicFramePr>
        <p:xfrm>
          <a:off x="839147" y="1250794"/>
          <a:ext cx="10515574" cy="5252426"/>
        </p:xfrm>
        <a:graphic>
          <a:graphicData uri="http://schemas.openxmlformats.org/drawingml/2006/table">
            <a:tbl>
              <a:tblPr firstRow="1" bandRow="1">
                <a:tableStyleId>{5C22544A-7EE6-4342-B048-85BDC9FD1C3A}</a:tableStyleId>
              </a:tblPr>
              <a:tblGrid>
                <a:gridCol w="1608666">
                  <a:extLst>
                    <a:ext uri="{9D8B030D-6E8A-4147-A177-3AD203B41FA5}">
                      <a16:colId xmlns:a16="http://schemas.microsoft.com/office/drawing/2014/main" val="2644787301"/>
                    </a:ext>
                  </a:extLst>
                </a:gridCol>
                <a:gridCol w="4962727">
                  <a:extLst>
                    <a:ext uri="{9D8B030D-6E8A-4147-A177-3AD203B41FA5}">
                      <a16:colId xmlns:a16="http://schemas.microsoft.com/office/drawing/2014/main" val="3527313206"/>
                    </a:ext>
                  </a:extLst>
                </a:gridCol>
                <a:gridCol w="2476155">
                  <a:extLst>
                    <a:ext uri="{9D8B030D-6E8A-4147-A177-3AD203B41FA5}">
                      <a16:colId xmlns:a16="http://schemas.microsoft.com/office/drawing/2014/main" val="2383630678"/>
                    </a:ext>
                  </a:extLst>
                </a:gridCol>
                <a:gridCol w="1468026">
                  <a:extLst>
                    <a:ext uri="{9D8B030D-6E8A-4147-A177-3AD203B41FA5}">
                      <a16:colId xmlns:a16="http://schemas.microsoft.com/office/drawing/2014/main" val="1267720147"/>
                    </a:ext>
                  </a:extLst>
                </a:gridCol>
              </a:tblGrid>
              <a:tr h="352985">
                <a:tc>
                  <a:txBody>
                    <a:bodyPr/>
                    <a:lstStyle/>
                    <a:p>
                      <a:r>
                        <a:rPr lang="en-GB"/>
                        <a:t>Category</a:t>
                      </a:r>
                    </a:p>
                  </a:txBody>
                  <a:tcPr/>
                </a:tc>
                <a:tc>
                  <a:txBody>
                    <a:bodyPr/>
                    <a:lstStyle/>
                    <a:p>
                      <a:r>
                        <a:rPr lang="en-GB"/>
                        <a:t>Requirement</a:t>
                      </a:r>
                    </a:p>
                  </a:txBody>
                  <a:tcPr/>
                </a:tc>
                <a:tc>
                  <a:txBody>
                    <a:bodyPr/>
                    <a:lstStyle/>
                    <a:p>
                      <a:r>
                        <a:rPr lang="en-GB"/>
                        <a:t>Regulations</a:t>
                      </a:r>
                    </a:p>
                  </a:txBody>
                  <a:tcPr/>
                </a:tc>
                <a:tc>
                  <a:txBody>
                    <a:bodyPr/>
                    <a:lstStyle/>
                    <a:p>
                      <a:pPr lvl="0">
                        <a:buNone/>
                      </a:pPr>
                      <a:r>
                        <a:rPr lang="en-GB"/>
                        <a:t>Verification</a:t>
                      </a:r>
                    </a:p>
                  </a:txBody>
                  <a:tcPr/>
                </a:tc>
                <a:extLst>
                  <a:ext uri="{0D108BD9-81ED-4DB2-BD59-A6C34878D82A}">
                    <a16:rowId xmlns:a16="http://schemas.microsoft.com/office/drawing/2014/main" val="2028032227"/>
                  </a:ext>
                </a:extLst>
              </a:tr>
              <a:tr h="1411946">
                <a:tc>
                  <a:txBody>
                    <a:bodyPr/>
                    <a:lstStyle/>
                    <a:p>
                      <a:pPr lvl="0">
                        <a:buNone/>
                      </a:pPr>
                      <a:r>
                        <a:rPr lang="en-GB"/>
                        <a:t>Safety and Emergency</a:t>
                      </a:r>
                      <a:endParaRPr lang="en-US"/>
                    </a:p>
                  </a:txBody>
                  <a:tcPr/>
                </a:tc>
                <a:tc>
                  <a:txBody>
                    <a:bodyPr/>
                    <a:lstStyle/>
                    <a:p>
                      <a:pPr lvl="0">
                        <a:buNone/>
                      </a:pPr>
                      <a:r>
                        <a:rPr lang="en-GB"/>
                        <a:t>The aircraft shall be designed and equipped to protect occupants during emergencies. This covers factors such as emergency equipment, fire protection and emergency exits and lighting.</a:t>
                      </a:r>
                      <a:endParaRPr lang="en-US"/>
                    </a:p>
                  </a:txBody>
                  <a:tcPr/>
                </a:tc>
                <a:tc>
                  <a:txBody>
                    <a:bodyPr/>
                    <a:lstStyle/>
                    <a:p>
                      <a:pPr lvl="0">
                        <a:buNone/>
                      </a:pPr>
                      <a:r>
                        <a:rPr lang="en-GB" sz="1200" b="0" i="1" u="none" strike="noStrike" baseline="0" noProof="0">
                          <a:solidFill>
                            <a:srgbClr val="000000"/>
                          </a:solidFill>
                          <a:latin typeface="Aptos"/>
                          <a:cs typeface="Arial"/>
                        </a:rPr>
                        <a:t>CS 25.785-25.789 , CS 25.791-25.795, CS 25.801-25.820, CS 25.851-859, CS 25.863-869, CS 25.899, CS 25.1441-1453</a:t>
                      </a:r>
                      <a:endParaRPr lang="en-GB" sz="1200" b="0" i="1" u="none" strike="noStrike" baseline="0" noProof="0">
                        <a:solidFill>
                          <a:srgbClr val="000000"/>
                        </a:solidFill>
                        <a:highlight>
                          <a:srgbClr val="606060"/>
                        </a:highlight>
                        <a:latin typeface="Aptos"/>
                        <a:cs typeface="Arial"/>
                      </a:endParaRPr>
                    </a:p>
                  </a:txBody>
                  <a:tcPr/>
                </a:tc>
                <a:tc>
                  <a:txBody>
                    <a:bodyPr/>
                    <a:lstStyle/>
                    <a:p>
                      <a:pPr lvl="0">
                        <a:buNone/>
                      </a:pPr>
                      <a:r>
                        <a:rPr lang="en-GB"/>
                        <a:t>A, D, T</a:t>
                      </a:r>
                    </a:p>
                  </a:txBody>
                  <a:tcPr/>
                </a:tc>
                <a:extLst>
                  <a:ext uri="{0D108BD9-81ED-4DB2-BD59-A6C34878D82A}">
                    <a16:rowId xmlns:a16="http://schemas.microsoft.com/office/drawing/2014/main" val="731822378"/>
                  </a:ext>
                </a:extLst>
              </a:tr>
              <a:tr h="1676692">
                <a:tc>
                  <a:txBody>
                    <a:bodyPr/>
                    <a:lstStyle/>
                    <a:p>
                      <a:pPr lvl="0">
                        <a:buNone/>
                      </a:pPr>
                      <a:r>
                        <a:rPr lang="en-GB"/>
                        <a:t>System Safety</a:t>
                      </a:r>
                    </a:p>
                  </a:txBody>
                  <a:tcPr/>
                </a:tc>
                <a:tc>
                  <a:txBody>
                    <a:bodyPr/>
                    <a:lstStyle/>
                    <a:p>
                      <a:pPr lvl="0" algn="l">
                        <a:lnSpc>
                          <a:spcPct val="100000"/>
                        </a:lnSpc>
                        <a:spcBef>
                          <a:spcPts val="0"/>
                        </a:spcBef>
                        <a:spcAft>
                          <a:spcPts val="0"/>
                        </a:spcAft>
                        <a:buNone/>
                      </a:pPr>
                      <a:r>
                        <a:rPr lang="en-GB" sz="1800" b="0" i="0" u="none" strike="noStrike" noProof="0"/>
                        <a:t>The aircraft systems shall work as intended, with catastrophic failures extremely improbable and never caused by a single failure. This covers engines, fuel, power, flight controls, autopilot, flight deck, cabin air, ice protection and landing gear.</a:t>
                      </a:r>
                    </a:p>
                  </a:txBody>
                  <a:tcPr/>
                </a:tc>
                <a:tc>
                  <a:txBody>
                    <a:bodyPr/>
                    <a:lstStyle/>
                    <a:p>
                      <a:pPr lvl="0" algn="l">
                        <a:lnSpc>
                          <a:spcPct val="100000"/>
                        </a:lnSpc>
                        <a:spcBef>
                          <a:spcPts val="0"/>
                        </a:spcBef>
                        <a:spcAft>
                          <a:spcPts val="0"/>
                        </a:spcAft>
                        <a:buNone/>
                      </a:pPr>
                      <a:r>
                        <a:rPr lang="en-GB" sz="1200" b="0" i="1" u="none" strike="noStrike" baseline="0" noProof="0">
                          <a:solidFill>
                            <a:srgbClr val="000000"/>
                          </a:solidFill>
                        </a:rPr>
                        <a:t>CS 25.1301, CS 25.1309, AMC 25.1309, CS 25.901-903, CS 25.951-999, CS 25.1351-1365, CS 25.1435-1438, CS 25.1701-1731, CS 25.671, CS 25.1329, CS 25.1302, CS 25.1322, CS 25.831, CS 25.841, CS 25.1419, CS 25.729, CS 25.735</a:t>
                      </a:r>
                      <a:endParaRPr lang="en-US"/>
                    </a:p>
                    <a:p>
                      <a:pPr lvl="0">
                        <a:buNone/>
                      </a:pPr>
                      <a:endParaRPr lang="en-GB" sz="1200" b="0" i="1" u="none" strike="noStrike" baseline="0" noProof="0">
                        <a:solidFill>
                          <a:srgbClr val="000000"/>
                        </a:solidFill>
                        <a:latin typeface="Aptos"/>
                        <a:cs typeface="Arial"/>
                      </a:endParaRPr>
                    </a:p>
                  </a:txBody>
                  <a:tcPr/>
                </a:tc>
                <a:tc>
                  <a:txBody>
                    <a:bodyPr/>
                    <a:lstStyle/>
                    <a:p>
                      <a:pPr lvl="0">
                        <a:buNone/>
                      </a:pPr>
                      <a:r>
                        <a:rPr lang="en-GB"/>
                        <a:t>A, D, I, T</a:t>
                      </a:r>
                    </a:p>
                  </a:txBody>
                  <a:tcPr/>
                </a:tc>
                <a:extLst>
                  <a:ext uri="{0D108BD9-81ED-4DB2-BD59-A6C34878D82A}">
                    <a16:rowId xmlns:a16="http://schemas.microsoft.com/office/drawing/2014/main" val="3564636413"/>
                  </a:ext>
                </a:extLst>
              </a:tr>
              <a:tr h="1676692">
                <a:tc>
                  <a:txBody>
                    <a:bodyPr/>
                    <a:lstStyle/>
                    <a:p>
                      <a:pPr lvl="0">
                        <a:buNone/>
                      </a:pPr>
                      <a:r>
                        <a:rPr lang="en-GB"/>
                        <a:t>Comms and Navigation</a:t>
                      </a:r>
                    </a:p>
                  </a:txBody>
                  <a:tcPr/>
                </a:tc>
                <a:tc>
                  <a:txBody>
                    <a:bodyPr/>
                    <a:lstStyle/>
                    <a:p>
                      <a:pPr lvl="0" algn="l">
                        <a:lnSpc>
                          <a:spcPct val="100000"/>
                        </a:lnSpc>
                        <a:spcBef>
                          <a:spcPts val="0"/>
                        </a:spcBef>
                        <a:spcAft>
                          <a:spcPts val="0"/>
                        </a:spcAft>
                        <a:buNone/>
                      </a:pPr>
                      <a:r>
                        <a:rPr lang="en-GB" sz="1800" b="0" i="0" u="none" strike="noStrike" noProof="0"/>
                        <a:t>The aircraft shall communicate and navigate with two independent systems each, be seen by ATC and other aircraft, and warn the crew of traffic and terrain. This covers voice, data link, RNP, RVSM, Mode S/ADS-B, ACAS II, TAWS, flight recorders and ELT.</a:t>
                      </a:r>
                      <a:endParaRPr lang="en-US" sz="1800"/>
                    </a:p>
                  </a:txBody>
                  <a:tcPr/>
                </a:tc>
                <a:tc>
                  <a:txBody>
                    <a:bodyPr/>
                    <a:lstStyle/>
                    <a:p>
                      <a:pPr lvl="0" algn="l">
                        <a:lnSpc>
                          <a:spcPct val="100000"/>
                        </a:lnSpc>
                        <a:spcBef>
                          <a:spcPts val="0"/>
                        </a:spcBef>
                        <a:spcAft>
                          <a:spcPts val="0"/>
                        </a:spcAft>
                        <a:buNone/>
                      </a:pPr>
                      <a:r>
                        <a:rPr lang="en-GB" sz="1200" b="0" i="1" u="none" strike="noStrike" baseline="0" noProof="0">
                          <a:solidFill>
                            <a:srgbClr val="000000"/>
                          </a:solidFill>
                        </a:rPr>
                        <a:t>CS 25.1307(d)-(e), CS 25.1431, CS 25.1457-1460, CS-ACNS (B.VCS, C.PBN, D.ELS, D.EHS, D.ADSB, E.RVSM, E.TAWS, E.LAD), ICAO Annex 6 Pt I 6.3, 6.15, 6.17-6.20, Ch 7, ICAO Annex 10 Vol I, III and IV</a:t>
                      </a:r>
                      <a:endParaRPr lang="en-US"/>
                    </a:p>
                  </a:txBody>
                  <a:tcPr/>
                </a:tc>
                <a:tc>
                  <a:txBody>
                    <a:bodyPr/>
                    <a:lstStyle/>
                    <a:p>
                      <a:pPr lvl="0">
                        <a:buNone/>
                      </a:pPr>
                      <a:r>
                        <a:rPr lang="en-GB"/>
                        <a:t>A, D, I , T</a:t>
                      </a:r>
                    </a:p>
                  </a:txBody>
                  <a:tcPr/>
                </a:tc>
                <a:extLst>
                  <a:ext uri="{0D108BD9-81ED-4DB2-BD59-A6C34878D82A}">
                    <a16:rowId xmlns:a16="http://schemas.microsoft.com/office/drawing/2014/main" val="2600275378"/>
                  </a:ext>
                </a:extLst>
              </a:tr>
            </a:tbl>
          </a:graphicData>
        </a:graphic>
      </p:graphicFrame>
      <p:sp>
        <p:nvSpPr>
          <p:cNvPr id="3" name="Slide Number Placeholder 2">
            <a:extLst>
              <a:ext uri="{FF2B5EF4-FFF2-40B4-BE49-F238E27FC236}">
                <a16:creationId xmlns:a16="http://schemas.microsoft.com/office/drawing/2014/main" id="{6501332E-2CD4-4589-7A3E-A8D6669ADB5E}"/>
              </a:ext>
            </a:extLst>
          </p:cNvPr>
          <p:cNvSpPr>
            <a:spLocks noGrp="1"/>
          </p:cNvSpPr>
          <p:nvPr>
            <p:ph type="sldNum" sz="quarter" idx="12"/>
          </p:nvPr>
        </p:nvSpPr>
        <p:spPr/>
        <p:txBody>
          <a:bodyPr/>
          <a:lstStyle/>
          <a:p>
            <a:fld id="{330EA680-D336-4FF7-8B7A-9848BB0A1C32}" type="slidenum">
              <a:rPr lang="en-GB" smtClean="0"/>
              <a:t>19</a:t>
            </a:fld>
            <a:endParaRPr lang="en-GB"/>
          </a:p>
        </p:txBody>
      </p:sp>
      <p:sp>
        <p:nvSpPr>
          <p:cNvPr id="8" name="Title 1">
            <a:extLst>
              <a:ext uri="{FF2B5EF4-FFF2-40B4-BE49-F238E27FC236}">
                <a16:creationId xmlns:a16="http://schemas.microsoft.com/office/drawing/2014/main" id="{46EA3F7C-6A78-56DA-D750-D5D842509627}"/>
              </a:ext>
            </a:extLst>
          </p:cNvPr>
          <p:cNvSpPr>
            <a:spLocks noGrp="1"/>
          </p:cNvSpPr>
          <p:nvPr>
            <p:ph type="title"/>
          </p:nvPr>
        </p:nvSpPr>
        <p:spPr>
          <a:xfrm>
            <a:off x="269240" y="40005"/>
            <a:ext cx="10515600" cy="1325563"/>
          </a:xfrm>
        </p:spPr>
        <p:txBody>
          <a:bodyPr/>
          <a:lstStyle/>
          <a:p>
            <a:r>
              <a:rPr lang="en-US"/>
              <a:t>Requirements: General</a:t>
            </a:r>
          </a:p>
        </p:txBody>
      </p:sp>
    </p:spTree>
    <p:extLst>
      <p:ext uri="{BB962C8B-B14F-4D97-AF65-F5344CB8AC3E}">
        <p14:creationId xmlns:p14="http://schemas.microsoft.com/office/powerpoint/2010/main" val="304278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467FD-30E2-FFBF-B21E-D77233138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0AFB1-6E71-A205-801A-60E98CE89024}"/>
              </a:ext>
            </a:extLst>
          </p:cNvPr>
          <p:cNvSpPr>
            <a:spLocks noGrp="1"/>
          </p:cNvSpPr>
          <p:nvPr>
            <p:ph type="title"/>
          </p:nvPr>
        </p:nvSpPr>
        <p:spPr>
          <a:xfrm>
            <a:off x="269240" y="40005"/>
            <a:ext cx="10515600" cy="1325563"/>
          </a:xfrm>
        </p:spPr>
        <p:txBody>
          <a:bodyPr/>
          <a:lstStyle/>
          <a:p>
            <a:r>
              <a:rPr lang="en-US"/>
              <a:t>Requirements: General</a:t>
            </a:r>
          </a:p>
        </p:txBody>
      </p:sp>
      <p:graphicFrame>
        <p:nvGraphicFramePr>
          <p:cNvPr id="6" name="Content Placeholder 5">
            <a:extLst>
              <a:ext uri="{FF2B5EF4-FFF2-40B4-BE49-F238E27FC236}">
                <a16:creationId xmlns:a16="http://schemas.microsoft.com/office/drawing/2014/main" id="{A97A03BF-14A1-61FE-FEF5-F0C710A21EC7}"/>
              </a:ext>
            </a:extLst>
          </p:cNvPr>
          <p:cNvGraphicFramePr>
            <a:graphicFrameLocks noGrp="1"/>
          </p:cNvGraphicFramePr>
          <p:nvPr>
            <p:ph idx="1"/>
          </p:nvPr>
        </p:nvGraphicFramePr>
        <p:xfrm>
          <a:off x="842919" y="1537487"/>
          <a:ext cx="10515575" cy="4570651"/>
        </p:xfrm>
        <a:graphic>
          <a:graphicData uri="http://schemas.openxmlformats.org/drawingml/2006/table">
            <a:tbl>
              <a:tblPr firstRow="1" bandRow="1">
                <a:tableStyleId>{5C22544A-7EE6-4342-B048-85BDC9FD1C3A}</a:tableStyleId>
              </a:tblPr>
              <a:tblGrid>
                <a:gridCol w="1281238">
                  <a:extLst>
                    <a:ext uri="{9D8B030D-6E8A-4147-A177-3AD203B41FA5}">
                      <a16:colId xmlns:a16="http://schemas.microsoft.com/office/drawing/2014/main" val="2644787301"/>
                    </a:ext>
                  </a:extLst>
                </a:gridCol>
                <a:gridCol w="5475610">
                  <a:extLst>
                    <a:ext uri="{9D8B030D-6E8A-4147-A177-3AD203B41FA5}">
                      <a16:colId xmlns:a16="http://schemas.microsoft.com/office/drawing/2014/main" val="3527313206"/>
                    </a:ext>
                  </a:extLst>
                </a:gridCol>
                <a:gridCol w="2290701">
                  <a:extLst>
                    <a:ext uri="{9D8B030D-6E8A-4147-A177-3AD203B41FA5}">
                      <a16:colId xmlns:a16="http://schemas.microsoft.com/office/drawing/2014/main" val="2383630678"/>
                    </a:ext>
                  </a:extLst>
                </a:gridCol>
                <a:gridCol w="1468026">
                  <a:extLst>
                    <a:ext uri="{9D8B030D-6E8A-4147-A177-3AD203B41FA5}">
                      <a16:colId xmlns:a16="http://schemas.microsoft.com/office/drawing/2014/main" val="1267720147"/>
                    </a:ext>
                  </a:extLst>
                </a:gridCol>
              </a:tblGrid>
              <a:tr h="364141">
                <a:tc>
                  <a:txBody>
                    <a:bodyPr/>
                    <a:lstStyle/>
                    <a:p>
                      <a:r>
                        <a:rPr lang="en-GB"/>
                        <a:t>Category</a:t>
                      </a:r>
                    </a:p>
                  </a:txBody>
                  <a:tcPr/>
                </a:tc>
                <a:tc>
                  <a:txBody>
                    <a:bodyPr/>
                    <a:lstStyle/>
                    <a:p>
                      <a:r>
                        <a:rPr lang="en-GB"/>
                        <a:t>Requirement</a:t>
                      </a:r>
                    </a:p>
                  </a:txBody>
                  <a:tcPr/>
                </a:tc>
                <a:tc>
                  <a:txBody>
                    <a:bodyPr/>
                    <a:lstStyle/>
                    <a:p>
                      <a:r>
                        <a:rPr lang="en-GB"/>
                        <a:t>Regulations</a:t>
                      </a:r>
                    </a:p>
                  </a:txBody>
                  <a:tcPr/>
                </a:tc>
                <a:tc>
                  <a:txBody>
                    <a:bodyPr/>
                    <a:lstStyle/>
                    <a:p>
                      <a:pPr lvl="0">
                        <a:buNone/>
                      </a:pPr>
                      <a:r>
                        <a:rPr lang="en-GB"/>
                        <a:t>Verification</a:t>
                      </a:r>
                    </a:p>
                  </a:txBody>
                  <a:tcPr/>
                </a:tc>
                <a:extLst>
                  <a:ext uri="{0D108BD9-81ED-4DB2-BD59-A6C34878D82A}">
                    <a16:rowId xmlns:a16="http://schemas.microsoft.com/office/drawing/2014/main" val="2028032227"/>
                  </a:ext>
                </a:extLst>
              </a:tr>
              <a:tr h="1065451">
                <a:tc>
                  <a:txBody>
                    <a:bodyPr/>
                    <a:lstStyle/>
                    <a:p>
                      <a:r>
                        <a:rPr lang="en-GB"/>
                        <a:t>Stability</a:t>
                      </a:r>
                    </a:p>
                  </a:txBody>
                  <a:tcPr/>
                </a:tc>
                <a:tc>
                  <a:txBody>
                    <a:bodyPr/>
                    <a:lstStyle/>
                    <a:p>
                      <a:r>
                        <a:rPr lang="en-GB"/>
                        <a:t>The aircraft shall be longitudinally, directionally and laterally stable. Oscillations must be damped and aeroelastic stability evaluated. </a:t>
                      </a:r>
                    </a:p>
                  </a:txBody>
                  <a:tcPr/>
                </a:tc>
                <a:tc>
                  <a:txBody>
                    <a:bodyPr/>
                    <a:lstStyle/>
                    <a:p>
                      <a:pPr lvl="0" algn="l">
                        <a:lnSpc>
                          <a:spcPct val="100000"/>
                        </a:lnSpc>
                        <a:spcBef>
                          <a:spcPts val="0"/>
                        </a:spcBef>
                        <a:spcAft>
                          <a:spcPts val="0"/>
                        </a:spcAft>
                        <a:buNone/>
                      </a:pPr>
                      <a:r>
                        <a:rPr lang="en-GB" sz="1000" b="0" i="1" u="none" strike="noStrike" noProof="0">
                          <a:latin typeface="Aptos"/>
                        </a:rPr>
                        <a:t>CS 25.173, AMC 25.173(c), CS 25.175, CS 25.177, AMC 25.177(c), AMC 25.177(d), CS 25.181, AMC 25.181, AMC 25.21(g), CS 25.629, AMC 25.629</a:t>
                      </a:r>
                    </a:p>
                  </a:txBody>
                  <a:tcPr/>
                </a:tc>
                <a:tc>
                  <a:txBody>
                    <a:bodyPr/>
                    <a:lstStyle/>
                    <a:p>
                      <a:pPr lvl="0">
                        <a:buNone/>
                      </a:pPr>
                      <a:r>
                        <a:rPr lang="en-GB"/>
                        <a:t>A, D, T</a:t>
                      </a:r>
                    </a:p>
                  </a:txBody>
                  <a:tcPr/>
                </a:tc>
                <a:extLst>
                  <a:ext uri="{0D108BD9-81ED-4DB2-BD59-A6C34878D82A}">
                    <a16:rowId xmlns:a16="http://schemas.microsoft.com/office/drawing/2014/main" val="1982825395"/>
                  </a:ext>
                </a:extLst>
              </a:tr>
              <a:tr h="370839">
                <a:tc>
                  <a:txBody>
                    <a:bodyPr/>
                    <a:lstStyle/>
                    <a:p>
                      <a:pPr lvl="0">
                        <a:buNone/>
                      </a:pPr>
                      <a:r>
                        <a:rPr lang="en-GB"/>
                        <a:t>Flight Envelope</a:t>
                      </a:r>
                    </a:p>
                  </a:txBody>
                  <a:tcPr/>
                </a:tc>
                <a:tc>
                  <a:txBody>
                    <a:bodyPr/>
                    <a:lstStyle/>
                    <a:p>
                      <a:pPr lvl="0">
                        <a:buNone/>
                      </a:pPr>
                      <a:r>
                        <a:rPr lang="en-GB"/>
                        <a:t>Expected and potential loads shall be used to define the aircraft's flight envelope and structural design.</a:t>
                      </a:r>
                    </a:p>
                  </a:txBody>
                  <a:tcPr/>
                </a:tc>
                <a:tc>
                  <a:txBody>
                    <a:bodyPr/>
                    <a:lstStyle/>
                    <a:p>
                      <a:pPr lvl="0" algn="l">
                        <a:lnSpc>
                          <a:spcPct val="100000"/>
                        </a:lnSpc>
                        <a:spcBef>
                          <a:spcPts val="0"/>
                        </a:spcBef>
                        <a:spcAft>
                          <a:spcPts val="0"/>
                        </a:spcAft>
                        <a:buNone/>
                      </a:pPr>
                      <a:r>
                        <a:rPr lang="en-GB" sz="1000" b="0" i="1" u="none" strike="noStrike" noProof="0">
                          <a:latin typeface="Aptos"/>
                        </a:rPr>
                        <a:t>CS 25.305, CS 25.307, AMC 25.307, </a:t>
                      </a:r>
                      <a:r>
                        <a:rPr lang="en-GB" sz="1000" b="0" i="1" u="none" strike="noStrike" noProof="0">
                          <a:latin typeface="Aptos"/>
                          <a:cs typeface="Helvetica"/>
                        </a:rPr>
                        <a:t>CS 25.331, AMC 25.331, CS 25.333, AMC 25.333, CS 25.337, CS 25.341, AMC 25.341, CS 25.391, CS 25.393, AMC 25.393(a), CS 25.395, CS 25.397, CS 25.407, CS 25.409,  CS 25.427, CS 25.445</a:t>
                      </a:r>
                      <a:endParaRPr lang="en-US" sz="1000" b="0" i="1">
                        <a:latin typeface="Aptos"/>
                      </a:endParaRPr>
                    </a:p>
                    <a:p>
                      <a:pPr lvl="0" algn="l">
                        <a:lnSpc>
                          <a:spcPct val="100000"/>
                        </a:lnSpc>
                        <a:spcBef>
                          <a:spcPts val="0"/>
                        </a:spcBef>
                        <a:spcAft>
                          <a:spcPts val="0"/>
                        </a:spcAft>
                        <a:buNone/>
                      </a:pPr>
                      <a:endParaRPr lang="en-GB" sz="1000" b="0" i="1" u="none" strike="noStrike" noProof="0">
                        <a:latin typeface="Aptos"/>
                        <a:cs typeface="Helvetica"/>
                      </a:endParaRPr>
                    </a:p>
                  </a:txBody>
                  <a:tcPr/>
                </a:tc>
                <a:tc>
                  <a:txBody>
                    <a:bodyPr/>
                    <a:lstStyle/>
                    <a:p>
                      <a:pPr lvl="0">
                        <a:buNone/>
                      </a:pPr>
                      <a:r>
                        <a:rPr lang="en-GB"/>
                        <a:t>A, T</a:t>
                      </a:r>
                    </a:p>
                  </a:txBody>
                  <a:tcPr/>
                </a:tc>
                <a:extLst>
                  <a:ext uri="{0D108BD9-81ED-4DB2-BD59-A6C34878D82A}">
                    <a16:rowId xmlns:a16="http://schemas.microsoft.com/office/drawing/2014/main" val="1507530321"/>
                  </a:ext>
                </a:extLst>
              </a:tr>
              <a:tr h="370838">
                <a:tc>
                  <a:txBody>
                    <a:bodyPr/>
                    <a:lstStyle/>
                    <a:p>
                      <a:pPr lvl="0">
                        <a:buNone/>
                      </a:pPr>
                      <a:r>
                        <a:rPr lang="en-GB"/>
                        <a:t>Safe Operation</a:t>
                      </a:r>
                    </a:p>
                  </a:txBody>
                  <a:tcPr/>
                </a:tc>
                <a:tc>
                  <a:txBody>
                    <a:bodyPr/>
                    <a:lstStyle/>
                    <a:p>
                      <a:pPr lvl="0">
                        <a:buNone/>
                      </a:pPr>
                      <a:r>
                        <a:rPr lang="en-GB"/>
                        <a:t>The aircraft shall always operate safely over flight, load and weather ranges within limits, regardless of operating conditions. Safety factors must be used. </a:t>
                      </a:r>
                      <a:endParaRPr lang="en-GB" sz="1400" b="0" i="0" u="none" strike="noStrike" noProof="0">
                        <a:latin typeface="Aptos"/>
                      </a:endParaRPr>
                    </a:p>
                  </a:txBody>
                  <a:tcPr/>
                </a:tc>
                <a:tc>
                  <a:txBody>
                    <a:bodyPr/>
                    <a:lstStyle/>
                    <a:p>
                      <a:pPr lvl="0" algn="l">
                        <a:lnSpc>
                          <a:spcPct val="100000"/>
                        </a:lnSpc>
                        <a:spcBef>
                          <a:spcPts val="0"/>
                        </a:spcBef>
                        <a:spcAft>
                          <a:spcPts val="0"/>
                        </a:spcAft>
                        <a:buNone/>
                      </a:pPr>
                      <a:r>
                        <a:rPr lang="en-GB" sz="1000" b="0" i="1" u="none" strike="noStrike" noProof="0">
                          <a:latin typeface="Aptos"/>
                        </a:rPr>
                        <a:t>CS 25.23, CS 25.25, CS 25.27, CS 25.29, CS 25.143, AMC 25.143, CS 25.305, CS 25.307, AMC 25.307, </a:t>
                      </a:r>
                      <a:r>
                        <a:rPr lang="en-GB" sz="1000" b="0" i="1" u="none" strike="noStrike" noProof="0">
                          <a:solidFill>
                            <a:srgbClr val="000000"/>
                          </a:solidFill>
                          <a:latin typeface="Aptos"/>
                        </a:rPr>
                        <a:t>CS 25.303, </a:t>
                      </a:r>
                      <a:r>
                        <a:rPr lang="en-GB" sz="1000" b="0" i="1" u="none" strike="noStrike" noProof="0">
                          <a:latin typeface="Aptos"/>
                        </a:rPr>
                        <a:t> CS 25.603, AMC 25.603, AMC No.1 to CS25.603(a), CS 25.581, AMC 25.581</a:t>
                      </a:r>
                      <a:endParaRPr lang="en-GB" sz="1000" b="0" i="1" u="none" strike="noStrike" noProof="0">
                        <a:solidFill>
                          <a:srgbClr val="FF0000"/>
                        </a:solidFill>
                        <a:latin typeface="Aptos"/>
                      </a:endParaRPr>
                    </a:p>
                  </a:txBody>
                  <a:tcPr/>
                </a:tc>
                <a:tc>
                  <a:txBody>
                    <a:bodyPr/>
                    <a:lstStyle/>
                    <a:p>
                      <a:pPr lvl="0">
                        <a:buNone/>
                      </a:pPr>
                      <a:r>
                        <a:rPr lang="en-GB"/>
                        <a:t>A, D, T</a:t>
                      </a:r>
                    </a:p>
                  </a:txBody>
                  <a:tcPr/>
                </a:tc>
                <a:extLst>
                  <a:ext uri="{0D108BD9-81ED-4DB2-BD59-A6C34878D82A}">
                    <a16:rowId xmlns:a16="http://schemas.microsoft.com/office/drawing/2014/main" val="3106286916"/>
                  </a:ext>
                </a:extLst>
              </a:tr>
              <a:tr h="370838">
                <a:tc>
                  <a:txBody>
                    <a:bodyPr/>
                    <a:lstStyle/>
                    <a:p>
                      <a:pPr lvl="0">
                        <a:buNone/>
                      </a:pPr>
                      <a:r>
                        <a:rPr lang="en-GB"/>
                        <a:t>Emissions and Noise</a:t>
                      </a:r>
                    </a:p>
                  </a:txBody>
                  <a:tcPr/>
                </a:tc>
                <a:tc>
                  <a:txBody>
                    <a:bodyPr/>
                    <a:lstStyle/>
                    <a:p>
                      <a:pPr lvl="0">
                        <a:buNone/>
                      </a:pPr>
                      <a:r>
                        <a:rPr lang="en-GB"/>
                        <a:t>The aircraft shall be compliant with ICAO regulations regarding noise and emissions (CO2, NOx, </a:t>
                      </a:r>
                      <a:r>
                        <a:rPr lang="en-GB" err="1"/>
                        <a:t>nvPM</a:t>
                      </a:r>
                      <a:r>
                        <a:rPr lang="en-GB"/>
                        <a:t> etc)</a:t>
                      </a:r>
                    </a:p>
                  </a:txBody>
                  <a:tcPr/>
                </a:tc>
                <a:tc>
                  <a:txBody>
                    <a:bodyPr/>
                    <a:lstStyle/>
                    <a:p>
                      <a:pPr lvl="0" algn="l">
                        <a:lnSpc>
                          <a:spcPct val="100000"/>
                        </a:lnSpc>
                        <a:spcBef>
                          <a:spcPts val="0"/>
                        </a:spcBef>
                        <a:spcAft>
                          <a:spcPts val="0"/>
                        </a:spcAft>
                        <a:buNone/>
                      </a:pPr>
                      <a:r>
                        <a:rPr lang="en-GB" sz="1200" b="0" i="1" u="none" strike="noStrike" noProof="0">
                          <a:solidFill>
                            <a:srgbClr val="000000"/>
                          </a:solidFill>
                          <a:latin typeface="Aptos"/>
                        </a:rPr>
                        <a:t>ICAO Annex 16 Vol I, II and III</a:t>
                      </a:r>
                    </a:p>
                  </a:txBody>
                  <a:tcPr/>
                </a:tc>
                <a:tc>
                  <a:txBody>
                    <a:bodyPr/>
                    <a:lstStyle/>
                    <a:p>
                      <a:pPr lvl="0">
                        <a:buNone/>
                      </a:pPr>
                      <a:r>
                        <a:rPr lang="en-GB"/>
                        <a:t>A, T</a:t>
                      </a:r>
                    </a:p>
                  </a:txBody>
                  <a:tcPr/>
                </a:tc>
                <a:extLst>
                  <a:ext uri="{0D108BD9-81ED-4DB2-BD59-A6C34878D82A}">
                    <a16:rowId xmlns:a16="http://schemas.microsoft.com/office/drawing/2014/main" val="4109317922"/>
                  </a:ext>
                </a:extLst>
              </a:tr>
            </a:tbl>
          </a:graphicData>
        </a:graphic>
      </p:graphicFrame>
      <p:sp>
        <p:nvSpPr>
          <p:cNvPr id="7" name="Slide Number Placeholder 6">
            <a:extLst>
              <a:ext uri="{FF2B5EF4-FFF2-40B4-BE49-F238E27FC236}">
                <a16:creationId xmlns:a16="http://schemas.microsoft.com/office/drawing/2014/main" id="{0F7FDB33-352F-62A7-7FD7-6662B047F24C}"/>
              </a:ext>
            </a:extLst>
          </p:cNvPr>
          <p:cNvSpPr>
            <a:spLocks noGrp="1"/>
          </p:cNvSpPr>
          <p:nvPr>
            <p:ph type="sldNum" sz="quarter" idx="12"/>
          </p:nvPr>
        </p:nvSpPr>
        <p:spPr/>
        <p:txBody>
          <a:bodyPr/>
          <a:lstStyle/>
          <a:p>
            <a:fld id="{330EA680-D336-4FF7-8B7A-9848BB0A1C32}" type="slidenum">
              <a:rPr lang="en-GB" smtClean="0"/>
              <a:t>20</a:t>
            </a:fld>
            <a:endParaRPr lang="en-GB"/>
          </a:p>
        </p:txBody>
      </p:sp>
      <p:sp>
        <p:nvSpPr>
          <p:cNvPr id="4" name="TextBox 3">
            <a:extLst>
              <a:ext uri="{FF2B5EF4-FFF2-40B4-BE49-F238E27FC236}">
                <a16:creationId xmlns:a16="http://schemas.microsoft.com/office/drawing/2014/main" id="{98D0D1C0-5202-29DA-63AB-3758449BF73D}"/>
              </a:ext>
            </a:extLst>
          </p:cNvPr>
          <p:cNvSpPr txBox="1"/>
          <p:nvPr/>
        </p:nvSpPr>
        <p:spPr>
          <a:xfrm>
            <a:off x="8161444" y="362575"/>
            <a:ext cx="388533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Add fatigue somewhere in requirements subsection, can link to and talk about MAINTENANCE v. imp.</a:t>
            </a:r>
          </a:p>
        </p:txBody>
      </p:sp>
    </p:spTree>
    <p:extLst>
      <p:ext uri="{BB962C8B-B14F-4D97-AF65-F5344CB8AC3E}">
        <p14:creationId xmlns:p14="http://schemas.microsoft.com/office/powerpoint/2010/main" val="3114582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1922D-114F-8A4B-1A58-1E246D912C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EECD70-F1BC-6663-A115-362DD3A77E9B}"/>
              </a:ext>
            </a:extLst>
          </p:cNvPr>
          <p:cNvSpPr>
            <a:spLocks noGrp="1"/>
          </p:cNvSpPr>
          <p:nvPr>
            <p:ph idx="1"/>
          </p:nvPr>
        </p:nvSpPr>
        <p:spPr/>
        <p:txBody>
          <a:bodyPr vert="horz" lIns="91440" tIns="45720" rIns="91440" bIns="45720" rtlCol="0" anchor="t">
            <a:normAutofit/>
          </a:bodyPr>
          <a:lstStyle/>
          <a:p>
            <a:pPr>
              <a:buFont typeface="Arial"/>
              <a:buChar char="•"/>
            </a:pPr>
            <a:r>
              <a:rPr lang="en-US" sz="2800" kern="1200">
                <a:latin typeface="Aptos"/>
                <a:ea typeface="+mn-ea"/>
                <a:cs typeface="+mn-cs"/>
              </a:rPr>
              <a:t>remember that big part of project is to work with existing infrastructure (3.2)</a:t>
            </a:r>
            <a:r>
              <a:rPr lang="en-US">
                <a:latin typeface="Aptos"/>
              </a:rPr>
              <a:t> KEY REQ – link to wingspan, airports etc.</a:t>
            </a:r>
            <a:endParaRPr lang="en-US">
              <a:ea typeface="+mn-ea"/>
              <a:cs typeface="+mn-cs"/>
            </a:endParaRPr>
          </a:p>
          <a:p>
            <a:pPr>
              <a:buFont typeface="Arial"/>
              <a:buChar char="•"/>
            </a:pPr>
            <a:r>
              <a:rPr lang="en-US">
                <a:latin typeface="Aptos"/>
              </a:rPr>
              <a:t>Cost should be less KEY REQ</a:t>
            </a:r>
          </a:p>
          <a:p>
            <a:pPr>
              <a:buFont typeface="Arial"/>
              <a:buChar char="•"/>
            </a:pPr>
            <a:r>
              <a:rPr lang="en-US">
                <a:latin typeface="Aptos"/>
              </a:rPr>
              <a:t>safety – performance margins and fatigue linked? KEY REQ</a:t>
            </a:r>
          </a:p>
          <a:p>
            <a:pPr>
              <a:buFont typeface="Arial"/>
              <a:buChar char="•"/>
            </a:pPr>
            <a:r>
              <a:rPr lang="en-US" sz="2800" kern="1200">
                <a:latin typeface="Aptos"/>
                <a:ea typeface="+mn-ea"/>
                <a:cs typeface="+mn-cs"/>
              </a:rPr>
              <a:t>Now we can layout how we are planning to fulfill requirements</a:t>
            </a:r>
            <a:r>
              <a:rPr lang="en-US">
                <a:latin typeface="Aptos"/>
              </a:rPr>
              <a:t> </a:t>
            </a:r>
            <a:r>
              <a:rPr lang="en-US" err="1">
                <a:latin typeface="Aptos"/>
              </a:rPr>
              <a:t>i.e.project</a:t>
            </a:r>
            <a:r>
              <a:rPr lang="en-US">
                <a:latin typeface="Aptos"/>
              </a:rPr>
              <a:t> management</a:t>
            </a:r>
            <a:endParaRPr lang="en-US"/>
          </a:p>
        </p:txBody>
      </p:sp>
      <p:sp>
        <p:nvSpPr>
          <p:cNvPr id="4" name="Slide Number Placeholder 3">
            <a:extLst>
              <a:ext uri="{FF2B5EF4-FFF2-40B4-BE49-F238E27FC236}">
                <a16:creationId xmlns:a16="http://schemas.microsoft.com/office/drawing/2014/main" id="{507B8F8C-9F8B-CCB8-7377-6954E9870ED1}"/>
              </a:ext>
            </a:extLst>
          </p:cNvPr>
          <p:cNvSpPr>
            <a:spLocks noGrp="1"/>
          </p:cNvSpPr>
          <p:nvPr>
            <p:ph type="sldNum" sz="quarter" idx="12"/>
          </p:nvPr>
        </p:nvSpPr>
        <p:spPr/>
        <p:txBody>
          <a:bodyPr/>
          <a:lstStyle/>
          <a:p>
            <a:fld id="{330EA680-D336-4FF7-8B7A-9848BB0A1C32}" type="slidenum">
              <a:rPr lang="en-GB" smtClean="0"/>
              <a:t>21</a:t>
            </a:fld>
            <a:endParaRPr lang="en-GB"/>
          </a:p>
        </p:txBody>
      </p:sp>
      <p:sp>
        <p:nvSpPr>
          <p:cNvPr id="8" name="Title 1">
            <a:extLst>
              <a:ext uri="{FF2B5EF4-FFF2-40B4-BE49-F238E27FC236}">
                <a16:creationId xmlns:a16="http://schemas.microsoft.com/office/drawing/2014/main" id="{7A7D0137-F510-7E4F-8C41-EA8EF3EC947B}"/>
              </a:ext>
            </a:extLst>
          </p:cNvPr>
          <p:cNvSpPr>
            <a:spLocks noGrp="1"/>
          </p:cNvSpPr>
          <p:nvPr>
            <p:ph type="title"/>
          </p:nvPr>
        </p:nvSpPr>
        <p:spPr>
          <a:xfrm>
            <a:off x="269240" y="40005"/>
            <a:ext cx="10515600" cy="1325563"/>
          </a:xfrm>
        </p:spPr>
        <p:txBody>
          <a:bodyPr/>
          <a:lstStyle/>
          <a:p>
            <a:r>
              <a:rPr lang="en-US"/>
              <a:t>Requirements: Brief</a:t>
            </a:r>
          </a:p>
        </p:txBody>
      </p:sp>
    </p:spTree>
    <p:extLst>
      <p:ext uri="{BB962C8B-B14F-4D97-AF65-F5344CB8AC3E}">
        <p14:creationId xmlns:p14="http://schemas.microsoft.com/office/powerpoint/2010/main" val="23097635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A4DE2A2151BDB41B40363FBB805171B" ma:contentTypeVersion="10" ma:contentTypeDescription="Create a new document." ma:contentTypeScope="" ma:versionID="a1956669d48c4038d4c7fdfbd1b9a9b5">
  <xsd:schema xmlns:xsd="http://www.w3.org/2001/XMLSchema" xmlns:xs="http://www.w3.org/2001/XMLSchema" xmlns:p="http://schemas.microsoft.com/office/2006/metadata/properties" xmlns:ns2="e605bcf2-4c10-4743-8964-c18599a218b8" xmlns:ns3="d69e7e48-4724-4d83-ae5f-33f8ac48334d" targetNamespace="http://schemas.microsoft.com/office/2006/metadata/properties" ma:root="true" ma:fieldsID="b68571aca29be22b556cc0c9c02e5b49" ns2:_="" ns3:_="">
    <xsd:import namespace="e605bcf2-4c10-4743-8964-c18599a218b8"/>
    <xsd:import namespace="d69e7e48-4724-4d83-ae5f-33f8ac4833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05bcf2-4c10-4743-8964-c18599a21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8692e38-9dd4-4db7-af25-16fcd4767bb7"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69e7e48-4724-4d83-ae5f-33f8ac48334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357e5c6-1999-4509-80be-e50b642fe049}" ma:internalName="TaxCatchAll" ma:showField="CatchAllData" ma:web="d69e7e48-4724-4d83-ae5f-33f8ac4833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605bcf2-4c10-4743-8964-c18599a218b8">
      <Terms xmlns="http://schemas.microsoft.com/office/infopath/2007/PartnerControls"/>
    </lcf76f155ced4ddcb4097134ff3c332f>
    <TaxCatchAll xmlns="d69e7e48-4724-4d83-ae5f-33f8ac48334d" xsi:nil="true"/>
  </documentManagement>
</p:properties>
</file>

<file path=customXml/itemProps1.xml><?xml version="1.0" encoding="utf-8"?>
<ds:datastoreItem xmlns:ds="http://schemas.openxmlformats.org/officeDocument/2006/customXml" ds:itemID="{932E457B-24A2-49D1-952B-E6FE14F437D7}">
  <ds:schemaRefs>
    <ds:schemaRef ds:uri="http://schemas.microsoft.com/sharepoint/v3/contenttype/forms"/>
  </ds:schemaRefs>
</ds:datastoreItem>
</file>

<file path=customXml/itemProps2.xml><?xml version="1.0" encoding="utf-8"?>
<ds:datastoreItem xmlns:ds="http://schemas.openxmlformats.org/officeDocument/2006/customXml" ds:itemID="{1EF0F495-B11C-48CA-AA70-C315805AE185}">
  <ds:schemaRefs>
    <ds:schemaRef ds:uri="d69e7e48-4724-4d83-ae5f-33f8ac48334d"/>
    <ds:schemaRef ds:uri="e605bcf2-4c10-4743-8964-c18599a218b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DA8A4BD-1A20-49D9-B904-1CB3B31BF493}">
  <ds:schemaRefs>
    <ds:schemaRef ds:uri="http://purl.org/dc/dcmitype/"/>
    <ds:schemaRef ds:uri="d69e7e48-4724-4d83-ae5f-33f8ac48334d"/>
    <ds:schemaRef ds:uri="http://purl.org/dc/elements/1.1/"/>
    <ds:schemaRef ds:uri="http://schemas.openxmlformats.org/package/2006/metadata/core-properties"/>
    <ds:schemaRef ds:uri="http://schemas.microsoft.com/office/2006/documentManagement/types"/>
    <ds:schemaRef ds:uri="http://schemas.microsoft.com/office/2006/metadata/properties"/>
    <ds:schemaRef ds:uri="http://purl.org/dc/terms/"/>
    <ds:schemaRef ds:uri="e605bcf2-4c10-4743-8964-c18599a218b8"/>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6b902693-1074-40aa-9e21-d89446a2ebb5}" enabled="0" method="" siteId="{6b902693-1074-40aa-9e21-d89446a2ebb5}" removed="1"/>
</clbl:labelList>
</file>

<file path=docProps/app.xml><?xml version="1.0" encoding="utf-8"?>
<Properties xmlns="http://schemas.openxmlformats.org/officeDocument/2006/extended-properties" xmlns:vt="http://schemas.openxmlformats.org/officeDocument/2006/docPropsVTypes">
  <Template>office theme</Template>
  <TotalTime>8</TotalTime>
  <Words>3802</Words>
  <Application>Microsoft Macintosh PowerPoint</Application>
  <PresentationFormat>Widescreen</PresentationFormat>
  <Paragraphs>457</Paragraphs>
  <Slides>21</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Aptos Display</vt:lpstr>
      <vt:lpstr>Aptos Narrow</vt:lpstr>
      <vt:lpstr>Arial</vt:lpstr>
      <vt:lpstr>Arial,Sans-Serif</vt:lpstr>
      <vt:lpstr>Calibri</vt:lpstr>
      <vt:lpstr>Courier New</vt:lpstr>
      <vt:lpstr>Office Theme</vt:lpstr>
      <vt:lpstr>System Requirements Review</vt:lpstr>
      <vt:lpstr>Contents</vt:lpstr>
      <vt:lpstr>Introduction</vt:lpstr>
      <vt:lpstr>Requirements: The Need</vt:lpstr>
      <vt:lpstr>Requirements: Categories I</vt:lpstr>
      <vt:lpstr>Requirements: Categories II</vt:lpstr>
      <vt:lpstr>Project Management</vt:lpstr>
      <vt:lpstr>Timeline</vt:lpstr>
      <vt:lpstr>Team Organisation</vt:lpstr>
      <vt:lpstr>Risks - Overview</vt:lpstr>
      <vt:lpstr>Risks - Overview</vt:lpstr>
      <vt:lpstr>Risks</vt:lpstr>
      <vt:lpstr>Risks</vt:lpstr>
      <vt:lpstr>PowerPoint Presentation</vt:lpstr>
      <vt:lpstr>PowerPoint Presentation</vt:lpstr>
      <vt:lpstr>Costs: Manufacturing &amp; Materials</vt:lpstr>
      <vt:lpstr>Costs: Innovation</vt:lpstr>
      <vt:lpstr>References</vt:lpstr>
      <vt:lpstr>Requirements: General</vt:lpstr>
      <vt:lpstr>Requirements: General</vt:lpstr>
      <vt:lpstr>Requirements: Brief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Edwards, Nathan (UG - Sch of Engineering)</cp:lastModifiedBy>
  <cp:revision>2</cp:revision>
  <dcterms:created xsi:type="dcterms:W3CDTF">2026-10-05T13:41:44Z</dcterms:created>
  <dcterms:modified xsi:type="dcterms:W3CDTF">2026-10-19T12:28:04Z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0x0101002A4DE2A2151BDB41B40363FBB805171B</vt:lpwstr>
  </property>
  <property fmtid="{D5CDD505-2E9C-101B-9397-08002B2CF9AE}" pid="3" name="MediaServiceImageTags">
    <vt:lpwstr/>
  </property>
</Properties>
</file>