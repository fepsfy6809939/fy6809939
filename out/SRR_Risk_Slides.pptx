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303" r:id="rId14"/>
    <p:sldId id="311" r:id="rId15"/>
    <p:sldId id="312" r:id="rId16"/>
    <p:sldId id="331" r:id="rId17"/>
    <p:sldId id="326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D4A141-83CF-4BC6-9C14-1E2A967C63C9}">
          <p14:sldIdLst>
            <p14:sldId id="256"/>
            <p14:sldId id="327"/>
          </p14:sldIdLst>
        </p14:section>
        <p14:section name="Requirements" id="{A7F01B19-1D5C-4C0E-A7F8-DEF8CCC739CF}">
          <p14:sldIdLst>
            <p14:sldId id="266"/>
            <p14:sldId id="264"/>
            <p14:sldId id="317"/>
            <p14:sldId id="309"/>
          </p14:sldIdLst>
        </p14:section>
        <p14:section name="Project Management" id="{948C5405-B00E-4DCB-976E-C186FBA65A50}">
          <p14:sldIdLst>
            <p14:sldId id="270"/>
            <p14:sldId id="271"/>
            <p14:sldId id="290"/>
          </p14:sldIdLst>
        </p14:section>
        <p14:section name="Risk Management" id="{41BE8FF4-57F6-43C0-B76A-1FEC2D376181}">
          <p14:sldIdLst>
            <p14:sldId id="303"/>
            <p14:sldId id="311"/>
            <p14:sldId id="312"/>
            <p14:sldId id="331"/>
            <p14:sldId id="326"/>
          </p14:sldIdLst>
        </p14:section>
        <p14:section name="Costs" id="{4D22BE14-9CE7-4F67-B5D9-559E2DA9EC35}">
          <p14:sldIdLst>
            <p14:sldId id="313"/>
            <p14:sldId id="314"/>
            <p14:sldId id="315"/>
            <p14:sldId id="316"/>
          </p14:sldIdLst>
        </p14:section>
        <p14:section name="End" id="{C3E050C6-E7C7-4EDD-82FF-D4F110FF462D}">
          <p14:sldIdLst>
            <p14:sldId id="33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AE08"/>
    <a:srgbClr val="FAFE50"/>
    <a:srgbClr val="DFDF17"/>
    <a:srgbClr val="F98077"/>
    <a:srgbClr val="F75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871" dt="2026-10-19T14:57:56.891"/>
    <p1510:client id="{0CFDF426-77E5-614E-0F57-9E9AD6E41D0E}" v="3226" dt="2026-10-19T14:44:12.145"/>
    <p1510:client id="{15C911B3-338D-A794-E222-329E58B6209B}" v="143" dt="2026-10-19T09:11:39.101"/>
    <p1510:client id="{17336548-9880-0D2D-EAC7-04EE35C74456}" v="16" dt="2026-10-19T13:48:57.333"/>
    <p1510:client id="{1F5AF56C-D863-4B96-98CC-442E9B596143}" v="2616" dt="2026-10-19T14:54:35.656"/>
    <p1510:client id="{28D95AD2-6881-C98A-DE09-47FEDA1FBB8D}" v="21" dt="2026-10-19T14:18:30.294"/>
    <p1510:client id="{2D408E67-9238-86A6-CD3C-FFFA2B5A662E}" v="216" dt="2026-10-18T23:57:28.395"/>
    <p1510:client id="{4FB070C4-8849-D94A-B4F0-F99EA2ED0BE1}" v="274" dt="2026-10-19T15:01:00.490"/>
    <p1510:client id="{4FBA1588-7DFE-C741-AA04-FD5D885536D6}" v="42" dt="2026-10-18T16:38:22.366"/>
    <p1510:client id="{56B6A5D9-F755-C378-CEE0-26E89E531FC9}" v="5005" dt="2026-10-19T14:58:13.137"/>
    <p1510:client id="{72EAEBFA-A119-E741-B81F-AC7382C8F8AF}" v="3" dt="2026-10-19T14:44:36.838"/>
    <p1510:client id="{761BD770-FC61-4A78-BBE6-E064BB14C201}" v="5" dt="2026-10-19T11:06:21.785"/>
    <p1510:client id="{76EC3CD4-261D-CE5F-572A-7BEA6AE93A33}" v="622" dt="2026-10-18T19:31:05.663"/>
    <p1510:client id="{8686541F-B86A-D3B2-493B-FAF10E540C7F}" v="266" dt="2026-10-19T02:09:35.696"/>
    <p1510:client id="{8D432A40-2565-54D6-EC59-38A79ED076C1}" v="1693" dt="2026-10-19T10:08:20.963"/>
    <p1510:client id="{929F0827-5CE6-7374-A2F5-83003B5E8362}" v="56" dt="2026-10-19T12:55:22.696"/>
    <p1510:client id="{ACF0E51A-A523-7E20-5576-F7872605909B}" v="62" dt="2026-10-19T09:46:29.366"/>
    <p1510:client id="{C05B273C-A9AC-8CC4-DAD9-EDB6A1B690F7}" v="70" dt="2026-10-19T05:49:49.325"/>
    <p1510:client id="{C427DE1A-F04C-F2FB-16FA-6EFF9B6E5435}" v="96" dt="2026-10-18T15:40:33.069"/>
    <p1510:client id="{C765A746-32E3-B850-FD61-1B173A2B577B}" v="166" dt="2026-10-19T14:29:34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90" d="100"/>
          <a:sy n="90" d="100"/>
        </p:scale>
        <p:origin x="22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5/10/relationships/revisionInfo" Target="revisionInfo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100" b="0">
                <a:solidFill>
                  <a:srgbClr val="555F6B"/>
                </a:solidFill>
              </a:rPr>
              <a:t>Fuel price, $ per US gal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Fuel price ($ per US gal)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A94A0"/>
              </a:solidFill>
            </c:spPr>
            <c:extLst>
              <c:ext xmlns:c16="http://schemas.microsoft.com/office/drawing/2014/chart" uri="{C3380CC4-5D6E-409C-BE32-E72D297353CC}">
                <c16:uniqueId val="{00000001-FA50-B147-9EBD-4F793D321F28}"/>
              </c:ext>
            </c:extLst>
          </c:dPt>
          <c:dPt>
            <c:idx val="1"/>
            <c:invertIfNegative val="1"/>
            <c:bubble3D val="0"/>
            <c:spPr>
              <a:solidFill>
                <a:srgbClr val="0E2841"/>
              </a:solidFill>
            </c:spPr>
            <c:extLst>
              <c:ext xmlns:c16="http://schemas.microsoft.com/office/drawing/2014/chart" uri="{C3380CC4-5D6E-409C-BE32-E72D297353CC}">
                <c16:uniqueId val="{00000003-FA50-B147-9EBD-4F793D321F28}"/>
              </c:ext>
            </c:extLst>
          </c:dPt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E28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2020 competitor
(kerosene)</c:v>
                </c:pt>
                <c:pt idx="1">
                  <c:v>Our aircraft
(100 % SAF)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50-B147-9EBD-4F793D321F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ED4"/>
            </a:solidFill>
          </a:ln>
        </c:spPr>
        <c:txPr>
          <a:bodyPr/>
          <a:lstStyle/>
          <a:p>
            <a:pPr>
              <a:defRPr sz="1100">
                <a:solidFill>
                  <a:srgbClr val="1A1A1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.59999999999999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CE6B6-FF1C-4101-A9AA-782B32285BD9}" type="datetimeFigureOut"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80D4A-E415-4490-9628-13EBD2AF61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9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top risks briefly, don't read the table. Key message: these come straight from the brief, so they show we've read and understood it.</a:t>
            </a:r>
          </a:p>
          <a:p>
            <a:endParaRPr/>
          </a:p>
          <a:p>
            <a:r>
              <a:t>Be upfront that we haven't chosen a concept, so concept-specific risks (e.g. gate span for a high-aspect-ratio wing, evacuation for a BWB) will be added once we select one. Noise &amp; emissions and airport compatibility are also in the full register.</a:t>
            </a:r>
          </a:p>
          <a:p>
            <a:endParaRPr/>
          </a:p>
          <a:p>
            <a:r>
              <a:t>Limitations: we can't plan for or resolve everything at this stage. What we've done: requirements from CS-25, project broken down into a WBS and subteams so it's manageable.</a:t>
            </a:r>
          </a:p>
          <a:p>
            <a:endParaRPr/>
          </a:p>
          <a:p>
            <a:r>
              <a:t>Biggest overall risk: not fulfilling the brief, which means cost. Bridge: we've acknowledged the risks - next is how we make it a reality on a practical level, which leads into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8229600" cy="914400"/>
          </a:xfrm>
        </p:spPr>
        <p:txBody>
          <a:bodyPr anchor="ctr"/>
          <a:lstStyle/>
          <a:p>
            <a:r>
              <a:rPr lang="en-US" sz="3600"/>
              <a:t>Risk Management </a:t>
            </a:r>
            <a:endParaRPr sz="3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8FDA-A534-A375-4952-8108D25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  <p:sp>
        <p:nvSpPr>
          <p:cNvPr id="5" name="Tile"/>
          <p:cNvSpPr/>
          <p:nvPr/>
        </p:nvSpPr>
        <p:spPr>
          <a:xfrm>
            <a:off x="841248" y="146304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1"/>
          <p:cNvSpPr/>
          <p:nvPr/>
        </p:nvSpPr>
        <p:spPr>
          <a:xfrm>
            <a:off x="950976" y="150418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E2841"/>
                </a:solidFill>
              </a:rPr>
              <a:t>Novel configuration</a:t>
            </a:r>
          </a:p>
        </p:txBody>
      </p:sp>
      <p:sp>
        <p:nvSpPr>
          <p:cNvPr id="9" name="Score 20"/>
          <p:cNvSpPr/>
          <p:nvPr/>
        </p:nvSpPr>
        <p:spPr>
          <a:xfrm>
            <a:off x="4315968" y="15041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6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20</a:t>
            </a:r>
          </a:p>
        </p:txBody>
      </p:sp>
      <p:sp>
        <p:nvSpPr>
          <p:cNvPr id="10" name="Arrow"/>
          <p:cNvSpPr/>
          <p:nvPr/>
        </p:nvSpPr>
        <p:spPr>
          <a:xfrm>
            <a:off x="4846320" y="154076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core 12"/>
          <p:cNvSpPr/>
          <p:nvPr/>
        </p:nvSpPr>
        <p:spPr>
          <a:xfrm>
            <a:off x="5138928" y="15041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12" name="Tile"/>
          <p:cNvSpPr/>
          <p:nvPr/>
        </p:nvSpPr>
        <p:spPr>
          <a:xfrm>
            <a:off x="841248" y="187452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adge 2"/>
          <p:cNvSpPr/>
          <p:nvPr/>
        </p:nvSpPr>
        <p:spPr>
          <a:xfrm>
            <a:off x="950976" y="191566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4767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E2841"/>
                </a:solidFill>
              </a:rPr>
              <a:t>DOC target missed</a:t>
            </a:r>
          </a:p>
        </p:txBody>
      </p:sp>
      <p:sp>
        <p:nvSpPr>
          <p:cNvPr id="16" name="Score 16"/>
          <p:cNvSpPr/>
          <p:nvPr/>
        </p:nvSpPr>
        <p:spPr>
          <a:xfrm>
            <a:off x="4315968" y="191566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6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16</a:t>
            </a:r>
          </a:p>
        </p:txBody>
      </p:sp>
      <p:sp>
        <p:nvSpPr>
          <p:cNvPr id="17" name="Arrow"/>
          <p:cNvSpPr/>
          <p:nvPr/>
        </p:nvSpPr>
        <p:spPr>
          <a:xfrm>
            <a:off x="4846320" y="195224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core 12"/>
          <p:cNvSpPr/>
          <p:nvPr/>
        </p:nvSpPr>
        <p:spPr>
          <a:xfrm>
            <a:off x="5138928" y="191566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19" name="Tile"/>
          <p:cNvSpPr/>
          <p:nvPr/>
        </p:nvSpPr>
        <p:spPr>
          <a:xfrm>
            <a:off x="841248" y="228600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adge 3"/>
          <p:cNvSpPr/>
          <p:nvPr/>
        </p:nvSpPr>
        <p:spPr>
          <a:xfrm>
            <a:off x="950976" y="232714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35915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E2841"/>
                </a:solidFill>
              </a:rPr>
              <a:t>Tech not ready by design freeze</a:t>
            </a:r>
          </a:p>
        </p:txBody>
      </p:sp>
      <p:sp>
        <p:nvSpPr>
          <p:cNvPr id="23" name="Score 12"/>
          <p:cNvSpPr/>
          <p:nvPr/>
        </p:nvSpPr>
        <p:spPr>
          <a:xfrm>
            <a:off x="4315968" y="232714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24" name="Arrow"/>
          <p:cNvSpPr/>
          <p:nvPr/>
        </p:nvSpPr>
        <p:spPr>
          <a:xfrm>
            <a:off x="4846320" y="236372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core 8"/>
          <p:cNvSpPr/>
          <p:nvPr/>
        </p:nvSpPr>
        <p:spPr>
          <a:xfrm>
            <a:off x="5138928" y="232714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8</a:t>
            </a:r>
          </a:p>
        </p:txBody>
      </p:sp>
      <p:sp>
        <p:nvSpPr>
          <p:cNvPr id="26" name="Tile"/>
          <p:cNvSpPr/>
          <p:nvPr/>
        </p:nvSpPr>
        <p:spPr>
          <a:xfrm>
            <a:off x="841248" y="269748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4"/>
          <p:cNvSpPr/>
          <p:nvPr/>
        </p:nvSpPr>
        <p:spPr>
          <a:xfrm>
            <a:off x="950976" y="273862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77063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E2841"/>
                </a:solidFill>
              </a:rPr>
              <a:t>Airport compatibility</a:t>
            </a:r>
          </a:p>
        </p:txBody>
      </p:sp>
      <p:sp>
        <p:nvSpPr>
          <p:cNvPr id="30" name="Score 12"/>
          <p:cNvSpPr/>
          <p:nvPr/>
        </p:nvSpPr>
        <p:spPr>
          <a:xfrm>
            <a:off x="4315968" y="273862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31" name="Arrow"/>
          <p:cNvSpPr/>
          <p:nvPr/>
        </p:nvSpPr>
        <p:spPr>
          <a:xfrm>
            <a:off x="4846320" y="277520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core 8"/>
          <p:cNvSpPr/>
          <p:nvPr/>
        </p:nvSpPr>
        <p:spPr>
          <a:xfrm>
            <a:off x="5138928" y="273862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8</a:t>
            </a:r>
          </a:p>
        </p:txBody>
      </p:sp>
      <p:sp>
        <p:nvSpPr>
          <p:cNvPr id="33" name="Tile"/>
          <p:cNvSpPr/>
          <p:nvPr/>
        </p:nvSpPr>
        <p:spPr>
          <a:xfrm>
            <a:off x="841248" y="310896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adge 5"/>
          <p:cNvSpPr/>
          <p:nvPr/>
        </p:nvSpPr>
        <p:spPr>
          <a:xfrm>
            <a:off x="950976" y="315010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18211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E2841"/>
                </a:solidFill>
              </a:rPr>
              <a:t>Weight underestimate</a:t>
            </a:r>
          </a:p>
        </p:txBody>
      </p:sp>
      <p:sp>
        <p:nvSpPr>
          <p:cNvPr id="37" name="Score 12"/>
          <p:cNvSpPr/>
          <p:nvPr/>
        </p:nvSpPr>
        <p:spPr>
          <a:xfrm>
            <a:off x="4315968" y="315010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38" name="Arrow"/>
          <p:cNvSpPr/>
          <p:nvPr/>
        </p:nvSpPr>
        <p:spPr>
          <a:xfrm>
            <a:off x="4846320" y="318668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core 9"/>
          <p:cNvSpPr/>
          <p:nvPr/>
        </p:nvSpPr>
        <p:spPr>
          <a:xfrm>
            <a:off x="5138928" y="315010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102352"/>
            <a:ext cx="56692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55F6B"/>
                </a:solidFill>
              </a:rPr>
              <a:t>Score = </a:t>
            </a:r>
            <a:r>
              <a:rPr lang="en-GB" sz="1400" b="1">
                <a:solidFill>
                  <a:srgbClr val="555F6B"/>
                </a:solidFill>
              </a:rPr>
              <a:t>Likelihood</a:t>
            </a:r>
            <a:r>
              <a:rPr sz="1400" b="1" i="0">
                <a:solidFill>
                  <a:srgbClr val="555F6B"/>
                </a:solidFill>
              </a:rPr>
              <a:t> x </a:t>
            </a:r>
            <a:r>
              <a:rPr lang="en-GB" sz="1400" b="1">
                <a:solidFill>
                  <a:srgbClr val="555F6B"/>
                </a:solidFill>
              </a:rPr>
              <a:t>Consequence</a:t>
            </a:r>
            <a:r>
              <a:rPr sz="1400" b="1" i="0">
                <a:solidFill>
                  <a:srgbClr val="555F6B"/>
                </a:solidFill>
              </a:rPr>
              <a:t>, each 1 to 5</a:t>
            </a:r>
            <a:endParaRPr lang="en-US" sz="1400" b="1" i="0">
              <a:solidFill>
                <a:srgbClr val="555F6B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09360" y="15819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</a:rPr>
              <a:t>Before mitigation</a:t>
            </a:r>
          </a:p>
        </p:txBody>
      </p:sp>
      <p:sp>
        <p:nvSpPr>
          <p:cNvPr id="42" name="Cell L1 C1"/>
          <p:cNvSpPr/>
          <p:nvPr/>
        </p:nvSpPr>
        <p:spPr>
          <a:xfrm>
            <a:off x="6400800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ell L1 C2"/>
          <p:cNvSpPr/>
          <p:nvPr/>
        </p:nvSpPr>
        <p:spPr>
          <a:xfrm>
            <a:off x="6894576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ell L1 C3"/>
          <p:cNvSpPr/>
          <p:nvPr/>
        </p:nvSpPr>
        <p:spPr>
          <a:xfrm>
            <a:off x="7388352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ell L1 C4"/>
          <p:cNvSpPr/>
          <p:nvPr/>
        </p:nvSpPr>
        <p:spPr>
          <a:xfrm>
            <a:off x="7882128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ell L1 C5"/>
          <p:cNvSpPr/>
          <p:nvPr/>
        </p:nvSpPr>
        <p:spPr>
          <a:xfrm>
            <a:off x="8375904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ell L2 C1"/>
          <p:cNvSpPr/>
          <p:nvPr/>
        </p:nvSpPr>
        <p:spPr>
          <a:xfrm>
            <a:off x="6400800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ell L2 C2"/>
          <p:cNvSpPr/>
          <p:nvPr/>
        </p:nvSpPr>
        <p:spPr>
          <a:xfrm>
            <a:off x="6894576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ell L2 C3"/>
          <p:cNvSpPr/>
          <p:nvPr/>
        </p:nvSpPr>
        <p:spPr>
          <a:xfrm>
            <a:off x="7388352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ell L2 C4"/>
          <p:cNvSpPr/>
          <p:nvPr/>
        </p:nvSpPr>
        <p:spPr>
          <a:xfrm>
            <a:off x="7882128" y="3630168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ell L2 C5"/>
          <p:cNvSpPr/>
          <p:nvPr/>
        </p:nvSpPr>
        <p:spPr>
          <a:xfrm>
            <a:off x="8375904" y="3630168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ell L3 C1"/>
          <p:cNvSpPr/>
          <p:nvPr/>
        </p:nvSpPr>
        <p:spPr>
          <a:xfrm>
            <a:off x="6400800" y="3136392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ell L3 C2"/>
          <p:cNvSpPr/>
          <p:nvPr/>
        </p:nvSpPr>
        <p:spPr>
          <a:xfrm>
            <a:off x="6894576" y="3136392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ell L3 C3"/>
          <p:cNvSpPr/>
          <p:nvPr/>
        </p:nvSpPr>
        <p:spPr>
          <a:xfrm>
            <a:off x="7388352" y="3136392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ell L3 C4"/>
          <p:cNvSpPr/>
          <p:nvPr/>
        </p:nvSpPr>
        <p:spPr>
          <a:xfrm>
            <a:off x="7882128" y="3136392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ell L3 C5"/>
          <p:cNvSpPr/>
          <p:nvPr/>
        </p:nvSpPr>
        <p:spPr>
          <a:xfrm>
            <a:off x="8375904" y="3136392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ell L4 C1"/>
          <p:cNvSpPr/>
          <p:nvPr/>
        </p:nvSpPr>
        <p:spPr>
          <a:xfrm>
            <a:off x="6400800" y="2642616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ell L4 C2"/>
          <p:cNvSpPr/>
          <p:nvPr/>
        </p:nvSpPr>
        <p:spPr>
          <a:xfrm>
            <a:off x="6894576" y="2642616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ell L4 C3"/>
          <p:cNvSpPr/>
          <p:nvPr/>
        </p:nvSpPr>
        <p:spPr>
          <a:xfrm>
            <a:off x="7388352" y="2642616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ell L4 C4"/>
          <p:cNvSpPr/>
          <p:nvPr/>
        </p:nvSpPr>
        <p:spPr>
          <a:xfrm>
            <a:off x="7882128" y="2642616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ell L4 C5"/>
          <p:cNvSpPr/>
          <p:nvPr/>
        </p:nvSpPr>
        <p:spPr>
          <a:xfrm>
            <a:off x="8375904" y="2642616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ell L5 C1"/>
          <p:cNvSpPr/>
          <p:nvPr/>
        </p:nvSpPr>
        <p:spPr>
          <a:xfrm>
            <a:off x="6400800" y="2148840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ell L5 C2"/>
          <p:cNvSpPr/>
          <p:nvPr/>
        </p:nvSpPr>
        <p:spPr>
          <a:xfrm>
            <a:off x="6894576" y="2148840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ell L5 C3"/>
          <p:cNvSpPr/>
          <p:nvPr/>
        </p:nvSpPr>
        <p:spPr>
          <a:xfrm>
            <a:off x="7388352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ell L5 C4"/>
          <p:cNvSpPr/>
          <p:nvPr/>
        </p:nvSpPr>
        <p:spPr>
          <a:xfrm>
            <a:off x="7882128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ell L5 C5"/>
          <p:cNvSpPr/>
          <p:nvPr/>
        </p:nvSpPr>
        <p:spPr>
          <a:xfrm>
            <a:off x="8375904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0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4279392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94576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3785616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88352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3291840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8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2798064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75904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2304288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873752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</a:rPr>
              <a:t>Consequence</a:t>
            </a:r>
          </a:p>
        </p:txBody>
      </p:sp>
      <p:sp>
        <p:nvSpPr>
          <p:cNvPr id="78" name="Marker 1"/>
          <p:cNvSpPr/>
          <p:nvPr/>
        </p:nvSpPr>
        <p:spPr>
          <a:xfrm>
            <a:off x="8385048" y="2651760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9" name="Marker 2"/>
          <p:cNvSpPr/>
          <p:nvPr/>
        </p:nvSpPr>
        <p:spPr>
          <a:xfrm>
            <a:off x="7891272" y="2651760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0" name="Marker 3"/>
          <p:cNvSpPr/>
          <p:nvPr/>
        </p:nvSpPr>
        <p:spPr>
          <a:xfrm>
            <a:off x="7891272" y="3145536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1" name="Marker 4"/>
          <p:cNvSpPr/>
          <p:nvPr/>
        </p:nvSpPr>
        <p:spPr>
          <a:xfrm>
            <a:off x="8129016" y="3145536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2" name="Marker 5"/>
          <p:cNvSpPr/>
          <p:nvPr/>
        </p:nvSpPr>
        <p:spPr>
          <a:xfrm>
            <a:off x="7397496" y="2651760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9720" y="15819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</a:rPr>
              <a:t>After mitigation</a:t>
            </a:r>
          </a:p>
        </p:txBody>
      </p:sp>
      <p:sp>
        <p:nvSpPr>
          <p:cNvPr id="84" name="Cell L1 C1"/>
          <p:cNvSpPr/>
          <p:nvPr/>
        </p:nvSpPr>
        <p:spPr>
          <a:xfrm>
            <a:off x="9281160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ell L1 C2"/>
          <p:cNvSpPr/>
          <p:nvPr/>
        </p:nvSpPr>
        <p:spPr>
          <a:xfrm>
            <a:off x="9774936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ell L1 C3"/>
          <p:cNvSpPr/>
          <p:nvPr/>
        </p:nvSpPr>
        <p:spPr>
          <a:xfrm>
            <a:off x="10268712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ell L1 C4"/>
          <p:cNvSpPr/>
          <p:nvPr/>
        </p:nvSpPr>
        <p:spPr>
          <a:xfrm>
            <a:off x="10762488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ell L1 C5"/>
          <p:cNvSpPr/>
          <p:nvPr/>
        </p:nvSpPr>
        <p:spPr>
          <a:xfrm>
            <a:off x="11256264" y="4123944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ell L2 C1"/>
          <p:cNvSpPr/>
          <p:nvPr/>
        </p:nvSpPr>
        <p:spPr>
          <a:xfrm>
            <a:off x="9281160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ell L2 C2"/>
          <p:cNvSpPr/>
          <p:nvPr/>
        </p:nvSpPr>
        <p:spPr>
          <a:xfrm>
            <a:off x="9774936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ell L2 C3"/>
          <p:cNvSpPr/>
          <p:nvPr/>
        </p:nvSpPr>
        <p:spPr>
          <a:xfrm>
            <a:off x="10268712" y="3630168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ell L2 C4"/>
          <p:cNvSpPr/>
          <p:nvPr/>
        </p:nvSpPr>
        <p:spPr>
          <a:xfrm>
            <a:off x="10762488" y="3630168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ell L2 C5"/>
          <p:cNvSpPr/>
          <p:nvPr/>
        </p:nvSpPr>
        <p:spPr>
          <a:xfrm>
            <a:off x="11256264" y="3630168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ell L3 C1"/>
          <p:cNvSpPr/>
          <p:nvPr/>
        </p:nvSpPr>
        <p:spPr>
          <a:xfrm>
            <a:off x="9281160" y="3136392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ell L3 C2"/>
          <p:cNvSpPr/>
          <p:nvPr/>
        </p:nvSpPr>
        <p:spPr>
          <a:xfrm>
            <a:off x="9774936" y="3136392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ell L3 C3"/>
          <p:cNvSpPr/>
          <p:nvPr/>
        </p:nvSpPr>
        <p:spPr>
          <a:xfrm>
            <a:off x="10268712" y="3136392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ell L3 C4"/>
          <p:cNvSpPr/>
          <p:nvPr/>
        </p:nvSpPr>
        <p:spPr>
          <a:xfrm>
            <a:off x="10762488" y="3136392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ell L3 C5"/>
          <p:cNvSpPr/>
          <p:nvPr/>
        </p:nvSpPr>
        <p:spPr>
          <a:xfrm>
            <a:off x="11256264" y="3136392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ell L4 C1"/>
          <p:cNvSpPr/>
          <p:nvPr/>
        </p:nvSpPr>
        <p:spPr>
          <a:xfrm>
            <a:off x="9281160" y="2642616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ell L4 C2"/>
          <p:cNvSpPr/>
          <p:nvPr/>
        </p:nvSpPr>
        <p:spPr>
          <a:xfrm>
            <a:off x="9774936" y="2642616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ell L4 C3"/>
          <p:cNvSpPr/>
          <p:nvPr/>
        </p:nvSpPr>
        <p:spPr>
          <a:xfrm>
            <a:off x="10268712" y="2642616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Cell L4 C4"/>
          <p:cNvSpPr/>
          <p:nvPr/>
        </p:nvSpPr>
        <p:spPr>
          <a:xfrm>
            <a:off x="10762488" y="2642616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ell L4 C5"/>
          <p:cNvSpPr/>
          <p:nvPr/>
        </p:nvSpPr>
        <p:spPr>
          <a:xfrm>
            <a:off x="11256264" y="2642616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Cell L5 C1"/>
          <p:cNvSpPr/>
          <p:nvPr/>
        </p:nvSpPr>
        <p:spPr>
          <a:xfrm>
            <a:off x="9281160" y="2148840"/>
            <a:ext cx="493776" cy="493776"/>
          </a:xfrm>
          <a:prstGeom prst="rect">
            <a:avLst/>
          </a:prstGeom>
          <a:solidFill>
            <a:srgbClr val="CFE8D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Cell L5 C2"/>
          <p:cNvSpPr/>
          <p:nvPr/>
        </p:nvSpPr>
        <p:spPr>
          <a:xfrm>
            <a:off x="9774936" y="2148840"/>
            <a:ext cx="493776" cy="493776"/>
          </a:xfrm>
          <a:prstGeom prst="rect">
            <a:avLst/>
          </a:prstGeom>
          <a:solidFill>
            <a:srgbClr val="FCE7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ell L5 C3"/>
          <p:cNvSpPr/>
          <p:nvPr/>
        </p:nvSpPr>
        <p:spPr>
          <a:xfrm>
            <a:off x="10268712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Cell L5 C4"/>
          <p:cNvSpPr/>
          <p:nvPr/>
        </p:nvSpPr>
        <p:spPr>
          <a:xfrm>
            <a:off x="10762488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Cell L5 C5"/>
          <p:cNvSpPr/>
          <p:nvPr/>
        </p:nvSpPr>
        <p:spPr>
          <a:xfrm>
            <a:off x="11256264" y="2148840"/>
            <a:ext cx="493776" cy="493776"/>
          </a:xfrm>
          <a:prstGeom prst="rect">
            <a:avLst/>
          </a:prstGeom>
          <a:solidFill>
            <a:srgbClr val="F6C9C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281160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6840" y="4279392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74936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6840" y="3785616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68712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06840" y="3291840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62488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06840" y="2798064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56264" y="4636008"/>
            <a:ext cx="493776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06840" y="2304288"/>
            <a:ext cx="237744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81160" y="4873752"/>
            <a:ext cx="24688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</a:rPr>
              <a:t>Consequence</a:t>
            </a:r>
          </a:p>
        </p:txBody>
      </p:sp>
      <p:sp>
        <p:nvSpPr>
          <p:cNvPr id="120" name="Marker 1"/>
          <p:cNvSpPr/>
          <p:nvPr/>
        </p:nvSpPr>
        <p:spPr>
          <a:xfrm>
            <a:off x="10771632" y="3145536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1" name="Marker 2"/>
          <p:cNvSpPr/>
          <p:nvPr/>
        </p:nvSpPr>
        <p:spPr>
          <a:xfrm>
            <a:off x="11009376" y="3145536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2" name="Marker 3"/>
          <p:cNvSpPr/>
          <p:nvPr/>
        </p:nvSpPr>
        <p:spPr>
          <a:xfrm>
            <a:off x="10771632" y="3639312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3" name="Marker 4"/>
          <p:cNvSpPr/>
          <p:nvPr/>
        </p:nvSpPr>
        <p:spPr>
          <a:xfrm>
            <a:off x="11009376" y="3639312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4" name="Marker 5"/>
          <p:cNvSpPr/>
          <p:nvPr/>
        </p:nvSpPr>
        <p:spPr>
          <a:xfrm>
            <a:off x="10277856" y="3145536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5" name="TextBox 124"/>
          <p:cNvSpPr txBox="1"/>
          <p:nvPr/>
        </p:nvSpPr>
        <p:spPr>
          <a:xfrm rot="16200000">
            <a:off x="5349240" y="3246120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</a:rPr>
              <a:t>Likelihood</a:t>
            </a:r>
          </a:p>
        </p:txBody>
      </p:sp>
      <p:sp>
        <p:nvSpPr>
          <p:cNvPr id="5001" name="Step Identify"/>
          <p:cNvSpPr/>
          <p:nvPr/>
        </p:nvSpPr>
        <p:spPr>
          <a:xfrm>
            <a:off x="6309360" y="566928"/>
            <a:ext cx="1417320" cy="502920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5002" name="Step Rate"/>
          <p:cNvSpPr/>
          <p:nvPr/>
        </p:nvSpPr>
        <p:spPr>
          <a:xfrm>
            <a:off x="7680960" y="566928"/>
            <a:ext cx="1417320" cy="502920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5003" name="Step Mitigate"/>
          <p:cNvSpPr/>
          <p:nvPr/>
        </p:nvSpPr>
        <p:spPr>
          <a:xfrm>
            <a:off x="9052560" y="566928"/>
            <a:ext cx="1417320" cy="502920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Mitigate</a:t>
            </a:r>
          </a:p>
        </p:txBody>
      </p:sp>
      <p:sp>
        <p:nvSpPr>
          <p:cNvPr id="5004" name="Step Monitor"/>
          <p:cNvSpPr/>
          <p:nvPr/>
        </p:nvSpPr>
        <p:spPr>
          <a:xfrm>
            <a:off x="10424160" y="566928"/>
            <a:ext cx="1417320" cy="50292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5486400"/>
            <a:ext cx="539496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n-GB" sz="1400" b="1">
                <a:solidFill>
                  <a:srgbClr val="1A1A1A"/>
                </a:solidFill>
              </a:rPr>
              <a:t>Where risks come from</a:t>
            </a:r>
          </a:p>
        </p:txBody>
      </p:sp>
      <p:sp>
        <p:nvSpPr>
          <p:cNvPr id="127" name="Source The brief"/>
          <p:cNvSpPr/>
          <p:nvPr/>
        </p:nvSpPr>
        <p:spPr>
          <a:xfrm>
            <a:off x="6309360" y="5815584"/>
            <a:ext cx="1097280" cy="384048"/>
          </a:xfrm>
          <a:prstGeom prst="roundRect">
            <a:avLst>
              <a:gd name="adj" fmla="val 25000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The brief</a:t>
            </a:r>
          </a:p>
        </p:txBody>
      </p:sp>
      <p:sp>
        <p:nvSpPr>
          <p:cNvPr id="128" name="Source Regulations"/>
          <p:cNvSpPr/>
          <p:nvPr/>
        </p:nvSpPr>
        <p:spPr>
          <a:xfrm>
            <a:off x="7516368" y="5815584"/>
            <a:ext cx="1371600" cy="384048"/>
          </a:xfrm>
          <a:prstGeom prst="roundRect">
            <a:avLst>
              <a:gd name="adj" fmla="val 25000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Regulations</a:t>
            </a:r>
          </a:p>
        </p:txBody>
      </p:sp>
      <p:sp>
        <p:nvSpPr>
          <p:cNvPr id="129" name="Source 2040 EIS"/>
          <p:cNvSpPr/>
          <p:nvPr/>
        </p:nvSpPr>
        <p:spPr>
          <a:xfrm>
            <a:off x="8997696" y="5815584"/>
            <a:ext cx="1143000" cy="384048"/>
          </a:xfrm>
          <a:prstGeom prst="roundRect">
            <a:avLst>
              <a:gd name="adj" fmla="val 25000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2040 </a:t>
            </a:r>
            <a:r>
              <a:rPr lang="en-GB" sz="1400" b="1">
                <a:solidFill>
                  <a:srgbClr val="0E2841"/>
                </a:solidFill>
              </a:rPr>
              <a:t>E</a:t>
            </a:r>
            <a:r>
              <a:rPr sz="1400" b="1">
                <a:solidFill>
                  <a:srgbClr val="0E2841"/>
                </a:solidFill>
              </a:rPr>
              <a:t>IS</a:t>
            </a:r>
          </a:p>
        </p:txBody>
      </p:sp>
      <p:sp>
        <p:nvSpPr>
          <p:cNvPr id="130" name="Source Our own limits"/>
          <p:cNvSpPr/>
          <p:nvPr/>
        </p:nvSpPr>
        <p:spPr>
          <a:xfrm>
            <a:off x="10250424" y="5815584"/>
            <a:ext cx="1508760" cy="384048"/>
          </a:xfrm>
          <a:prstGeom prst="roundRect">
            <a:avLst>
              <a:gd name="adj" fmla="val 25000"/>
            </a:avLst>
          </a:prstGeom>
          <a:solidFill>
            <a:srgbClr val="CD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Our own limits</a:t>
            </a:r>
          </a:p>
        </p:txBody>
      </p:sp>
      <p:sp>
        <p:nvSpPr>
          <p:cNvPr id="1001" name="Tile"/>
          <p:cNvSpPr/>
          <p:nvPr/>
        </p:nvSpPr>
        <p:spPr>
          <a:xfrm>
            <a:off x="841248" y="361188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Badge 5"/>
          <p:cNvSpPr/>
          <p:nvPr/>
        </p:nvSpPr>
        <p:spPr>
          <a:xfrm>
            <a:off x="950976" y="365302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03" name="TextBox 34"/>
          <p:cNvSpPr txBox="1"/>
          <p:nvPr/>
        </p:nvSpPr>
        <p:spPr>
          <a:xfrm>
            <a:off x="1371600" y="368503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lang="en-US" sz="1400" b="1">
                <a:solidFill>
                  <a:srgbClr val="0E2841"/>
                </a:solidFill>
              </a:rPr>
              <a:t>Performance</a:t>
            </a:r>
            <a:r>
              <a:rPr sz="1400" b="1" i="0">
                <a:solidFill>
                  <a:srgbClr val="0E2841"/>
                </a:solidFill>
              </a:rPr>
              <a:t> shortfall</a:t>
            </a:r>
          </a:p>
        </p:txBody>
      </p:sp>
      <p:sp>
        <p:nvSpPr>
          <p:cNvPr id="1004" name="Score 12"/>
          <p:cNvSpPr/>
          <p:nvPr/>
        </p:nvSpPr>
        <p:spPr>
          <a:xfrm>
            <a:off x="4315968" y="365302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6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16</a:t>
            </a:r>
          </a:p>
        </p:txBody>
      </p:sp>
      <p:sp>
        <p:nvSpPr>
          <p:cNvPr id="1005" name="Arrow"/>
          <p:cNvSpPr/>
          <p:nvPr/>
        </p:nvSpPr>
        <p:spPr>
          <a:xfrm>
            <a:off x="4846320" y="368960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Score 9"/>
          <p:cNvSpPr/>
          <p:nvPr/>
        </p:nvSpPr>
        <p:spPr>
          <a:xfrm>
            <a:off x="5138928" y="365302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1013" name="Tile"/>
          <p:cNvSpPr/>
          <p:nvPr/>
        </p:nvSpPr>
        <p:spPr>
          <a:xfrm>
            <a:off x="841248" y="402336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Badge 5"/>
          <p:cNvSpPr/>
          <p:nvPr/>
        </p:nvSpPr>
        <p:spPr>
          <a:xfrm>
            <a:off x="950976" y="406450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15" name="TextBox 34"/>
          <p:cNvSpPr txBox="1"/>
          <p:nvPr/>
        </p:nvSpPr>
        <p:spPr>
          <a:xfrm>
            <a:off x="1371600" y="409651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CS-25 non-compliance</a:t>
            </a:r>
          </a:p>
        </p:txBody>
      </p:sp>
      <p:sp>
        <p:nvSpPr>
          <p:cNvPr id="1016" name="Score 12"/>
          <p:cNvSpPr/>
          <p:nvPr/>
        </p:nvSpPr>
        <p:spPr>
          <a:xfrm>
            <a:off x="4315968" y="406450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6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15</a:t>
            </a:r>
          </a:p>
        </p:txBody>
      </p:sp>
      <p:sp>
        <p:nvSpPr>
          <p:cNvPr id="1017" name="Arrow"/>
          <p:cNvSpPr/>
          <p:nvPr/>
        </p:nvSpPr>
        <p:spPr>
          <a:xfrm>
            <a:off x="4846320" y="410108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Score 9"/>
          <p:cNvSpPr/>
          <p:nvPr/>
        </p:nvSpPr>
        <p:spPr>
          <a:xfrm>
            <a:off x="5138928" y="406450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10</a:t>
            </a:r>
          </a:p>
        </p:txBody>
      </p:sp>
      <p:sp>
        <p:nvSpPr>
          <p:cNvPr id="1019" name="Tile"/>
          <p:cNvSpPr/>
          <p:nvPr/>
        </p:nvSpPr>
        <p:spPr>
          <a:xfrm>
            <a:off x="841248" y="443484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Badge 5"/>
          <p:cNvSpPr/>
          <p:nvPr/>
        </p:nvSpPr>
        <p:spPr>
          <a:xfrm>
            <a:off x="950976" y="447598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21" name="TextBox 34"/>
          <p:cNvSpPr txBox="1"/>
          <p:nvPr/>
        </p:nvSpPr>
        <p:spPr>
          <a:xfrm>
            <a:off x="1371600" y="450799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Noise &amp; emissions</a:t>
            </a:r>
          </a:p>
        </p:txBody>
      </p:sp>
      <p:sp>
        <p:nvSpPr>
          <p:cNvPr id="1022" name="Score 12"/>
          <p:cNvSpPr/>
          <p:nvPr/>
        </p:nvSpPr>
        <p:spPr>
          <a:xfrm>
            <a:off x="4315968" y="44759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12</a:t>
            </a:r>
          </a:p>
        </p:txBody>
      </p:sp>
      <p:sp>
        <p:nvSpPr>
          <p:cNvPr id="1023" name="Arrow"/>
          <p:cNvSpPr/>
          <p:nvPr/>
        </p:nvSpPr>
        <p:spPr>
          <a:xfrm>
            <a:off x="4846320" y="451256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Score 9"/>
          <p:cNvSpPr/>
          <p:nvPr/>
        </p:nvSpPr>
        <p:spPr>
          <a:xfrm>
            <a:off x="5138928" y="44759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8</a:t>
            </a:r>
          </a:p>
        </p:txBody>
      </p:sp>
      <p:sp>
        <p:nvSpPr>
          <p:cNvPr id="1025" name="Marker 6"/>
          <p:cNvSpPr/>
          <p:nvPr/>
        </p:nvSpPr>
        <p:spPr>
          <a:xfrm>
            <a:off x="8129016" y="2651760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26" name="Marker 6"/>
          <p:cNvSpPr/>
          <p:nvPr/>
        </p:nvSpPr>
        <p:spPr>
          <a:xfrm>
            <a:off x="10771632" y="3383280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29" name="Marker 7"/>
          <p:cNvSpPr/>
          <p:nvPr/>
        </p:nvSpPr>
        <p:spPr>
          <a:xfrm>
            <a:off x="8385048" y="3145536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30" name="Marker 7"/>
          <p:cNvSpPr/>
          <p:nvPr/>
        </p:nvSpPr>
        <p:spPr>
          <a:xfrm>
            <a:off x="11265408" y="3639312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31" name="Marker 8"/>
          <p:cNvSpPr/>
          <p:nvPr/>
        </p:nvSpPr>
        <p:spPr>
          <a:xfrm>
            <a:off x="7891272" y="3383280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32" name="Marker 8"/>
          <p:cNvSpPr/>
          <p:nvPr/>
        </p:nvSpPr>
        <p:spPr>
          <a:xfrm>
            <a:off x="10771632" y="3877056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01" name="Tile"/>
          <p:cNvSpPr/>
          <p:nvPr/>
        </p:nvSpPr>
        <p:spPr>
          <a:xfrm>
            <a:off x="841248" y="4937759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2" name="Badge 5"/>
          <p:cNvSpPr/>
          <p:nvPr/>
        </p:nvSpPr>
        <p:spPr>
          <a:xfrm>
            <a:off x="950976" y="4978907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003" name="TextBox 34"/>
          <p:cNvSpPr txBox="1"/>
          <p:nvPr/>
        </p:nvSpPr>
        <p:spPr>
          <a:xfrm>
            <a:off x="1371600" y="501091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Production ramp-up</a:t>
            </a:r>
          </a:p>
        </p:txBody>
      </p:sp>
      <p:sp>
        <p:nvSpPr>
          <p:cNvPr id="2004" name="Score 12"/>
          <p:cNvSpPr/>
          <p:nvPr/>
        </p:nvSpPr>
        <p:spPr>
          <a:xfrm>
            <a:off x="4315968" y="4978907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6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16</a:t>
            </a:r>
          </a:p>
        </p:txBody>
      </p:sp>
      <p:sp>
        <p:nvSpPr>
          <p:cNvPr id="2005" name="Arrow"/>
          <p:cNvSpPr/>
          <p:nvPr/>
        </p:nvSpPr>
        <p:spPr>
          <a:xfrm>
            <a:off x="4846320" y="5015483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6" name="Score 9"/>
          <p:cNvSpPr/>
          <p:nvPr/>
        </p:nvSpPr>
        <p:spPr>
          <a:xfrm>
            <a:off x="5138928" y="4978907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FCE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9</a:t>
            </a:r>
          </a:p>
        </p:txBody>
      </p:sp>
      <p:sp>
        <p:nvSpPr>
          <p:cNvPr id="2007" name="Tile"/>
          <p:cNvSpPr/>
          <p:nvPr/>
        </p:nvSpPr>
        <p:spPr>
          <a:xfrm>
            <a:off x="841248" y="5349240"/>
            <a:ext cx="4846320" cy="356616"/>
          </a:xfrm>
          <a:prstGeom prst="roundRect">
            <a:avLst>
              <a:gd name="adj" fmla="val 8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8" name="Badge 5"/>
          <p:cNvSpPr/>
          <p:nvPr/>
        </p:nvSpPr>
        <p:spPr>
          <a:xfrm>
            <a:off x="950976" y="5390388"/>
            <a:ext cx="274320" cy="27432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009" name="TextBox 34"/>
          <p:cNvSpPr txBox="1"/>
          <p:nvPr/>
        </p:nvSpPr>
        <p:spPr>
          <a:xfrm>
            <a:off x="1371600" y="5422392"/>
            <a:ext cx="2926080" cy="274320"/>
          </a:xfrm>
          <a:prstGeom prst="rect">
            <a:avLst/>
          </a:prstGeom>
          <a:noFill/>
        </p:spPr>
        <p:txBody>
          <a:bodyPr wrap="none" lIns="45720" tIns="27432" rIns="45720" bIns="27432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Composite recycling</a:t>
            </a:r>
          </a:p>
        </p:txBody>
      </p:sp>
      <p:sp>
        <p:nvSpPr>
          <p:cNvPr id="2010" name="Score 12"/>
          <p:cNvSpPr/>
          <p:nvPr/>
        </p:nvSpPr>
        <p:spPr>
          <a:xfrm>
            <a:off x="4315968" y="53903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C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6</a:t>
            </a:r>
          </a:p>
        </p:txBody>
      </p:sp>
      <p:sp>
        <p:nvSpPr>
          <p:cNvPr id="2011" name="Arrow"/>
          <p:cNvSpPr/>
          <p:nvPr/>
        </p:nvSpPr>
        <p:spPr>
          <a:xfrm>
            <a:off x="4846320" y="5426964"/>
            <a:ext cx="237744" cy="201168"/>
          </a:xfrm>
          <a:prstGeom prst="rightArrow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2" name="Score 9"/>
          <p:cNvSpPr/>
          <p:nvPr/>
        </p:nvSpPr>
        <p:spPr>
          <a:xfrm>
            <a:off x="5138928" y="5390388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CF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0E2841"/>
                </a:solidFill>
              </a:rPr>
              <a:t>4</a:t>
            </a:r>
          </a:p>
        </p:txBody>
      </p:sp>
      <p:sp>
        <p:nvSpPr>
          <p:cNvPr id="2013" name="Marker 9"/>
          <p:cNvSpPr/>
          <p:nvPr/>
        </p:nvSpPr>
        <p:spPr>
          <a:xfrm>
            <a:off x="7891272" y="2889504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014" name="Marker 9"/>
          <p:cNvSpPr/>
          <p:nvPr/>
        </p:nvSpPr>
        <p:spPr>
          <a:xfrm>
            <a:off x="10515600" y="3145536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015" name="Marker 10"/>
          <p:cNvSpPr/>
          <p:nvPr/>
        </p:nvSpPr>
        <p:spPr>
          <a:xfrm>
            <a:off x="7397496" y="3639312"/>
            <a:ext cx="228600" cy="2286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016" name="Marker 10"/>
          <p:cNvSpPr/>
          <p:nvPr/>
        </p:nvSpPr>
        <p:spPr>
          <a:xfrm>
            <a:off x="9784080" y="3639312"/>
            <a:ext cx="228600" cy="2286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719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Risks: </a:t>
            </a:r>
            <a:r>
              <a:rPr lang="en-US"/>
              <a:t>Design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8FDA-A534-A375-4952-8108D25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Connector 4"/>
          <p:cNvCxnSpPr/>
          <p:nvPr/>
        </p:nvCxnSpPr>
        <p:spPr>
          <a:xfrm>
            <a:off x="4270248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82128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1   </a:t>
            </a:r>
            <a:r>
              <a:rPr sz="1800" b="1" i="0">
                <a:solidFill>
                  <a:srgbClr val="0E2841"/>
                </a:solidFill>
              </a:rPr>
              <a:t>Novel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3291840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0E2841"/>
                </a:solidFill>
              </a:rPr>
              <a:t>“When analysing any configuration, consider both the benefits and risks … especially those which may become showstoppers.”</a:t>
            </a:r>
            <a:endParaRPr lang="en-US" sz="1300"/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55F6B"/>
                </a:solidFill>
              </a:rPr>
              <a:t>Airbus task introduction</a:t>
            </a:r>
          </a:p>
        </p:txBody>
      </p:sp>
      <p:sp>
        <p:nvSpPr>
          <p:cNvPr id="3" name="Planform"/>
          <p:cNvSpPr/>
          <p:nvPr/>
        </p:nvSpPr>
        <p:spPr>
          <a:xfrm>
            <a:off x="841248" y="3266256"/>
            <a:ext cx="566928" cy="526654"/>
          </a:xfrm>
          <a:custGeom>
            <a:avLst/>
            <a:gdLst/>
            <a:ahLst/>
            <a:cxnLst/>
            <a:rect l="l" t="t" r="r" b="b"/>
            <a:pathLst>
              <a:path w="1673352" h="1554480">
                <a:moveTo>
                  <a:pt x="768096" y="0"/>
                </a:moveTo>
                <a:lnTo>
                  <a:pt x="905256" y="0"/>
                </a:lnTo>
                <a:lnTo>
                  <a:pt x="941832" y="164592"/>
                </a:lnTo>
                <a:lnTo>
                  <a:pt x="941832" y="566928"/>
                </a:lnTo>
                <a:lnTo>
                  <a:pt x="1673352" y="960120"/>
                </a:lnTo>
                <a:lnTo>
                  <a:pt x="1673352" y="1115568"/>
                </a:lnTo>
                <a:lnTo>
                  <a:pt x="941832" y="896112"/>
                </a:lnTo>
                <a:lnTo>
                  <a:pt x="914400" y="1280160"/>
                </a:lnTo>
                <a:lnTo>
                  <a:pt x="1188720" y="1481328"/>
                </a:lnTo>
                <a:lnTo>
                  <a:pt x="1188720" y="1554480"/>
                </a:lnTo>
                <a:lnTo>
                  <a:pt x="836676" y="1481328"/>
                </a:lnTo>
                <a:lnTo>
                  <a:pt x="484632" y="1554480"/>
                </a:lnTo>
                <a:lnTo>
                  <a:pt x="484632" y="1481328"/>
                </a:lnTo>
                <a:lnTo>
                  <a:pt x="758952" y="1280160"/>
                </a:lnTo>
                <a:lnTo>
                  <a:pt x="731520" y="896112"/>
                </a:lnTo>
                <a:lnTo>
                  <a:pt x="0" y="1115568"/>
                </a:lnTo>
                <a:lnTo>
                  <a:pt x="0" y="960120"/>
                </a:lnTo>
                <a:lnTo>
                  <a:pt x="731520" y="566928"/>
                </a:lnTo>
                <a:lnTo>
                  <a:pt x="731520" y="164592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8488" y="3282696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Conventional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5F6B"/>
                </a:solidFill>
              </a:rPr>
              <a:t>lower fuel gain</a:t>
            </a:r>
          </a:p>
        </p:txBody>
      </p:sp>
      <p:sp>
        <p:nvSpPr>
          <p:cNvPr id="14" name="Planform"/>
          <p:cNvSpPr/>
          <p:nvPr/>
        </p:nvSpPr>
        <p:spPr>
          <a:xfrm>
            <a:off x="841248" y="4010468"/>
            <a:ext cx="566928" cy="464695"/>
          </a:xfrm>
          <a:custGeom>
            <a:avLst/>
            <a:gdLst/>
            <a:ahLst/>
            <a:cxnLst/>
            <a:rect l="l" t="t" r="r" b="b"/>
            <a:pathLst>
              <a:path w="1673352" h="1371600">
                <a:moveTo>
                  <a:pt x="836676" y="0"/>
                </a:moveTo>
                <a:lnTo>
                  <a:pt x="1005840" y="228600"/>
                </a:lnTo>
                <a:lnTo>
                  <a:pt x="1234440" y="640080"/>
                </a:lnTo>
                <a:lnTo>
                  <a:pt x="1673352" y="1097280"/>
                </a:lnTo>
                <a:lnTo>
                  <a:pt x="1673352" y="1280160"/>
                </a:lnTo>
                <a:lnTo>
                  <a:pt x="1280160" y="1371600"/>
                </a:lnTo>
                <a:lnTo>
                  <a:pt x="836676" y="1261872"/>
                </a:lnTo>
                <a:lnTo>
                  <a:pt x="393192" y="1371600"/>
                </a:lnTo>
                <a:lnTo>
                  <a:pt x="0" y="1280160"/>
                </a:lnTo>
                <a:lnTo>
                  <a:pt x="0" y="1097280"/>
                </a:lnTo>
                <a:lnTo>
                  <a:pt x="438912" y="640080"/>
                </a:lnTo>
                <a:lnTo>
                  <a:pt x="667511" y="2286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18488" y="399592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Blended wing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5F6B"/>
                </a:solidFill>
              </a:rPr>
              <a:t>stability, 90 s evacuation</a:t>
            </a:r>
          </a:p>
        </p:txBody>
      </p:sp>
      <p:sp>
        <p:nvSpPr>
          <p:cNvPr id="18" name="Planform"/>
          <p:cNvSpPr/>
          <p:nvPr/>
        </p:nvSpPr>
        <p:spPr>
          <a:xfrm>
            <a:off x="841248" y="4692720"/>
            <a:ext cx="566928" cy="526654"/>
          </a:xfrm>
          <a:custGeom>
            <a:avLst/>
            <a:gdLst/>
            <a:ahLst/>
            <a:cxnLst/>
            <a:rect l="l" t="t" r="r" b="b"/>
            <a:pathLst>
              <a:path w="1673352" h="1554480">
                <a:moveTo>
                  <a:pt x="836676" y="868680"/>
                </a:moveTo>
                <a:lnTo>
                  <a:pt x="1097280" y="320040"/>
                </a:lnTo>
                <a:lnTo>
                  <a:pt x="1481328" y="0"/>
                </a:lnTo>
                <a:lnTo>
                  <a:pt x="1673352" y="0"/>
                </a:lnTo>
                <a:lnTo>
                  <a:pt x="1673352" y="137160"/>
                </a:lnTo>
                <a:lnTo>
                  <a:pt x="1371600" y="822960"/>
                </a:lnTo>
                <a:lnTo>
                  <a:pt x="1097280" y="1417320"/>
                </a:lnTo>
                <a:lnTo>
                  <a:pt x="836676" y="1554480"/>
                </a:lnTo>
                <a:lnTo>
                  <a:pt x="576072" y="1417320"/>
                </a:lnTo>
                <a:lnTo>
                  <a:pt x="301752" y="822960"/>
                </a:lnTo>
                <a:lnTo>
                  <a:pt x="0" y="137160"/>
                </a:lnTo>
                <a:lnTo>
                  <a:pt x="0" y="0"/>
                </a:lnTo>
                <a:lnTo>
                  <a:pt x="192024" y="0"/>
                </a:lnTo>
                <a:lnTo>
                  <a:pt x="576072" y="32004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18488" y="4709159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Flying V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5F6B"/>
                </a:solidFill>
              </a:rPr>
              <a:t>stability, gate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440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screen each concept, keep a conventional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3   </a:t>
            </a:r>
            <a:r>
              <a:rPr sz="1800" b="1" i="0">
                <a:solidFill>
                  <a:srgbClr val="0E2841"/>
                </a:solidFill>
              </a:rPr>
              <a:t>Technology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</a:rPr>
              <a:t>The technology has to be mature at design freeze, years before 2040 entry into service. If it slips, the fuel-burn gain goes with it.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44568" y="3429000"/>
            <a:ext cx="3108960" cy="0"/>
          </a:xfrm>
          <a:prstGeom prst="line">
            <a:avLst/>
          </a:prstGeom>
          <a:ln w="19050">
            <a:solidFill>
              <a:srgbClr val="0E2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480559" y="3364992"/>
            <a:ext cx="128016" cy="128016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3044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E2841"/>
                </a:solidFill>
              </a:rPr>
              <a:t>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5661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5F6B"/>
                </a:solidFill>
              </a:rPr>
              <a:t>2026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3364992"/>
            <a:ext cx="128016" cy="128016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58968" y="3044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0E2841"/>
                </a:solidFill>
              </a:rPr>
              <a:t>Design freeze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35661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55F6B"/>
                </a:solidFill>
              </a:rPr>
              <a:t>before 2040</a:t>
            </a:r>
          </a:p>
        </p:txBody>
      </p:sp>
      <p:sp>
        <p:nvSpPr>
          <p:cNvPr id="30" name="Oval 29"/>
          <p:cNvSpPr/>
          <p:nvPr/>
        </p:nvSpPr>
        <p:spPr>
          <a:xfrm>
            <a:off x="7589519" y="3364992"/>
            <a:ext cx="128016" cy="128016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7" y="3044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0E2841"/>
                </a:solidFill>
              </a:rPr>
              <a:t>In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7" y="35661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55F6B"/>
                </a:solidFill>
              </a:rPr>
              <a:t>2040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023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Fuel-burn gains a concept might rely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29768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≈10 %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0408" y="429768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3–10 %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wing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29768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8.2 %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hybrid assist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440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readiness check each review, mature-tech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5   </a:t>
            </a:r>
            <a:r>
              <a:rPr sz="1800" b="1" i="0">
                <a:solidFill>
                  <a:srgbClr val="0E2841"/>
                </a:solidFill>
              </a:rPr>
              <a:t>Weight underestimate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</a:rPr>
              <a:t>Extra weight needs a bigger wing and engines, which add more weight. The brief's margins may not cover real growth.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246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Evaluation MWE (Appendix 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2841"/>
                </a:solidFill>
              </a:rPr>
              <a:t>Basic × 1.015 × 1.020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886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≈ +3.5 % after customer changes and conservatism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429768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+1 t  →  +0.5–0.7 %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fuel burn per tonne of extra weight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5440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track weight against the allowance each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Risks: </a:t>
            </a:r>
            <a:r>
              <a:rPr lang="en-US"/>
              <a:t>Operation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8FDA-A534-A375-4952-8108D25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Connector 4"/>
          <p:cNvCxnSpPr/>
          <p:nvPr/>
        </p:nvCxnSpPr>
        <p:spPr>
          <a:xfrm>
            <a:off x="6099048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55448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2   </a:t>
            </a:r>
            <a:r>
              <a:rPr sz="1800" b="1" i="0">
                <a:solidFill>
                  <a:srgbClr val="0E2841"/>
                </a:solidFill>
              </a:rPr>
              <a:t>DOC target missed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</a:rPr>
              <a:t>Fuel is the largest share of DOC (about 25–40 %), and the brief prices SAF a third above kerosene.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41248" y="2606040"/>
          <a:ext cx="2651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75888" y="3017520"/>
            <a:ext cx="22402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2841"/>
                </a:solidFill>
              </a:rPr>
              <a:t>−25 %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gallons per seat-NM needed just to hold fuel cost level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56082"/>
                </a:solidFill>
              </a:rPr>
              <a:t>3 ÷ 4 = 0.75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40680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fuel-burn target from the DOC model now. DOC is a target: the brief does not mark designs down for missing it (4.12).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4   </a:t>
            </a:r>
            <a:r>
              <a:rPr sz="1800" b="1" i="0">
                <a:solidFill>
                  <a:srgbClr val="0E2841"/>
                </a:solidFill>
              </a:rPr>
              <a:t>Airport compatibility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</a:rPr>
              <a:t>More span means less induced drag and fuel burn, but the aircraft must still fit existing gates and runways.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E2841"/>
                </a:solidFill>
              </a:rPr>
              <a:t>Example: Boeing 777X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520440"/>
            <a:ext cx="4062336" cy="4114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35204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Wing unfolded  71.8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160520"/>
            <a:ext cx="3666286" cy="4114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41605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</a:rPr>
              <a:t>Tips folded  64.8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4754880"/>
            <a:ext cx="4572000" cy="0"/>
          </a:xfrm>
          <a:prstGeom prst="line">
            <a:avLst/>
          </a:prstGeom>
          <a:ln w="12700">
            <a:solidFill>
              <a:srgbClr val="8A9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480974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3770" y="480974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480974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6909" y="480974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480974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047488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</a:rPr>
              <a:t>Wingspan (m)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24122" y="3383280"/>
            <a:ext cx="0" cy="137160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78202" y="315468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</a:rPr>
              <a:t>Code E gate &lt; 65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972800" y="3383280"/>
            <a:ext cx="0" cy="137160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0" y="2880360"/>
            <a:ext cx="15910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</a:rPr>
              <a:t>Code F runway &lt; 80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40680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folding tips as an option; check span against both limits at every iteration.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Risks: Performance and </a:t>
            </a:r>
            <a:r>
              <a:rPr lang="en-GB"/>
              <a:t>Compliance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8FDA-A534-A375-4952-8108D25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3291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156082"/>
                </a:solidFill>
              </a:rPr>
              <a:t>6  </a:t>
            </a:r>
            <a:r>
              <a:rPr sz="1800" b="1" i="0">
                <a:solidFill>
                  <a:srgbClr val="0E2841"/>
                </a:solidFill>
              </a:rPr>
              <a:t>Performance</a:t>
            </a:r>
            <a:r>
              <a:rPr lang="en-US" b="1">
                <a:solidFill>
                  <a:srgbClr val="0E2841"/>
                </a:solidFill>
              </a:rPr>
              <a:t> shortfall</a:t>
            </a:r>
            <a:endParaRPr sz="1800" b="1" i="0">
              <a:solidFill>
                <a:srgbClr val="0E284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201168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E2841"/>
                </a:solidFill>
              </a:rPr>
              <a:t>The aircraft misses its range or field-length targets through excess drag, too little thrust or weight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46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Key performance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661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5,000 NM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33087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≤3,000 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take-off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≤2,700 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03520"/>
            <a:ext cx="329184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lang="en-US" sz="1300">
                <a:solidFill>
                  <a:srgbClr val="1A1A1A"/>
                </a:solidFill>
              </a:rPr>
              <a:t>Early aerodynamic analysis,</a:t>
            </a:r>
          </a:p>
          <a:p>
            <a:r>
              <a:rPr lang="en-US" sz="1300">
                <a:solidFill>
                  <a:srgbClr val="1A1A1A"/>
                </a:solidFill>
              </a:rPr>
              <a:t>Apply Airbus margins and iterate wing and engine sizing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53128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7  </a:t>
            </a:r>
            <a:r>
              <a:rPr sz="1800" b="1" i="0">
                <a:solidFill>
                  <a:srgbClr val="0E2841"/>
                </a:solidFill>
              </a:rPr>
              <a:t>CS-25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01168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E2841"/>
                </a:solidFill>
              </a:rPr>
              <a:t>Structural safety, system integration and emergency evacuation all have to be shown to comply.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246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Evacuation (CS 25.803)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566160"/>
            <a:ext cx="329184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90 s</a:t>
            </a:r>
          </a:p>
          <a:p>
            <a:r>
              <a:rPr sz="1200" b="0" i="0">
                <a:solidFill>
                  <a:srgbClr val="555F6B"/>
                </a:solidFill>
              </a:rPr>
              <a:t>to evacuate the aircraft</a:t>
            </a:r>
            <a:r>
              <a:rPr lang="en-US" sz="1200">
                <a:solidFill>
                  <a:srgbClr val="555F6B"/>
                </a:solidFill>
              </a:rPr>
              <a:t> using half the exits</a:t>
            </a:r>
            <a:endParaRPr sz="1200" b="0" i="0">
              <a:solidFill>
                <a:srgbClr val="555F6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3128" y="5303520"/>
            <a:ext cx="329184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CS-25 compliance matrix</a:t>
            </a:r>
            <a:r>
              <a:rPr lang="en-US" sz="1300">
                <a:solidFill>
                  <a:srgbClr val="1A1A1A"/>
                </a:solidFill>
              </a:rPr>
              <a:t>, early </a:t>
            </a:r>
            <a:r>
              <a:rPr lang="en-US" sz="1300" err="1">
                <a:solidFill>
                  <a:srgbClr val="1A1A1A"/>
                </a:solidFill>
              </a:rPr>
              <a:t>requirments</a:t>
            </a:r>
            <a:r>
              <a:rPr lang="en-US" sz="1300">
                <a:solidFill>
                  <a:srgbClr val="1A1A1A"/>
                </a:solidFill>
              </a:rPr>
              <a:t> verifications and design adjustments.</a:t>
            </a:r>
            <a:endParaRPr lang="en-US" sz="1300" b="0" i="0">
              <a:solidFill>
                <a:srgbClr val="1A1A1A"/>
              </a:solidFill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882127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65008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6082"/>
                </a:solidFill>
              </a:rPr>
              <a:t>8  </a:t>
            </a:r>
            <a:r>
              <a:rPr sz="1800" b="1" i="0">
                <a:solidFill>
                  <a:srgbClr val="0E2841"/>
                </a:solidFill>
              </a:rPr>
              <a:t>Noise &amp; emissions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01168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E2841"/>
                </a:solidFill>
              </a:rPr>
              <a:t>The engine choice has to meet the noise and emissions targets.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246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Targets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35661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−25 EPNdB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noise, Stage 3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3434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40 %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emissions margin, CAEP/6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5303520"/>
            <a:ext cx="329184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sz="1300" b="0" i="0">
                <a:solidFill>
                  <a:srgbClr val="1A1A1A"/>
                </a:solidFill>
              </a:rPr>
              <a:t>early qualitative assessment, </a:t>
            </a:r>
            <a:r>
              <a:rPr sz="1300" b="0" i="0" err="1">
                <a:solidFill>
                  <a:srgbClr val="1A1A1A"/>
                </a:solidFill>
              </a:rPr>
              <a:t>favour</a:t>
            </a:r>
            <a:r>
              <a:rPr sz="1300" b="0" i="0">
                <a:solidFill>
                  <a:srgbClr val="1A1A1A"/>
                </a:solidFill>
              </a:rPr>
              <a:t> </a:t>
            </a:r>
            <a:r>
              <a:rPr lang="en-US" sz="1300">
                <a:solidFill>
                  <a:srgbClr val="1A1A1A"/>
                </a:solidFill>
              </a:rPr>
              <a:t> </a:t>
            </a:r>
            <a:r>
              <a:rPr sz="1300" b="0" i="0">
                <a:solidFill>
                  <a:srgbClr val="1A1A1A"/>
                </a:solidFill>
              </a:rPr>
              <a:t>low-noise, low-NOx engine</a:t>
            </a:r>
            <a:r>
              <a:rPr lang="en-US" sz="1300">
                <a:solidFill>
                  <a:srgbClr val="1A1A1A"/>
                </a:solidFill>
              </a:rPr>
              <a:t> options</a:t>
            </a:r>
            <a:endParaRPr sz="1300" b="0" i="0">
              <a:solidFill>
                <a:srgbClr val="1A1A1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" y="6108192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Not all risks can be eliminated at </a:t>
            </a:r>
            <a:r>
              <a:rPr lang="en-GB" sz="1200" b="0" i="0" err="1">
                <a:solidFill>
                  <a:srgbClr val="555F6B"/>
                </a:solidFill>
              </a:rPr>
              <a:t>SRR</a:t>
            </a:r>
            <a:r>
              <a:rPr lang="en-GB" sz="1200" err="1">
                <a:solidFill>
                  <a:srgbClr val="555F6B"/>
                </a:solidFill>
              </a:rPr>
              <a:t>,</a:t>
            </a:r>
            <a:r>
              <a:rPr lang="en-GB" sz="1200" b="0" i="0" err="1">
                <a:solidFill>
                  <a:srgbClr val="555F6B"/>
                </a:solidFill>
              </a:rPr>
              <a:t>the</a:t>
            </a:r>
            <a:r>
              <a:rPr sz="1200" b="0" i="0">
                <a:solidFill>
                  <a:srgbClr val="555F6B"/>
                </a:solidFill>
              </a:rPr>
              <a:t> rest are monitored and mitigated through PDR and CDR.</a:t>
            </a:r>
          </a:p>
        </p:txBody>
      </p:sp>
    </p:spTree>
    <p:extLst>
      <p:ext uri="{BB962C8B-B14F-4D97-AF65-F5344CB8AC3E}">
        <p14:creationId xmlns:p14="http://schemas.microsoft.com/office/powerpoint/2010/main" val="761543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>Risks: Manufacture and Disposal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8FDA-A534-A375-4952-8108D25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Connector 4"/>
          <p:cNvCxnSpPr/>
          <p:nvPr/>
        </p:nvCxnSpPr>
        <p:spPr>
          <a:xfrm>
            <a:off x="6099048" y="1600200"/>
            <a:ext cx="0" cy="4251960"/>
          </a:xfrm>
          <a:prstGeom prst="line">
            <a:avLst/>
          </a:prstGeom>
          <a:ln w="9525">
            <a:solidFill>
              <a:srgbClr val="C9C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554480"/>
            <a:ext cx="5074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>
                <a:solidFill>
                  <a:srgbClr val="0E2841"/>
                </a:solidFill>
              </a:rPr>
              <a:t>9 Production</a:t>
            </a:r>
            <a:r>
              <a:rPr sz="1800" b="1" i="0">
                <a:solidFill>
                  <a:srgbClr val="0E2841"/>
                </a:solidFill>
              </a:rPr>
              <a:t> ramp-up and supply chain</a:t>
            </a:r>
            <a:endParaRPr lang="en-GB" sz="1800" b="1" i="0">
              <a:solidFill>
                <a:srgbClr val="0E284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50749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>
                <a:solidFill>
                  <a:srgbClr val="0E2841"/>
                </a:solidFill>
              </a:rPr>
              <a:t>Supply chain </a:t>
            </a:r>
            <a:r>
              <a:rPr lang="en-US" sz="1300" err="1">
                <a:solidFill>
                  <a:srgbClr val="0E2841"/>
                </a:solidFill>
              </a:rPr>
              <a:t>distruptions</a:t>
            </a:r>
            <a:r>
              <a:rPr lang="en-US" sz="1300">
                <a:solidFill>
                  <a:srgbClr val="0E2841"/>
                </a:solidFill>
              </a:rPr>
              <a:t> and </a:t>
            </a:r>
            <a:r>
              <a:rPr lang="en-US" sz="1300" err="1">
                <a:solidFill>
                  <a:srgbClr val="0E2841"/>
                </a:solidFill>
              </a:rPr>
              <a:t>compoent</a:t>
            </a:r>
            <a:r>
              <a:rPr lang="en-US" sz="1300">
                <a:solidFill>
                  <a:srgbClr val="0E2841"/>
                </a:solidFill>
              </a:rPr>
              <a:t> shortages could delay aircraft production, increasing </a:t>
            </a:r>
            <a:r>
              <a:rPr lang="en-US" sz="1300" err="1">
                <a:solidFill>
                  <a:srgbClr val="0E2841"/>
                </a:solidFill>
              </a:rPr>
              <a:t>programme</a:t>
            </a:r>
            <a:r>
              <a:rPr lang="en-US" sz="1300">
                <a:solidFill>
                  <a:srgbClr val="0E2841"/>
                </a:solidFill>
              </a:rPr>
              <a:t> costs</a:t>
            </a:r>
            <a:r>
              <a:rPr sz="1300" b="0" i="0">
                <a:solidFill>
                  <a:srgbClr val="0E2841"/>
                </a:solidFill>
              </a:rPr>
              <a:t>. The Boeing 787 was delivered about three years late, partly through supply-chain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Scale of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08960"/>
            <a:ext cx="24460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≈ 700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aircraft to break even (W. Europe)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8708" y="3108960"/>
            <a:ext cx="24460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≈ 3 yr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787 delivery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40680"/>
            <a:ext cx="5074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lang="en-US" sz="1300">
                <a:solidFill>
                  <a:srgbClr val="1A1A1A"/>
                </a:solidFill>
              </a:rPr>
              <a:t>Assess supplier readiness, identify critical components and evaluate alternative sourcing strategies</a:t>
            </a:r>
            <a:endParaRPr lang="en-US" sz="1300" b="0" i="0">
              <a:solidFill>
                <a:srgbClr val="1A1A1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983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>
                <a:solidFill>
                  <a:srgbClr val="0E2841"/>
                </a:solidFill>
              </a:rPr>
              <a:t>10 composite</a:t>
            </a:r>
            <a:r>
              <a:rPr sz="1800" b="1" i="0">
                <a:solidFill>
                  <a:srgbClr val="0E2841"/>
                </a:solidFill>
              </a:rPr>
              <a:t> </a:t>
            </a:r>
            <a:r>
              <a:rPr lang="en-US" b="1" err="1">
                <a:solidFill>
                  <a:srgbClr val="0E2841"/>
                </a:solidFill>
              </a:rPr>
              <a:t>recycling</a:t>
            </a:r>
            <a:endParaRPr sz="1800" b="1" i="0" err="1">
              <a:solidFill>
                <a:srgbClr val="0E284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9834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>
                <a:solidFill>
                  <a:srgbClr val="0E2841"/>
                </a:solidFill>
                <a:ea typeface="+mn-lt"/>
                <a:cs typeface="+mn-lt"/>
              </a:rPr>
              <a:t>Carbon </a:t>
            </a:r>
            <a:r>
              <a:rPr lang="en-US" sz="1300" err="1">
                <a:solidFill>
                  <a:srgbClr val="0E2841"/>
                </a:solidFill>
                <a:ea typeface="+mn-lt"/>
                <a:cs typeface="+mn-lt"/>
              </a:rPr>
              <a:t>fibre</a:t>
            </a:r>
            <a:r>
              <a:rPr lang="en-US" sz="1300">
                <a:solidFill>
                  <a:srgbClr val="0E2841"/>
                </a:solidFill>
                <a:ea typeface="+mn-lt"/>
                <a:cs typeface="+mn-lt"/>
              </a:rPr>
              <a:t> composite structures can be difficult to recycle economically, increasing end of </a:t>
            </a:r>
            <a:r>
              <a:rPr lang="en-US" sz="1300" err="1">
                <a:solidFill>
                  <a:srgbClr val="0E2841"/>
                </a:solidFill>
                <a:ea typeface="+mn-lt"/>
                <a:cs typeface="+mn-lt"/>
              </a:rPr>
              <a:t>lide</a:t>
            </a:r>
            <a:r>
              <a:rPr lang="en-US" sz="1300">
                <a:solidFill>
                  <a:srgbClr val="0E2841"/>
                </a:solidFill>
                <a:ea typeface="+mn-lt"/>
                <a:cs typeface="+mn-lt"/>
              </a:rPr>
              <a:t> processing costs and reducing material recovery</a:t>
            </a:r>
            <a:endParaRPr lang="en-US" sz="1300">
              <a:solidFill>
                <a:srgbClr val="0E284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Design life and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4003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25 years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airframe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2540" y="3108960"/>
            <a:ext cx="24003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E2841"/>
                </a:solidFill>
              </a:rPr>
              <a:t>≈ 10 %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F6B"/>
                </a:solidFill>
              </a:rPr>
              <a:t>lighter, recyclable thermoplastics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983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555F6B"/>
                </a:solidFill>
              </a:rPr>
              <a:t>End of life: life extension, freighter conversion,</a:t>
            </a:r>
            <a:r>
              <a:rPr lang="en-US" sz="1200">
                <a:solidFill>
                  <a:srgbClr val="555F6B"/>
                </a:solidFill>
              </a:rPr>
              <a:t> component recovery and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40680"/>
            <a:ext cx="49834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Plan: </a:t>
            </a:r>
            <a:r>
              <a:rPr lang="en-US" sz="1300">
                <a:solidFill>
                  <a:srgbClr val="1A1A1A"/>
                </a:solidFill>
              </a:rPr>
              <a:t>Evaluate recyclable </a:t>
            </a:r>
            <a:r>
              <a:rPr lang="en-US" sz="1300" err="1">
                <a:solidFill>
                  <a:srgbClr val="1A1A1A"/>
                </a:solidFill>
              </a:rPr>
              <a:t>themoplastic</a:t>
            </a:r>
            <a:r>
              <a:rPr lang="en-US" sz="1300">
                <a:solidFill>
                  <a:srgbClr val="1A1A1A"/>
                </a:solidFill>
              </a:rPr>
              <a:t> composites, repairability and material recovery methods during trade studies.</a:t>
            </a:r>
            <a:endParaRPr lang="en-US" sz="1300" b="0" i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05bcf2-4c10-4743-8964-c18599a218b8">
      <Terms xmlns="http://schemas.microsoft.com/office/infopath/2007/PartnerControls"/>
    </lcf76f155ced4ddcb4097134ff3c332f>
    <TaxCatchAll xmlns="d69e7e48-4724-4d83-ae5f-33f8ac4833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4DE2A2151BDB41B40363FBB805171B" ma:contentTypeVersion="10" ma:contentTypeDescription="Create a new document." ma:contentTypeScope="" ma:versionID="a1956669d48c4038d4c7fdfbd1b9a9b5">
  <xsd:schema xmlns:xsd="http://www.w3.org/2001/XMLSchema" xmlns:xs="http://www.w3.org/2001/XMLSchema" xmlns:p="http://schemas.microsoft.com/office/2006/metadata/properties" xmlns:ns2="e605bcf2-4c10-4743-8964-c18599a218b8" xmlns:ns3="d69e7e48-4724-4d83-ae5f-33f8ac48334d" targetNamespace="http://schemas.microsoft.com/office/2006/metadata/properties" ma:root="true" ma:fieldsID="b68571aca29be22b556cc0c9c02e5b49" ns2:_="" ns3:_="">
    <xsd:import namespace="e605bcf2-4c10-4743-8964-c18599a218b8"/>
    <xsd:import namespace="d69e7e48-4724-4d83-ae5f-33f8ac4833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5bcf2-4c10-4743-8964-c18599a21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692e38-9dd4-4db7-af25-16fcd4767b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e7e48-4724-4d83-ae5f-33f8ac48334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357e5c6-1999-4509-80be-e50b642fe049}" ma:internalName="TaxCatchAll" ma:showField="CatchAllData" ma:web="d69e7e48-4724-4d83-ae5f-33f8ac4833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2E457B-24A2-49D1-952B-E6FE14F437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A8A4BD-1A20-49D9-B904-1CB3B31BF493}">
  <ds:schemaRefs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d69e7e48-4724-4d83-ae5f-33f8ac48334d"/>
    <ds:schemaRef ds:uri="e605bcf2-4c10-4743-8964-c18599a218b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EF0F495-B11C-48CA-AA70-C315805AE185}">
  <ds:schemaRefs>
    <ds:schemaRef ds:uri="d69e7e48-4724-4d83-ae5f-33f8ac48334d"/>
    <ds:schemaRef ds:uri="e605bcf2-4c10-4743-8964-c18599a218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b902693-1074-40aa-9e21-d89446a2ebb5}" enabled="0" method="" siteId="{6b902693-1074-40aa-9e21-d89446a2eb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4281</Words>
  <Application>Microsoft Macintosh PowerPoint</Application>
  <PresentationFormat>Widescreen</PresentationFormat>
  <Paragraphs>560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Arial,Sans-Serif</vt:lpstr>
      <vt:lpstr>Calibri</vt:lpstr>
      <vt:lpstr>Cambria Math</vt:lpstr>
      <vt:lpstr>Office Theme</vt:lpstr>
      <vt:lpstr>System Requirements Review – Team 10</vt:lpstr>
      <vt:lpstr>Contents</vt:lpstr>
      <vt:lpstr>PowerPoint Presentation</vt:lpstr>
      <vt:lpstr>Requirements: The Need</vt:lpstr>
      <vt:lpstr>Key Brief Requirements </vt:lpstr>
      <vt:lpstr>Requirements</vt:lpstr>
      <vt:lpstr>Project Management</vt:lpstr>
      <vt:lpstr>Timeline</vt:lpstr>
      <vt:lpstr>Team Organisation</vt:lpstr>
      <vt:lpstr>Risk Management </vt:lpstr>
      <vt:lpstr>Risks: Design</vt:lpstr>
      <vt:lpstr>Risks: Operation</vt:lpstr>
      <vt:lpstr>Risks: Performance and Compliance</vt:lpstr>
      <vt:lpstr>Risks: Manufacture and Disposal</vt:lpstr>
      <vt:lpstr>PowerPoint Presentation</vt:lpstr>
      <vt:lpstr>PowerPoint Presentation</vt:lpstr>
      <vt:lpstr>Costs: Manufacturing &amp; Materials</vt:lpstr>
      <vt:lpstr>Costs: Innovation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Edwards, Nathan (UG - Sch of Engineering)</cp:lastModifiedBy>
  <cp:revision>1</cp:revision>
  <dcterms:created xsi:type="dcterms:W3CDTF">2026-10-05T13:41:44Z</dcterms:created>
  <dcterms:modified xsi:type="dcterms:W3CDTF">2026-10-19T15:01:00Z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0x0101002A4DE2A2151BDB41B40363FBB805171B</vt:lpwstr>
  </property>
  <property fmtid="{D5CDD505-2E9C-101B-9397-08002B2CF9AE}" pid="3" name="MediaServiceImageTags">
    <vt:lpwstr/>
  </property>
</Properties>
</file>